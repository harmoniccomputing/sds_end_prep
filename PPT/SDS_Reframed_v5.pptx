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5C"/>
        </a:solidFill>
      </p:bgPr>
    </p:bg>
    <p:spTree>
      <p:nvGrpSpPr>
        <p:cNvPr id="1" name=""/>
        <p:cNvGrpSpPr/>
        <p:nvPr/>
      </p:nvGrpSpPr>
      <p:grpSpPr>
        <a:xfrm>
          <a:off x="0" y="0"/>
          <a:ext cx="0" cy="0"/>
          <a:chOff x="0" y="0"/>
          <a:chExt cx="0" cy="0"/>
        </a:xfrm>
      </p:grpSpPr>
      <p:sp>
        <p:nvSpPr>
          <p:cNvPr id="2" name="Text 0"/>
          <p:cNvSpPr/>
          <p:nvPr/>
        </p:nvSpPr>
        <p:spPr>
          <a:xfrm>
            <a:off x="731520" y="731520"/>
            <a:ext cx="7680960" cy="10972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Five Queries That Require</a:t>
            </a:r>
            <a:endParaRPr lang="en-US" sz="3600" dirty="0"/>
          </a:p>
          <a:p>
            <a:pPr indent="0" marL="0">
              <a:buNone/>
            </a:pPr>
            <a:r>
              <a:rPr lang="en-US" sz="3600" b="1" dirty="0">
                <a:solidFill>
                  <a:srgbClr val="FFFFFF"/>
                </a:solidFill>
                <a:latin typeface="Georgia" pitchFamily="34" charset="0"/>
                <a:ea typeface="Georgia" pitchFamily="34" charset="-122"/>
                <a:cs typeface="Georgia" pitchFamily="34" charset="-120"/>
              </a:rPr>
              <a:t>Geographic Embedding</a:t>
            </a:r>
            <a:endParaRPr lang="en-US" sz="3600" dirty="0"/>
          </a:p>
        </p:txBody>
      </p:sp>
      <p:sp>
        <p:nvSpPr>
          <p:cNvPr id="3" name="Text 1"/>
          <p:cNvSpPr/>
          <p:nvPr/>
        </p:nvSpPr>
        <p:spPr>
          <a:xfrm>
            <a:off x="731520" y="2103120"/>
            <a:ext cx="7680960" cy="457200"/>
          </a:xfrm>
          <a:prstGeom prst="rect">
            <a:avLst/>
          </a:prstGeom>
          <a:noFill/>
          <a:ln/>
        </p:spPr>
        <p:txBody>
          <a:bodyPr wrap="square" lIns="0" tIns="0" rIns="0" bIns="0" rtlCol="0" anchor="ctr"/>
          <a:lstStyle/>
          <a:p>
            <a:pPr indent="0" marL="0">
              <a:buNone/>
            </a:pPr>
            <a:r>
              <a:rPr lang="en-US" sz="1600" dirty="0">
                <a:solidFill>
                  <a:srgbClr val="00857C"/>
                </a:solidFill>
                <a:latin typeface="Calibri" pitchFamily="34" charset="0"/>
                <a:ea typeface="Calibri" pitchFamily="34" charset="-122"/>
                <a:cs typeface="Calibri" pitchFamily="34" charset="-120"/>
              </a:rPr>
              <a:t>A Visualization Engine for Exploratory Spatial Data Analysis</a:t>
            </a:r>
            <a:endParaRPr lang="en-US" sz="1600" dirty="0"/>
          </a:p>
        </p:txBody>
      </p:sp>
      <p:sp>
        <p:nvSpPr>
          <p:cNvPr id="4" name="Text 2"/>
          <p:cNvSpPr/>
          <p:nvPr/>
        </p:nvSpPr>
        <p:spPr>
          <a:xfrm>
            <a:off x="731520" y="3017520"/>
            <a:ext cx="7680960" cy="548640"/>
          </a:xfrm>
          <a:prstGeom prst="rect">
            <a:avLst/>
          </a:prstGeom>
          <a:noFill/>
          <a:ln/>
        </p:spPr>
        <p:txBody>
          <a:bodyPr wrap="square" lIns="0" tIns="0" rIns="0" bIns="0" rtlCol="0" anchor="ctr"/>
          <a:lstStyle/>
          <a:p>
            <a:pPr indent="0" marL="0">
              <a:buNone/>
            </a:pPr>
            <a:r>
              <a:rPr lang="en-US" sz="1300" dirty="0">
                <a:solidFill>
                  <a:srgbClr val="BBBBBB"/>
                </a:solidFill>
                <a:latin typeface="Calibri" pitchFamily="34" charset="0"/>
                <a:ea typeface="Calibri" pitchFamily="34" charset="-122"/>
                <a:cs typeface="Calibri" pitchFamily="34" charset="-120"/>
              </a:rPr>
              <a:t>Use Case: India's 2024 Lok Sabha Election</a:t>
            </a:r>
            <a:endParaRPr lang="en-US" sz="1300" dirty="0"/>
          </a:p>
          <a:p>
            <a:pPr indent="0" marL="0">
              <a:buNone/>
            </a:pPr>
            <a:r>
              <a:rPr lang="en-US" sz="1300" dirty="0">
                <a:solidFill>
                  <a:srgbClr val="BBBBBB"/>
                </a:solidFill>
                <a:latin typeface="Calibri" pitchFamily="34" charset="0"/>
                <a:ea typeface="Calibri" pitchFamily="34" charset="-122"/>
                <a:cs typeface="Calibri" pitchFamily="34" charset="-120"/>
              </a:rPr>
              <a:t>543 Constituencies  |  642 Million Voters  |  8,902 Candidates</a:t>
            </a:r>
            <a:endParaRPr lang="en-US" sz="1300" dirty="0"/>
          </a:p>
        </p:txBody>
      </p:sp>
      <p:sp>
        <p:nvSpPr>
          <p:cNvPr id="5" name="Text 3"/>
          <p:cNvSpPr/>
          <p:nvPr/>
        </p:nvSpPr>
        <p:spPr>
          <a:xfrm>
            <a:off x="731520" y="3931920"/>
            <a:ext cx="7680960" cy="548640"/>
          </a:xfrm>
          <a:prstGeom prst="rect">
            <a:avLst/>
          </a:prstGeom>
          <a:noFill/>
          <a:ln/>
        </p:spPr>
        <p:txBody>
          <a:bodyPr wrap="square" lIns="0" tIns="0" rIns="0" bIns="0" rtlCol="0" anchor="ctr"/>
          <a:lstStyle/>
          <a:p>
            <a:pPr indent="0" marL="0">
              <a:buNone/>
            </a:pPr>
            <a:r>
              <a:rPr lang="en-US" sz="1100" dirty="0">
                <a:solidFill>
                  <a:srgbClr val="999999"/>
                </a:solidFill>
                <a:latin typeface="Calibri" pitchFamily="34" charset="0"/>
                <a:ea typeface="Calibri" pitchFamily="34" charset="-122"/>
                <a:cs typeface="Calibri" pitchFamily="34" charset="-120"/>
              </a:rPr>
              <a:t>Vishakha Agrawal  |  Malini Krishnan</a:t>
            </a:r>
            <a:endParaRPr lang="en-US" sz="1100" dirty="0"/>
          </a:p>
          <a:p>
            <a:pPr indent="0" marL="0">
              <a:buNone/>
            </a:pPr>
            <a:r>
              <a:rPr lang="en-US" sz="1100" dirty="0">
                <a:solidFill>
                  <a:srgbClr val="999999"/>
                </a:solidFill>
                <a:latin typeface="Calibri" pitchFamily="34" charset="0"/>
                <a:ea typeface="Calibri" pitchFamily="34" charset="-122"/>
                <a:cs typeface="Calibri" pitchFamily="34" charset="-120"/>
              </a:rPr>
              <a:t>Lab for Spatial Informatics  |  IIIT Hyderabad  |  Advisors: Kuldeep Kurte, K.S. Rajan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lIns="0" tIns="0" rIns="0" bIns="0" rtlCol="0" anchor="ctr"/>
          <a:lstStyle/>
          <a:p>
            <a:pPr indent="0" marL="0">
              <a:buNone/>
            </a:pPr>
            <a:r>
              <a:rPr lang="en-US" sz="2800" b="1" dirty="0">
                <a:solidFill>
                  <a:srgbClr val="0D2B5C"/>
                </a:solidFill>
                <a:latin typeface="Georgia" pitchFamily="34" charset="0"/>
                <a:ea typeface="Georgia" pitchFamily="34" charset="-122"/>
                <a:cs typeface="Georgia" pitchFamily="34" charset="-120"/>
              </a:rPr>
              <a:t>The Problem: Charts That Discard Location</a:t>
            </a:r>
            <a:endParaRPr lang="en-US" sz="2800" dirty="0"/>
          </a:p>
        </p:txBody>
      </p:sp>
      <p:sp>
        <p:nvSpPr>
          <p:cNvPr id="3" name="Text 1"/>
          <p:cNvSpPr/>
          <p:nvPr/>
        </p:nvSpPr>
        <p:spPr>
          <a:xfrm>
            <a:off x="731520" y="914400"/>
            <a:ext cx="7680960" cy="822960"/>
          </a:xfrm>
          <a:prstGeom prst="rect">
            <a:avLst/>
          </a:prstGeom>
          <a:noFill/>
          <a:ln/>
        </p:spPr>
        <p:txBody>
          <a:bodyPr wrap="square" lIns="0" tIns="0" rIns="0" bIns="0" rtlCol="0" anchor="ctr"/>
          <a:lstStyle/>
          <a:p>
            <a:pPr indent="0" marL="0">
              <a:buNone/>
            </a:pPr>
            <a:r>
              <a:rPr lang="en-US" sz="1400" dirty="0">
                <a:solidFill>
                  <a:srgbClr val="333333"/>
                </a:solidFill>
                <a:latin typeface="Calibri" pitchFamily="34" charset="0"/>
                <a:ea typeface="Calibri" pitchFamily="34" charset="-122"/>
                <a:cs typeface="Calibri" pitchFamily="34" charset="-120"/>
              </a:rPr>
              <a:t>Standard statistical charts (histograms, scatterplots, bar charts) encode VALUE but discard LOCATION. Two observations recording identical values appear equivalent. But if one sits in a cluster of similar values and the other is surrounded by opposite values, their positions in the data structure are fundamentally different.</a:t>
            </a:r>
            <a:endParaRPr lang="en-US" sz="1400" dirty="0"/>
          </a:p>
        </p:txBody>
      </p:sp>
      <p:sp>
        <p:nvSpPr>
          <p:cNvPr id="4" name="Text 2"/>
          <p:cNvSpPr/>
          <p:nvPr/>
        </p:nvSpPr>
        <p:spPr>
          <a:xfrm>
            <a:off x="731520" y="1920240"/>
            <a:ext cx="7680960" cy="548640"/>
          </a:xfrm>
          <a:prstGeom prst="rect">
            <a:avLst/>
          </a:prstGeom>
          <a:noFill/>
          <a:ln/>
        </p:spPr>
        <p:txBody>
          <a:bodyPr wrap="square" lIns="0" tIns="0" rIns="0" bIns="0" rtlCol="0" anchor="ctr"/>
          <a:lstStyle/>
          <a:p>
            <a:pPr indent="0" marL="0">
              <a:buNone/>
            </a:pPr>
            <a:r>
              <a:rPr lang="en-US" sz="1300" i="1" dirty="0">
                <a:solidFill>
                  <a:srgbClr val="00857C"/>
                </a:solidFill>
                <a:latin typeface="Georgia" pitchFamily="34" charset="0"/>
                <a:ea typeface="Georgia" pitchFamily="34" charset="-122"/>
                <a:cs typeface="Georgia" pitchFamily="34" charset="-120"/>
              </a:rPr>
              <a:t>This project identifies five classes of queries that CANNOT be answered without geographic embedding, implements two core spatializations (histogram to LISA, scatterplot to Moran) that answer them, and demonstrates the engine on a real dataset.</a:t>
            </a:r>
            <a:endParaRPr lang="en-US" sz="1300" dirty="0"/>
          </a:p>
        </p:txBody>
      </p:sp>
      <p:sp>
        <p:nvSpPr>
          <p:cNvPr id="5" name="Text 3"/>
          <p:cNvSpPr/>
          <p:nvPr/>
        </p:nvSpPr>
        <p:spPr>
          <a:xfrm>
            <a:off x="731520" y="2651760"/>
            <a:ext cx="7680960" cy="274320"/>
          </a:xfrm>
          <a:prstGeom prst="rect">
            <a:avLst/>
          </a:prstGeom>
          <a:noFill/>
          <a:ln/>
        </p:spPr>
        <p:txBody>
          <a:bodyPr wrap="square" lIns="0" tIns="0" rIns="0" bIns="0" rtlCol="0" anchor="ctr"/>
          <a:lstStyle/>
          <a:p>
            <a:pPr indent="0" marL="0">
              <a:buNone/>
            </a:pPr>
            <a:r>
              <a:rPr lang="en-US" sz="1400" b="1" dirty="0">
                <a:solidFill>
                  <a:srgbClr val="0D2B5C"/>
                </a:solidFill>
                <a:latin typeface="Calibri" pitchFamily="34" charset="0"/>
                <a:ea typeface="Calibri" pitchFamily="34" charset="-122"/>
                <a:cs typeface="Calibri" pitchFamily="34" charset="-120"/>
              </a:rPr>
              <a:t>The five query classes are domain-independent. They apply to any variable measured at geographic units.</a:t>
            </a:r>
            <a:endParaRPr lang="en-US" sz="1400" dirty="0"/>
          </a:p>
        </p:txBody>
      </p:sp>
      <p:sp>
        <p:nvSpPr>
          <p:cNvPr id="6" name="Text 4"/>
          <p:cNvSpPr/>
          <p:nvPr/>
        </p:nvSpPr>
        <p:spPr>
          <a:xfrm>
            <a:off x="731520" y="3108960"/>
            <a:ext cx="7680960" cy="731520"/>
          </a:xfrm>
          <a:prstGeom prst="rect">
            <a:avLst/>
          </a:prstGeom>
          <a:noFill/>
          <a:ln/>
        </p:spPr>
        <p:txBody>
          <a:bodyPr wrap="square" lIns="0" tIns="0" rIns="0" bIns="0" rtlCol="0" anchor="ctr"/>
          <a:lstStyle/>
          <a:p>
            <a:pPr indent="0" marL="0">
              <a:buNone/>
            </a:pPr>
            <a:r>
              <a:rPr lang="en-US" sz="1100" i="1" dirty="0">
                <a:solidFill>
                  <a:srgbClr val="777777"/>
                </a:solidFill>
                <a:latin typeface="Calibri" pitchFamily="34" charset="0"/>
                <a:ea typeface="Calibri" pitchFamily="34" charset="-122"/>
                <a:cs typeface="Calibri" pitchFamily="34" charset="-120"/>
              </a:rPr>
              <a:t>Crime rates by district  |  House prices by zip code  |  COVID cases by county  |  Hospital wait times by region  |  Crop yield by block  |  School test scores by district  |  Pollution readings by sensor  |  Service delivery failures by branch  |  Infrastructure deficits by municipality  |  Poverty indicators by sub-region</a:t>
            </a:r>
            <a:endParaRPr lang="en-US" sz="1100" dirty="0"/>
          </a:p>
        </p:txBody>
      </p:sp>
      <p:sp>
        <p:nvSpPr>
          <p:cNvPr id="7" name="Shape 5"/>
          <p:cNvSpPr/>
          <p:nvPr/>
        </p:nvSpPr>
        <p:spPr>
          <a:xfrm>
            <a:off x="731520" y="4114800"/>
            <a:ext cx="7680960" cy="731520"/>
          </a:xfrm>
          <a:prstGeom prst="rect">
            <a:avLst/>
          </a:prstGeom>
          <a:solidFill>
            <a:srgbClr val="F0F0F0"/>
          </a:solidFill>
          <a:ln/>
        </p:spPr>
      </p:sp>
      <p:sp>
        <p:nvSpPr>
          <p:cNvPr id="8" name="Text 6"/>
          <p:cNvSpPr/>
          <p:nvPr/>
        </p:nvSpPr>
        <p:spPr>
          <a:xfrm>
            <a:off x="914400" y="4160520"/>
            <a:ext cx="1828800" cy="228600"/>
          </a:xfrm>
          <a:prstGeom prst="rect">
            <a:avLst/>
          </a:prstGeom>
          <a:noFill/>
          <a:ln/>
        </p:spPr>
        <p:txBody>
          <a:bodyPr wrap="square" lIns="0" tIns="0" rIns="0" bIns="0" rtlCol="0" anchor="ctr"/>
          <a:lstStyle/>
          <a:p>
            <a:pPr indent="0" marL="0">
              <a:buNone/>
            </a:pPr>
            <a:r>
              <a:rPr lang="en-US" sz="1200" b="1" dirty="0">
                <a:solidFill>
                  <a:srgbClr val="0D2B5C"/>
                </a:solidFill>
                <a:latin typeface="Georgia" pitchFamily="34" charset="0"/>
                <a:ea typeface="Georgia" pitchFamily="34" charset="-122"/>
                <a:cs typeface="Georgia" pitchFamily="34" charset="-120"/>
              </a:rPr>
              <a:t>Use Case Dataset</a:t>
            </a:r>
            <a:endParaRPr lang="en-US" sz="1200" dirty="0"/>
          </a:p>
        </p:txBody>
      </p:sp>
      <p:sp>
        <p:nvSpPr>
          <p:cNvPr id="9" name="Text 7"/>
          <p:cNvSpPr/>
          <p:nvPr/>
        </p:nvSpPr>
        <p:spPr>
          <a:xfrm>
            <a:off x="914400" y="4434840"/>
            <a:ext cx="7315200" cy="36576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India's 2024 Lok Sabha election: 543 parliamentary constituencies, 642 million voters, 8,902 candidates. Geographic unit = constituency centroid. Variables: turnout, victory margin, alliance, women's candidature, fiscal returns, seat allocation. Each query class is demonstrated on this dataset, then stated in generalizable form.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lIns="0" tIns="0" rIns="0" bIns="0" rtlCol="0" anchor="ctr"/>
          <a:lstStyle/>
          <a:p>
            <a:pPr indent="0" marL="0">
              <a:buNone/>
            </a:pPr>
            <a:r>
              <a:rPr lang="en-US" sz="2400" b="1" dirty="0">
                <a:solidFill>
                  <a:srgbClr val="0D2B5C"/>
                </a:solidFill>
                <a:latin typeface="Georgia" pitchFamily="34" charset="0"/>
                <a:ea typeface="Georgia" pitchFamily="34" charset="-122"/>
                <a:cs typeface="Georgia" pitchFamily="34" charset="-120"/>
              </a:rPr>
              <a:t>Five Query Classes That Have No Aspatial Equivalent</a:t>
            </a:r>
            <a:endParaRPr lang="en-US" sz="2400" dirty="0"/>
          </a:p>
        </p:txBody>
      </p:sp>
      <p:sp>
        <p:nvSpPr>
          <p:cNvPr id="3" name="Shape 1"/>
          <p:cNvSpPr/>
          <p:nvPr/>
        </p:nvSpPr>
        <p:spPr>
          <a:xfrm>
            <a:off x="457200" y="914400"/>
            <a:ext cx="411480" cy="685800"/>
          </a:xfrm>
          <a:prstGeom prst="rect">
            <a:avLst/>
          </a:prstGeom>
          <a:solidFill>
            <a:srgbClr val="D7191C"/>
          </a:solidFill>
          <a:ln/>
        </p:spPr>
      </p:sp>
      <p:sp>
        <p:nvSpPr>
          <p:cNvPr id="4" name="Text 2"/>
          <p:cNvSpPr/>
          <p:nvPr/>
        </p:nvSpPr>
        <p:spPr>
          <a:xfrm>
            <a:off x="457200" y="914400"/>
            <a:ext cx="4114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5" name="Text 3"/>
          <p:cNvSpPr/>
          <p:nvPr/>
        </p:nvSpPr>
        <p:spPr>
          <a:xfrm>
            <a:off x="1005840" y="914400"/>
            <a:ext cx="2011680" cy="274320"/>
          </a:xfrm>
          <a:prstGeom prst="rect">
            <a:avLst/>
          </a:prstGeom>
          <a:noFill/>
          <a:ln/>
        </p:spPr>
        <p:txBody>
          <a:bodyPr wrap="square" lIns="0" tIns="0" rIns="0" bIns="0" rtlCol="0" anchor="ctr"/>
          <a:lstStyle/>
          <a:p>
            <a:pPr indent="0" marL="0">
              <a:buNone/>
            </a:pPr>
            <a:r>
              <a:rPr lang="en-US" sz="1200" b="1" dirty="0">
                <a:solidFill>
                  <a:srgbClr val="D7191C"/>
                </a:solidFill>
                <a:latin typeface="Georgia" pitchFamily="34" charset="0"/>
                <a:ea typeface="Georgia" pitchFamily="34" charset="-122"/>
                <a:cs typeface="Georgia" pitchFamily="34" charset="-120"/>
              </a:rPr>
              <a:t>Cluster Detection</a:t>
            </a:r>
            <a:endParaRPr lang="en-US" sz="1200" dirty="0"/>
          </a:p>
        </p:txBody>
      </p:sp>
      <p:sp>
        <p:nvSpPr>
          <p:cNvPr id="6" name="Text 4"/>
          <p:cNvSpPr/>
          <p:nvPr/>
        </p:nvSpPr>
        <p:spPr>
          <a:xfrm>
            <a:off x="1005840" y="1188720"/>
            <a:ext cx="4572000" cy="182880"/>
          </a:xfrm>
          <a:prstGeom prst="rect">
            <a:avLst/>
          </a:prstGeom>
          <a:noFill/>
          <a:ln/>
        </p:spPr>
        <p:txBody>
          <a:bodyPr wrap="square" lIns="0" tIns="0" rIns="0" bIns="0" rtlCol="0" anchor="ctr"/>
          <a:lstStyle/>
          <a:p>
            <a:pPr indent="0" marL="0">
              <a:buNone/>
            </a:pPr>
            <a:r>
              <a:rPr lang="en-US" sz="900" b="1" dirty="0">
                <a:solidFill>
                  <a:srgbClr val="333333"/>
                </a:solidFill>
                <a:latin typeface="Calibri" pitchFamily="34" charset="0"/>
                <a:ea typeface="Calibri" pitchFamily="34" charset="-122"/>
                <a:cs typeface="Calibri" pitchFamily="34" charset="-120"/>
              </a:rPr>
              <a:t>Does variable X exhibit spatial autocorrelation, and where are the clusters?</a:t>
            </a:r>
            <a:endParaRPr lang="en-US" sz="900" dirty="0"/>
          </a:p>
        </p:txBody>
      </p:sp>
      <p:sp>
        <p:nvSpPr>
          <p:cNvPr id="7" name="Text 5"/>
          <p:cNvSpPr/>
          <p:nvPr/>
        </p:nvSpPr>
        <p:spPr>
          <a:xfrm>
            <a:off x="1005840" y="1389888"/>
            <a:ext cx="4572000" cy="164592"/>
          </a:xfrm>
          <a:prstGeom prst="rect">
            <a:avLst/>
          </a:prstGeom>
          <a:noFill/>
          <a:ln/>
        </p:spPr>
        <p:txBody>
          <a:bodyPr wrap="square" lIns="0" tIns="0" rIns="0" bIns="0"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Do burglaries cluster by district? Where are the COVID hot spots?</a:t>
            </a:r>
            <a:endParaRPr lang="en-US" sz="850" dirty="0"/>
          </a:p>
        </p:txBody>
      </p:sp>
      <p:sp>
        <p:nvSpPr>
          <p:cNvPr id="8" name="Text 6"/>
          <p:cNvSpPr/>
          <p:nvPr/>
        </p:nvSpPr>
        <p:spPr>
          <a:xfrm>
            <a:off x="5760720" y="960120"/>
            <a:ext cx="2926080" cy="137160"/>
          </a:xfrm>
          <a:prstGeom prst="rect">
            <a:avLst/>
          </a:prstGeom>
          <a:noFill/>
          <a:ln/>
        </p:spPr>
        <p:txBody>
          <a:bodyPr wrap="square" lIns="0" tIns="0" rIns="0" bIns="0" rtlCol="0" anchor="ctr"/>
          <a:lstStyle/>
          <a:p>
            <a:pPr indent="0" marL="0">
              <a:buNone/>
            </a:pPr>
            <a:r>
              <a:rPr lang="en-US" sz="800" dirty="0">
                <a:solidFill>
                  <a:srgbClr val="D7191C"/>
                </a:solidFill>
                <a:latin typeface="Calibri" pitchFamily="34" charset="0"/>
                <a:ea typeface="Calibri" pitchFamily="34" charset="-122"/>
                <a:cs typeface="Calibri" pitchFamily="34" charset="-120"/>
              </a:rPr>
              <a:t>Aspatial: Histogram, bar chart</a:t>
            </a:r>
            <a:endParaRPr lang="en-US" sz="800" dirty="0"/>
          </a:p>
        </p:txBody>
      </p:sp>
      <p:sp>
        <p:nvSpPr>
          <p:cNvPr id="9" name="Text 7"/>
          <p:cNvSpPr/>
          <p:nvPr/>
        </p:nvSpPr>
        <p:spPr>
          <a:xfrm>
            <a:off x="5760720" y="1143000"/>
            <a:ext cx="2926080" cy="137160"/>
          </a:xfrm>
          <a:prstGeom prst="rect">
            <a:avLst/>
          </a:prstGeom>
          <a:noFill/>
          <a:ln/>
        </p:spPr>
        <p:txBody>
          <a:bodyPr wrap="square" lIns="0" tIns="0" rIns="0" bIns="0" rtlCol="0" anchor="ctr"/>
          <a:lstStyle/>
          <a:p>
            <a:pPr indent="0" marL="0">
              <a:buNone/>
            </a:pPr>
            <a:r>
              <a:rPr lang="en-US" sz="800" dirty="0">
                <a:solidFill>
                  <a:srgbClr val="00857C"/>
                </a:solidFill>
                <a:latin typeface="Calibri" pitchFamily="34" charset="0"/>
                <a:ea typeface="Calibri" pitchFamily="34" charset="-122"/>
                <a:cs typeface="Calibri" pitchFamily="34" charset="-120"/>
              </a:rPr>
              <a:t>Spatial: LISA Cluster Map (Anselin 1995)</a:t>
            </a:r>
            <a:endParaRPr lang="en-US" sz="800" dirty="0"/>
          </a:p>
        </p:txBody>
      </p:sp>
      <p:sp>
        <p:nvSpPr>
          <p:cNvPr id="10" name="Shape 8"/>
          <p:cNvSpPr/>
          <p:nvPr/>
        </p:nvSpPr>
        <p:spPr>
          <a:xfrm>
            <a:off x="457200" y="1719072"/>
            <a:ext cx="411480" cy="685800"/>
          </a:xfrm>
          <a:prstGeom prst="rect">
            <a:avLst/>
          </a:prstGeom>
          <a:solidFill>
            <a:srgbClr val="C8960C"/>
          </a:solidFill>
          <a:ln/>
        </p:spPr>
      </p:sp>
      <p:sp>
        <p:nvSpPr>
          <p:cNvPr id="11" name="Text 9"/>
          <p:cNvSpPr/>
          <p:nvPr/>
        </p:nvSpPr>
        <p:spPr>
          <a:xfrm>
            <a:off x="457200" y="1719072"/>
            <a:ext cx="4114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1005840" y="1719072"/>
            <a:ext cx="2011680" cy="274320"/>
          </a:xfrm>
          <a:prstGeom prst="rect">
            <a:avLst/>
          </a:prstGeom>
          <a:noFill/>
          <a:ln/>
        </p:spPr>
        <p:txBody>
          <a:bodyPr wrap="square" lIns="0" tIns="0" rIns="0" bIns="0" rtlCol="0" anchor="ctr"/>
          <a:lstStyle/>
          <a:p>
            <a:pPr indent="0" marL="0">
              <a:buNone/>
            </a:pPr>
            <a:r>
              <a:rPr lang="en-US" sz="1200" b="1" dirty="0">
                <a:solidFill>
                  <a:srgbClr val="C8960C"/>
                </a:solidFill>
                <a:latin typeface="Georgia" pitchFamily="34" charset="0"/>
                <a:ea typeface="Georgia" pitchFamily="34" charset="-122"/>
                <a:cs typeface="Georgia" pitchFamily="34" charset="-120"/>
              </a:rPr>
              <a:t>Spatial Outlier</a:t>
            </a:r>
            <a:endParaRPr lang="en-US" sz="1200" dirty="0"/>
          </a:p>
        </p:txBody>
      </p:sp>
      <p:sp>
        <p:nvSpPr>
          <p:cNvPr id="13" name="Text 11"/>
          <p:cNvSpPr/>
          <p:nvPr/>
        </p:nvSpPr>
        <p:spPr>
          <a:xfrm>
            <a:off x="1005840" y="1993392"/>
            <a:ext cx="4572000" cy="182880"/>
          </a:xfrm>
          <a:prstGeom prst="rect">
            <a:avLst/>
          </a:prstGeom>
          <a:noFill/>
          <a:ln/>
        </p:spPr>
        <p:txBody>
          <a:bodyPr wrap="square" lIns="0" tIns="0" rIns="0" bIns="0" rtlCol="0" anchor="ctr"/>
          <a:lstStyle/>
          <a:p>
            <a:pPr indent="0" marL="0">
              <a:buNone/>
            </a:pPr>
            <a:r>
              <a:rPr lang="en-US" sz="900" b="1" dirty="0">
                <a:solidFill>
                  <a:srgbClr val="333333"/>
                </a:solidFill>
                <a:latin typeface="Calibri" pitchFamily="34" charset="0"/>
                <a:ea typeface="Calibri" pitchFamily="34" charset="-122"/>
                <a:cs typeface="Calibri" pitchFamily="34" charset="-120"/>
              </a:rPr>
              <a:t>Is observation X anomalous relative to the global distribution, or relative to its geographic neighborhood?</a:t>
            </a:r>
            <a:endParaRPr lang="en-US" sz="900" dirty="0"/>
          </a:p>
        </p:txBody>
      </p:sp>
      <p:sp>
        <p:nvSpPr>
          <p:cNvPr id="14" name="Text 12"/>
          <p:cNvSpPr/>
          <p:nvPr/>
        </p:nvSpPr>
        <p:spPr>
          <a:xfrm>
            <a:off x="1005840" y="2194560"/>
            <a:ext cx="4572000" cy="164592"/>
          </a:xfrm>
          <a:prstGeom prst="rect">
            <a:avLst/>
          </a:prstGeom>
          <a:noFill/>
          <a:ln/>
        </p:spPr>
        <p:txBody>
          <a:bodyPr wrap="square" lIns="0" tIns="0" rIns="0" bIns="0"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Is this hospital's wait time a local anomaly or a national trend?</a:t>
            </a:r>
            <a:endParaRPr lang="en-US" sz="850" dirty="0"/>
          </a:p>
        </p:txBody>
      </p:sp>
      <p:sp>
        <p:nvSpPr>
          <p:cNvPr id="15" name="Text 13"/>
          <p:cNvSpPr/>
          <p:nvPr/>
        </p:nvSpPr>
        <p:spPr>
          <a:xfrm>
            <a:off x="5760720" y="1764792"/>
            <a:ext cx="2926080" cy="137160"/>
          </a:xfrm>
          <a:prstGeom prst="rect">
            <a:avLst/>
          </a:prstGeom>
          <a:noFill/>
          <a:ln/>
        </p:spPr>
        <p:txBody>
          <a:bodyPr wrap="square" lIns="0" tIns="0" rIns="0" bIns="0" rtlCol="0" anchor="ctr"/>
          <a:lstStyle/>
          <a:p>
            <a:pPr indent="0" marL="0">
              <a:buNone/>
            </a:pPr>
            <a:r>
              <a:rPr lang="en-US" sz="800" dirty="0">
                <a:solidFill>
                  <a:srgbClr val="D7191C"/>
                </a:solidFill>
                <a:latin typeface="Calibri" pitchFamily="34" charset="0"/>
                <a:ea typeface="Calibri" pitchFamily="34" charset="-122"/>
                <a:cs typeface="Calibri" pitchFamily="34" charset="-120"/>
              </a:rPr>
              <a:t>Aspatial: Scatterplot, ranked list</a:t>
            </a:r>
            <a:endParaRPr lang="en-US" sz="800" dirty="0"/>
          </a:p>
        </p:txBody>
      </p:sp>
      <p:sp>
        <p:nvSpPr>
          <p:cNvPr id="16" name="Text 14"/>
          <p:cNvSpPr/>
          <p:nvPr/>
        </p:nvSpPr>
        <p:spPr>
          <a:xfrm>
            <a:off x="5760720" y="1947672"/>
            <a:ext cx="2926080" cy="137160"/>
          </a:xfrm>
          <a:prstGeom prst="rect">
            <a:avLst/>
          </a:prstGeom>
          <a:noFill/>
          <a:ln/>
        </p:spPr>
        <p:txBody>
          <a:bodyPr wrap="square" lIns="0" tIns="0" rIns="0" bIns="0" rtlCol="0" anchor="ctr"/>
          <a:lstStyle/>
          <a:p>
            <a:pPr indent="0" marL="0">
              <a:buNone/>
            </a:pPr>
            <a:r>
              <a:rPr lang="en-US" sz="800" dirty="0">
                <a:solidFill>
                  <a:srgbClr val="00857C"/>
                </a:solidFill>
                <a:latin typeface="Calibri" pitchFamily="34" charset="0"/>
                <a:ea typeface="Calibri" pitchFamily="34" charset="-122"/>
                <a:cs typeface="Calibri" pitchFamily="34" charset="-120"/>
              </a:rPr>
              <a:t>Spatial: Moran Scatterplot (value vs spatial lag)</a:t>
            </a:r>
            <a:endParaRPr lang="en-US" sz="800" dirty="0"/>
          </a:p>
        </p:txBody>
      </p:sp>
      <p:sp>
        <p:nvSpPr>
          <p:cNvPr id="17" name="Shape 15"/>
          <p:cNvSpPr/>
          <p:nvPr/>
        </p:nvSpPr>
        <p:spPr>
          <a:xfrm>
            <a:off x="457200" y="2523744"/>
            <a:ext cx="411480" cy="685800"/>
          </a:xfrm>
          <a:prstGeom prst="rect">
            <a:avLst/>
          </a:prstGeom>
          <a:solidFill>
            <a:srgbClr val="B7234C"/>
          </a:solidFill>
          <a:ln/>
        </p:spPr>
      </p:sp>
      <p:sp>
        <p:nvSpPr>
          <p:cNvPr id="18" name="Text 16"/>
          <p:cNvSpPr/>
          <p:nvPr/>
        </p:nvSpPr>
        <p:spPr>
          <a:xfrm>
            <a:off x="457200" y="2523744"/>
            <a:ext cx="4114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1005840" y="2523744"/>
            <a:ext cx="2011680" cy="274320"/>
          </a:xfrm>
          <a:prstGeom prst="rect">
            <a:avLst/>
          </a:prstGeom>
          <a:noFill/>
          <a:ln/>
        </p:spPr>
        <p:txBody>
          <a:bodyPr wrap="square" lIns="0" tIns="0" rIns="0" bIns="0" rtlCol="0" anchor="ctr"/>
          <a:lstStyle/>
          <a:p>
            <a:pPr indent="0" marL="0">
              <a:buNone/>
            </a:pPr>
            <a:r>
              <a:rPr lang="en-US" sz="1200" b="1" dirty="0">
                <a:solidFill>
                  <a:srgbClr val="B7234C"/>
                </a:solidFill>
                <a:latin typeface="Georgia" pitchFamily="34" charset="0"/>
                <a:ea typeface="Georgia" pitchFamily="34" charset="-122"/>
                <a:cs typeface="Georgia" pitchFamily="34" charset="-120"/>
              </a:rPr>
              <a:t>Absence as Evidence</a:t>
            </a:r>
            <a:endParaRPr lang="en-US" sz="1200" dirty="0"/>
          </a:p>
        </p:txBody>
      </p:sp>
      <p:sp>
        <p:nvSpPr>
          <p:cNvPr id="20" name="Text 18"/>
          <p:cNvSpPr/>
          <p:nvPr/>
        </p:nvSpPr>
        <p:spPr>
          <a:xfrm>
            <a:off x="1005840" y="2798064"/>
            <a:ext cx="4572000" cy="182880"/>
          </a:xfrm>
          <a:prstGeom prst="rect">
            <a:avLst/>
          </a:prstGeom>
          <a:noFill/>
          <a:ln/>
        </p:spPr>
        <p:txBody>
          <a:bodyPr wrap="square" lIns="0" tIns="0" rIns="0" bIns="0" rtlCol="0" anchor="ctr"/>
          <a:lstStyle/>
          <a:p>
            <a:pPr indent="0" marL="0">
              <a:buNone/>
            </a:pPr>
            <a:r>
              <a:rPr lang="en-US" sz="900" b="1" dirty="0">
                <a:solidFill>
                  <a:srgbClr val="333333"/>
                </a:solidFill>
                <a:latin typeface="Calibri" pitchFamily="34" charset="0"/>
                <a:ea typeface="Calibri" pitchFamily="34" charset="-122"/>
                <a:cs typeface="Calibri" pitchFamily="34" charset="-120"/>
              </a:rPr>
              <a:t>Does the LACK of spatial structure in variable X prove a non-geographic cause?</a:t>
            </a:r>
            <a:endParaRPr lang="en-US" sz="900" dirty="0"/>
          </a:p>
        </p:txBody>
      </p:sp>
      <p:sp>
        <p:nvSpPr>
          <p:cNvPr id="21" name="Text 19"/>
          <p:cNvSpPr/>
          <p:nvPr/>
        </p:nvSpPr>
        <p:spPr>
          <a:xfrm>
            <a:off x="1005840" y="2999232"/>
            <a:ext cx="4572000" cy="164592"/>
          </a:xfrm>
          <a:prstGeom prst="rect">
            <a:avLst/>
          </a:prstGeom>
          <a:noFill/>
          <a:ln/>
        </p:spPr>
        <p:txBody>
          <a:bodyPr wrap="square" lIns="0" tIns="0" rIns="0" bIns="0"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Are equipment failures systemic or concentrated in certain plants?</a:t>
            </a:r>
            <a:endParaRPr lang="en-US" sz="850" dirty="0"/>
          </a:p>
        </p:txBody>
      </p:sp>
      <p:sp>
        <p:nvSpPr>
          <p:cNvPr id="22" name="Text 20"/>
          <p:cNvSpPr/>
          <p:nvPr/>
        </p:nvSpPr>
        <p:spPr>
          <a:xfrm>
            <a:off x="5760720" y="2569464"/>
            <a:ext cx="2926080" cy="137160"/>
          </a:xfrm>
          <a:prstGeom prst="rect">
            <a:avLst/>
          </a:prstGeom>
          <a:noFill/>
          <a:ln/>
        </p:spPr>
        <p:txBody>
          <a:bodyPr wrap="square" lIns="0" tIns="0" rIns="0" bIns="0" rtlCol="0" anchor="ctr"/>
          <a:lstStyle/>
          <a:p>
            <a:pPr indent="0" marL="0">
              <a:buNone/>
            </a:pPr>
            <a:r>
              <a:rPr lang="en-US" sz="800" dirty="0">
                <a:solidFill>
                  <a:srgbClr val="D7191C"/>
                </a:solidFill>
                <a:latin typeface="Calibri" pitchFamily="34" charset="0"/>
                <a:ea typeface="Calibri" pitchFamily="34" charset="-122"/>
                <a:cs typeface="Calibri" pitchFamily="34" charset="-120"/>
              </a:rPr>
              <a:t>Aspatial: Count, histogram</a:t>
            </a:r>
            <a:endParaRPr lang="en-US" sz="800" dirty="0"/>
          </a:p>
        </p:txBody>
      </p:sp>
      <p:sp>
        <p:nvSpPr>
          <p:cNvPr id="23" name="Text 21"/>
          <p:cNvSpPr/>
          <p:nvPr/>
        </p:nvSpPr>
        <p:spPr>
          <a:xfrm>
            <a:off x="5760720" y="2752344"/>
            <a:ext cx="2926080" cy="137160"/>
          </a:xfrm>
          <a:prstGeom prst="rect">
            <a:avLst/>
          </a:prstGeom>
          <a:noFill/>
          <a:ln/>
        </p:spPr>
        <p:txBody>
          <a:bodyPr wrap="square" lIns="0" tIns="0" rIns="0" bIns="0" rtlCol="0" anchor="ctr"/>
          <a:lstStyle/>
          <a:p>
            <a:pPr indent="0" marL="0">
              <a:buNone/>
            </a:pPr>
            <a:r>
              <a:rPr lang="en-US" sz="800" dirty="0">
                <a:solidFill>
                  <a:srgbClr val="00857C"/>
                </a:solidFill>
                <a:latin typeface="Calibri" pitchFamily="34" charset="0"/>
                <a:ea typeface="Calibri" pitchFamily="34" charset="-122"/>
                <a:cs typeface="Calibri" pitchFamily="34" charset="-120"/>
              </a:rPr>
              <a:t>Spatial: LISA with I near zero</a:t>
            </a:r>
            <a:endParaRPr lang="en-US" sz="800" dirty="0"/>
          </a:p>
        </p:txBody>
      </p:sp>
      <p:sp>
        <p:nvSpPr>
          <p:cNvPr id="24" name="Shape 22"/>
          <p:cNvSpPr/>
          <p:nvPr/>
        </p:nvSpPr>
        <p:spPr>
          <a:xfrm>
            <a:off x="457200" y="3328416"/>
            <a:ext cx="411480" cy="685800"/>
          </a:xfrm>
          <a:prstGeom prst="rect">
            <a:avLst/>
          </a:prstGeom>
          <a:solidFill>
            <a:srgbClr val="FF9933"/>
          </a:solidFill>
          <a:ln/>
        </p:spPr>
      </p:sp>
      <p:sp>
        <p:nvSpPr>
          <p:cNvPr id="25" name="Text 23"/>
          <p:cNvSpPr/>
          <p:nvPr/>
        </p:nvSpPr>
        <p:spPr>
          <a:xfrm>
            <a:off x="457200" y="3328416"/>
            <a:ext cx="4114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6" name="Text 24"/>
          <p:cNvSpPr/>
          <p:nvPr/>
        </p:nvSpPr>
        <p:spPr>
          <a:xfrm>
            <a:off x="1005840" y="3328416"/>
            <a:ext cx="2011680" cy="274320"/>
          </a:xfrm>
          <a:prstGeom prst="rect">
            <a:avLst/>
          </a:prstGeom>
          <a:noFill/>
          <a:ln/>
        </p:spPr>
        <p:txBody>
          <a:bodyPr wrap="square" lIns="0" tIns="0" rIns="0" bIns="0" rtlCol="0" anchor="ctr"/>
          <a:lstStyle/>
          <a:p>
            <a:pPr indent="0" marL="0">
              <a:buNone/>
            </a:pPr>
            <a:r>
              <a:rPr lang="en-US" sz="1200" b="1" dirty="0">
                <a:solidFill>
                  <a:srgbClr val="FF9933"/>
                </a:solidFill>
                <a:latin typeface="Georgia" pitchFamily="34" charset="0"/>
                <a:ea typeface="Georgia" pitchFamily="34" charset="-122"/>
                <a:cs typeface="Georgia" pitchFamily="34" charset="-120"/>
              </a:rPr>
              <a:t>Co-location</a:t>
            </a:r>
            <a:endParaRPr lang="en-US" sz="1200" dirty="0"/>
          </a:p>
        </p:txBody>
      </p:sp>
      <p:sp>
        <p:nvSpPr>
          <p:cNvPr id="27" name="Text 25"/>
          <p:cNvSpPr/>
          <p:nvPr/>
        </p:nvSpPr>
        <p:spPr>
          <a:xfrm>
            <a:off x="1005840" y="3602736"/>
            <a:ext cx="4572000" cy="182880"/>
          </a:xfrm>
          <a:prstGeom prst="rect">
            <a:avLst/>
          </a:prstGeom>
          <a:noFill/>
          <a:ln/>
        </p:spPr>
        <p:txBody>
          <a:bodyPr wrap="square" lIns="0" tIns="0" rIns="0" bIns="0" rtlCol="0" anchor="ctr"/>
          <a:lstStyle/>
          <a:p>
            <a:pPr indent="0" marL="0">
              <a:buNone/>
            </a:pPr>
            <a:r>
              <a:rPr lang="en-US" sz="900" b="1" dirty="0">
                <a:solidFill>
                  <a:srgbClr val="333333"/>
                </a:solidFill>
                <a:latin typeface="Calibri" pitchFamily="34" charset="0"/>
                <a:ea typeface="Calibri" pitchFamily="34" charset="-122"/>
                <a:cs typeface="Calibri" pitchFamily="34" charset="-120"/>
              </a:rPr>
              <a:t>Do multiple disadvantages occupy the same geographic belt?</a:t>
            </a:r>
            <a:endParaRPr lang="en-US" sz="900" dirty="0"/>
          </a:p>
        </p:txBody>
      </p:sp>
      <p:sp>
        <p:nvSpPr>
          <p:cNvPr id="28" name="Text 26"/>
          <p:cNvSpPr/>
          <p:nvPr/>
        </p:nvSpPr>
        <p:spPr>
          <a:xfrm>
            <a:off x="1005840" y="3803904"/>
            <a:ext cx="4572000" cy="164592"/>
          </a:xfrm>
          <a:prstGeom prst="rect">
            <a:avLst/>
          </a:prstGeom>
          <a:noFill/>
          <a:ln/>
        </p:spPr>
        <p:txBody>
          <a:bodyPr wrap="square" lIns="0" tIns="0" rIns="0" bIns="0"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Do poverty, poor health, and low education share the same districts?</a:t>
            </a:r>
            <a:endParaRPr lang="en-US" sz="850" dirty="0"/>
          </a:p>
        </p:txBody>
      </p:sp>
      <p:sp>
        <p:nvSpPr>
          <p:cNvPr id="29" name="Text 27"/>
          <p:cNvSpPr/>
          <p:nvPr/>
        </p:nvSpPr>
        <p:spPr>
          <a:xfrm>
            <a:off x="5760720" y="3374136"/>
            <a:ext cx="2926080" cy="137160"/>
          </a:xfrm>
          <a:prstGeom prst="rect">
            <a:avLst/>
          </a:prstGeom>
          <a:noFill/>
          <a:ln/>
        </p:spPr>
        <p:txBody>
          <a:bodyPr wrap="square" lIns="0" tIns="0" rIns="0" bIns="0" rtlCol="0" anchor="ctr"/>
          <a:lstStyle/>
          <a:p>
            <a:pPr indent="0" marL="0">
              <a:buNone/>
            </a:pPr>
            <a:r>
              <a:rPr lang="en-US" sz="800" dirty="0">
                <a:solidFill>
                  <a:srgbClr val="D7191C"/>
                </a:solidFill>
                <a:latin typeface="Calibri" pitchFamily="34" charset="0"/>
                <a:ea typeface="Calibri" pitchFamily="34" charset="-122"/>
                <a:cs typeface="Calibri" pitchFamily="34" charset="-120"/>
              </a:rPr>
              <a:t>Aspatial: Separate bar charts</a:t>
            </a:r>
            <a:endParaRPr lang="en-US" sz="800" dirty="0"/>
          </a:p>
        </p:txBody>
      </p:sp>
      <p:sp>
        <p:nvSpPr>
          <p:cNvPr id="30" name="Text 28"/>
          <p:cNvSpPr/>
          <p:nvPr/>
        </p:nvSpPr>
        <p:spPr>
          <a:xfrm>
            <a:off x="5760720" y="3557016"/>
            <a:ext cx="2926080" cy="137160"/>
          </a:xfrm>
          <a:prstGeom prst="rect">
            <a:avLst/>
          </a:prstGeom>
          <a:noFill/>
          <a:ln/>
        </p:spPr>
        <p:txBody>
          <a:bodyPr wrap="square" lIns="0" tIns="0" rIns="0" bIns="0" rtlCol="0" anchor="ctr"/>
          <a:lstStyle/>
          <a:p>
            <a:pPr indent="0" marL="0">
              <a:buNone/>
            </a:pPr>
            <a:r>
              <a:rPr lang="en-US" sz="800" dirty="0">
                <a:solidFill>
                  <a:srgbClr val="00857C"/>
                </a:solidFill>
                <a:latin typeface="Calibri" pitchFamily="34" charset="0"/>
                <a:ea typeface="Calibri" pitchFamily="34" charset="-122"/>
                <a:cs typeface="Calibri" pitchFamily="34" charset="-120"/>
              </a:rPr>
              <a:t>Spatial: Spatial spine / overlay map</a:t>
            </a:r>
            <a:endParaRPr lang="en-US" sz="800" dirty="0"/>
          </a:p>
        </p:txBody>
      </p:sp>
      <p:sp>
        <p:nvSpPr>
          <p:cNvPr id="31" name="Shape 29"/>
          <p:cNvSpPr/>
          <p:nvPr/>
        </p:nvSpPr>
        <p:spPr>
          <a:xfrm>
            <a:off x="457200" y="4133088"/>
            <a:ext cx="411480" cy="685800"/>
          </a:xfrm>
          <a:prstGeom prst="rect">
            <a:avLst/>
          </a:prstGeom>
          <a:solidFill>
            <a:srgbClr val="00857C"/>
          </a:solidFill>
          <a:ln/>
        </p:spPr>
      </p:sp>
      <p:sp>
        <p:nvSpPr>
          <p:cNvPr id="32" name="Text 30"/>
          <p:cNvSpPr/>
          <p:nvPr/>
        </p:nvSpPr>
        <p:spPr>
          <a:xfrm>
            <a:off x="457200" y="4133088"/>
            <a:ext cx="41148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33" name="Text 31"/>
          <p:cNvSpPr/>
          <p:nvPr/>
        </p:nvSpPr>
        <p:spPr>
          <a:xfrm>
            <a:off x="1005840" y="4133088"/>
            <a:ext cx="2011680" cy="274320"/>
          </a:xfrm>
          <a:prstGeom prst="rect">
            <a:avLst/>
          </a:prstGeom>
          <a:noFill/>
          <a:ln/>
        </p:spPr>
        <p:txBody>
          <a:bodyPr wrap="square" lIns="0" tIns="0" rIns="0" bIns="0" rtlCol="0" anchor="ctr"/>
          <a:lstStyle/>
          <a:p>
            <a:pPr indent="0" marL="0">
              <a:buNone/>
            </a:pPr>
            <a:r>
              <a:rPr lang="en-US" sz="1200" b="1" dirty="0">
                <a:solidFill>
                  <a:srgbClr val="00857C"/>
                </a:solidFill>
                <a:latin typeface="Georgia" pitchFamily="34" charset="0"/>
                <a:ea typeface="Georgia" pitchFamily="34" charset="-122"/>
                <a:cs typeface="Georgia" pitchFamily="34" charset="-120"/>
              </a:rPr>
              <a:t>Policy Simulation</a:t>
            </a:r>
            <a:endParaRPr lang="en-US" sz="1200" dirty="0"/>
          </a:p>
        </p:txBody>
      </p:sp>
      <p:sp>
        <p:nvSpPr>
          <p:cNvPr id="34" name="Text 32"/>
          <p:cNvSpPr/>
          <p:nvPr/>
        </p:nvSpPr>
        <p:spPr>
          <a:xfrm>
            <a:off x="1005840" y="4407408"/>
            <a:ext cx="4572000" cy="182880"/>
          </a:xfrm>
          <a:prstGeom prst="rect">
            <a:avLst/>
          </a:prstGeom>
          <a:noFill/>
          <a:ln/>
        </p:spPr>
        <p:txBody>
          <a:bodyPr wrap="square" lIns="0" tIns="0" rIns="0" bIns="0" rtlCol="0" anchor="ctr"/>
          <a:lstStyle/>
          <a:p>
            <a:pPr indent="0" marL="0">
              <a:buNone/>
            </a:pPr>
            <a:r>
              <a:rPr lang="en-US" sz="900" b="1" dirty="0">
                <a:solidFill>
                  <a:srgbClr val="333333"/>
                </a:solidFill>
                <a:latin typeface="Calibri" pitchFamily="34" charset="0"/>
                <a:ea typeface="Calibri" pitchFamily="34" charset="-122"/>
                <a:cs typeface="Calibri" pitchFamily="34" charset="-120"/>
              </a:rPr>
              <a:t>Does a policy intervention change the spatial structure of inequality, or does the geographic pattern persist?</a:t>
            </a:r>
            <a:endParaRPr lang="en-US" sz="900" dirty="0"/>
          </a:p>
        </p:txBody>
      </p:sp>
      <p:sp>
        <p:nvSpPr>
          <p:cNvPr id="35" name="Text 33"/>
          <p:cNvSpPr/>
          <p:nvPr/>
        </p:nvSpPr>
        <p:spPr>
          <a:xfrm>
            <a:off x="1005840" y="4608576"/>
            <a:ext cx="4572000" cy="164592"/>
          </a:xfrm>
          <a:prstGeom prst="rect">
            <a:avLst/>
          </a:prstGeom>
          <a:noFill/>
          <a:ln/>
        </p:spPr>
        <p:txBody>
          <a:bodyPr wrap="square" lIns="0" tIns="0" rIns="0" bIns="0"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Does increasing hospital funding reduce geographic clustering of wait times?</a:t>
            </a:r>
            <a:endParaRPr lang="en-US" sz="850" dirty="0"/>
          </a:p>
        </p:txBody>
      </p:sp>
      <p:sp>
        <p:nvSpPr>
          <p:cNvPr id="36" name="Text 34"/>
          <p:cNvSpPr/>
          <p:nvPr/>
        </p:nvSpPr>
        <p:spPr>
          <a:xfrm>
            <a:off x="5760720" y="4178808"/>
            <a:ext cx="2926080" cy="137160"/>
          </a:xfrm>
          <a:prstGeom prst="rect">
            <a:avLst/>
          </a:prstGeom>
          <a:noFill/>
          <a:ln/>
        </p:spPr>
        <p:txBody>
          <a:bodyPr wrap="square" lIns="0" tIns="0" rIns="0" bIns="0" rtlCol="0" anchor="ctr"/>
          <a:lstStyle/>
          <a:p>
            <a:pPr indent="0" marL="0">
              <a:buNone/>
            </a:pPr>
            <a:r>
              <a:rPr lang="en-US" sz="800" dirty="0">
                <a:solidFill>
                  <a:srgbClr val="D7191C"/>
                </a:solidFill>
                <a:latin typeface="Calibri" pitchFamily="34" charset="0"/>
                <a:ea typeface="Calibri" pitchFamily="34" charset="-122"/>
                <a:cs typeface="Calibri" pitchFamily="34" charset="-120"/>
              </a:rPr>
              <a:t>Aspatial: Slider + table</a:t>
            </a:r>
            <a:endParaRPr lang="en-US" sz="800" dirty="0"/>
          </a:p>
        </p:txBody>
      </p:sp>
      <p:sp>
        <p:nvSpPr>
          <p:cNvPr id="37" name="Text 35"/>
          <p:cNvSpPr/>
          <p:nvPr/>
        </p:nvSpPr>
        <p:spPr>
          <a:xfrm>
            <a:off x="5760720" y="4361688"/>
            <a:ext cx="2926080" cy="137160"/>
          </a:xfrm>
          <a:prstGeom prst="rect">
            <a:avLst/>
          </a:prstGeom>
          <a:noFill/>
          <a:ln/>
        </p:spPr>
        <p:txBody>
          <a:bodyPr wrap="square" lIns="0" tIns="0" rIns="0" bIns="0" rtlCol="0" anchor="ctr"/>
          <a:lstStyle/>
          <a:p>
            <a:pPr indent="0" marL="0">
              <a:buNone/>
            </a:pPr>
            <a:r>
              <a:rPr lang="en-US" sz="800" dirty="0">
                <a:solidFill>
                  <a:srgbClr val="00857C"/>
                </a:solidFill>
                <a:latin typeface="Calibri" pitchFamily="34" charset="0"/>
                <a:ea typeface="Calibri" pitchFamily="34" charset="-122"/>
                <a:cs typeface="Calibri" pitchFamily="34" charset="-120"/>
              </a:rPr>
              <a:t>Spatial: Simulator + Moran's I</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indent="0" marL="0">
              <a:buNone/>
            </a:pPr>
            <a:r>
              <a:rPr lang="en-US" sz="2400" b="1" dirty="0">
                <a:solidFill>
                  <a:srgbClr val="0D2B5C"/>
                </a:solidFill>
                <a:latin typeface="Georgia" pitchFamily="34" charset="0"/>
                <a:ea typeface="Georgia" pitchFamily="34" charset="-122"/>
                <a:cs typeface="Georgia" pitchFamily="34" charset="-120"/>
              </a:rPr>
              <a:t>The Engine: Data to Algorithm to Code</a:t>
            </a:r>
            <a:endParaRPr lang="en-US" sz="2400" dirty="0"/>
          </a:p>
        </p:txBody>
      </p:sp>
      <p:sp>
        <p:nvSpPr>
          <p:cNvPr id="3" name="Text 1"/>
          <p:cNvSpPr/>
          <p:nvPr/>
        </p:nvSpPr>
        <p:spPr>
          <a:xfrm>
            <a:off x="457200" y="777240"/>
            <a:ext cx="8229600" cy="228600"/>
          </a:xfrm>
          <a:prstGeom prst="rect">
            <a:avLst/>
          </a:prstGeom>
          <a:noFill/>
          <a:ln/>
        </p:spPr>
        <p:txBody>
          <a:bodyPr wrap="square" lIns="0" tIns="0" rIns="0" bIns="0" rtlCol="0" anchor="ctr"/>
          <a:lstStyle/>
          <a:p>
            <a:pPr indent="0" marL="0">
              <a:buNone/>
            </a:pPr>
            <a:r>
              <a:rPr lang="en-US" sz="1100" i="1" dirty="0">
                <a:solidFill>
                  <a:srgbClr val="00857C"/>
                </a:solidFill>
                <a:latin typeface="Georgia" pitchFamily="34" charset="0"/>
                <a:ea typeface="Georgia" pitchFamily="34" charset="-122"/>
                <a:cs typeface="Georgia" pitchFamily="34" charset="-120"/>
              </a:rPr>
              <a:t>The same pipeline answers all five query classes. Only the input variable changes.</a:t>
            </a:r>
            <a:endParaRPr lang="en-US" sz="1100" dirty="0"/>
          </a:p>
        </p:txBody>
      </p:sp>
      <p:sp>
        <p:nvSpPr>
          <p:cNvPr id="4" name="Shape 2"/>
          <p:cNvSpPr/>
          <p:nvPr/>
        </p:nvSpPr>
        <p:spPr>
          <a:xfrm>
            <a:off x="457200" y="1143000"/>
            <a:ext cx="36576" cy="365760"/>
          </a:xfrm>
          <a:prstGeom prst="rect">
            <a:avLst/>
          </a:prstGeom>
          <a:solidFill>
            <a:srgbClr val="0D2B5C"/>
          </a:solidFill>
          <a:ln/>
        </p:spPr>
      </p:sp>
      <p:sp>
        <p:nvSpPr>
          <p:cNvPr id="5" name="Text 3"/>
          <p:cNvSpPr/>
          <p:nvPr/>
        </p:nvSpPr>
        <p:spPr>
          <a:xfrm>
            <a:off x="594360" y="1143000"/>
            <a:ext cx="1188720" cy="182880"/>
          </a:xfrm>
          <a:prstGeom prst="rect">
            <a:avLst/>
          </a:prstGeom>
          <a:noFill/>
          <a:ln/>
        </p:spPr>
        <p:txBody>
          <a:bodyPr wrap="square" lIns="0" tIns="0" rIns="0" bIns="0" rtlCol="0" anchor="ctr"/>
          <a:lstStyle/>
          <a:p>
            <a:pPr indent="0" marL="0">
              <a:buNone/>
            </a:pPr>
            <a:r>
              <a:rPr lang="en-US" sz="1000" b="1" dirty="0">
                <a:solidFill>
                  <a:srgbClr val="0D2B5C"/>
                </a:solidFill>
                <a:latin typeface="Georgia" pitchFamily="34" charset="0"/>
                <a:ea typeface="Georgia" pitchFamily="34" charset="-122"/>
                <a:cs typeface="Georgia" pitchFamily="34" charset="-120"/>
              </a:rPr>
              <a:t>1. Data</a:t>
            </a:r>
            <a:endParaRPr lang="en-US" sz="1000" dirty="0"/>
          </a:p>
        </p:txBody>
      </p:sp>
      <p:sp>
        <p:nvSpPr>
          <p:cNvPr id="6" name="Text 4"/>
          <p:cNvSpPr/>
          <p:nvPr/>
        </p:nvSpPr>
        <p:spPr>
          <a:xfrm>
            <a:off x="1828800" y="1143000"/>
            <a:ext cx="3200400" cy="365760"/>
          </a:xfrm>
          <a:prstGeom prst="rect">
            <a:avLst/>
          </a:prstGeom>
          <a:noFill/>
          <a:ln/>
        </p:spPr>
        <p:txBody>
          <a:bodyPr wrap="square" lIns="0" tIns="0" rIns="0" bIns="0" rtlCol="0" anchor="t"/>
          <a:lstStyle/>
          <a:p>
            <a:pPr indent="0" marL="0">
              <a:buNone/>
            </a:pPr>
            <a:r>
              <a:rPr lang="en-US" sz="950" dirty="0">
                <a:solidFill>
                  <a:srgbClr val="333333"/>
                </a:solidFill>
                <a:latin typeface="Calibri" pitchFamily="34" charset="0"/>
                <a:ea typeface="Calibri" pitchFamily="34" charset="-122"/>
                <a:cs typeface="Calibri" pitchFamily="34" charset="-120"/>
              </a:rPr>
              <a:t>Any CSV with geographic identifier (lat/lon or polygon ID) + numeric variable(s).</a:t>
            </a:r>
            <a:endParaRPr lang="en-US" sz="950" dirty="0"/>
          </a:p>
        </p:txBody>
      </p:sp>
      <p:sp>
        <p:nvSpPr>
          <p:cNvPr id="7" name="Shape 5"/>
          <p:cNvSpPr/>
          <p:nvPr/>
        </p:nvSpPr>
        <p:spPr>
          <a:xfrm>
            <a:off x="457200" y="1600200"/>
            <a:ext cx="36576" cy="365760"/>
          </a:xfrm>
          <a:prstGeom prst="rect">
            <a:avLst/>
          </a:prstGeom>
          <a:solidFill>
            <a:srgbClr val="00857C"/>
          </a:solidFill>
          <a:ln/>
        </p:spPr>
      </p:sp>
      <p:sp>
        <p:nvSpPr>
          <p:cNvPr id="8" name="Text 6"/>
          <p:cNvSpPr/>
          <p:nvPr/>
        </p:nvSpPr>
        <p:spPr>
          <a:xfrm>
            <a:off x="594360" y="1600200"/>
            <a:ext cx="1188720" cy="182880"/>
          </a:xfrm>
          <a:prstGeom prst="rect">
            <a:avLst/>
          </a:prstGeom>
          <a:noFill/>
          <a:ln/>
        </p:spPr>
        <p:txBody>
          <a:bodyPr wrap="square" lIns="0" tIns="0" rIns="0" bIns="0" rtlCol="0" anchor="ctr"/>
          <a:lstStyle/>
          <a:p>
            <a:pPr indent="0" marL="0">
              <a:buNone/>
            </a:pPr>
            <a:r>
              <a:rPr lang="en-US" sz="1000" b="1" dirty="0">
                <a:solidFill>
                  <a:srgbClr val="00857C"/>
                </a:solidFill>
                <a:latin typeface="Georgia" pitchFamily="34" charset="0"/>
                <a:ea typeface="Georgia" pitchFamily="34" charset="-122"/>
                <a:cs typeface="Georgia" pitchFamily="34" charset="-120"/>
              </a:rPr>
              <a:t>2. Weights</a:t>
            </a:r>
            <a:endParaRPr lang="en-US" sz="1000" dirty="0"/>
          </a:p>
        </p:txBody>
      </p:sp>
      <p:sp>
        <p:nvSpPr>
          <p:cNvPr id="9" name="Text 7"/>
          <p:cNvSpPr/>
          <p:nvPr/>
        </p:nvSpPr>
        <p:spPr>
          <a:xfrm>
            <a:off x="1828800" y="1600200"/>
            <a:ext cx="3200400" cy="365760"/>
          </a:xfrm>
          <a:prstGeom prst="rect">
            <a:avLst/>
          </a:prstGeom>
          <a:noFill/>
          <a:ln/>
        </p:spPr>
        <p:txBody>
          <a:bodyPr wrap="square" lIns="0" tIns="0" rIns="0" bIns="0" rtlCol="0" anchor="t"/>
          <a:lstStyle/>
          <a:p>
            <a:pPr indent="0" marL="0">
              <a:buNone/>
            </a:pPr>
            <a:r>
              <a:rPr lang="en-US" sz="950" dirty="0">
                <a:solidFill>
                  <a:srgbClr val="333333"/>
                </a:solidFill>
                <a:latin typeface="Calibri" pitchFamily="34" charset="0"/>
                <a:ea typeface="Calibri" pitchFamily="34" charset="-122"/>
                <a:cs typeface="Calibri" pitchFamily="34" charset="-120"/>
              </a:rPr>
              <a:t>KNN(k=8), row-standardized. Links each unit to k nearest neighbors. W: n x n.</a:t>
            </a:r>
            <a:endParaRPr lang="en-US" sz="950" dirty="0"/>
          </a:p>
        </p:txBody>
      </p:sp>
      <p:sp>
        <p:nvSpPr>
          <p:cNvPr id="10" name="Shape 8"/>
          <p:cNvSpPr/>
          <p:nvPr/>
        </p:nvSpPr>
        <p:spPr>
          <a:xfrm>
            <a:off x="457200" y="2057400"/>
            <a:ext cx="36576" cy="365760"/>
          </a:xfrm>
          <a:prstGeom prst="rect">
            <a:avLst/>
          </a:prstGeom>
          <a:solidFill>
            <a:srgbClr val="D7191C"/>
          </a:solidFill>
          <a:ln/>
        </p:spPr>
      </p:sp>
      <p:sp>
        <p:nvSpPr>
          <p:cNvPr id="11" name="Text 9"/>
          <p:cNvSpPr/>
          <p:nvPr/>
        </p:nvSpPr>
        <p:spPr>
          <a:xfrm>
            <a:off x="594360" y="2057400"/>
            <a:ext cx="1188720" cy="182880"/>
          </a:xfrm>
          <a:prstGeom prst="rect">
            <a:avLst/>
          </a:prstGeom>
          <a:noFill/>
          <a:ln/>
        </p:spPr>
        <p:txBody>
          <a:bodyPr wrap="square" lIns="0" tIns="0" rIns="0" bIns="0" rtlCol="0" anchor="ctr"/>
          <a:lstStyle/>
          <a:p>
            <a:pPr indent="0" marL="0">
              <a:buNone/>
            </a:pPr>
            <a:r>
              <a:rPr lang="en-US" sz="1000" b="1" dirty="0">
                <a:solidFill>
                  <a:srgbClr val="D7191C"/>
                </a:solidFill>
                <a:latin typeface="Georgia" pitchFamily="34" charset="0"/>
                <a:ea typeface="Georgia" pitchFamily="34" charset="-122"/>
                <a:cs typeface="Georgia" pitchFamily="34" charset="-120"/>
              </a:rPr>
              <a:t>3. Algorithm</a:t>
            </a:r>
            <a:endParaRPr lang="en-US" sz="1000" dirty="0"/>
          </a:p>
        </p:txBody>
      </p:sp>
      <p:sp>
        <p:nvSpPr>
          <p:cNvPr id="12" name="Text 10"/>
          <p:cNvSpPr/>
          <p:nvPr/>
        </p:nvSpPr>
        <p:spPr>
          <a:xfrm>
            <a:off x="1828800" y="2057400"/>
            <a:ext cx="3200400" cy="365760"/>
          </a:xfrm>
          <a:prstGeom prst="rect">
            <a:avLst/>
          </a:prstGeom>
          <a:noFill/>
          <a:ln/>
        </p:spPr>
        <p:txBody>
          <a:bodyPr wrap="square" lIns="0" tIns="0" rIns="0" bIns="0" rtlCol="0" anchor="t"/>
          <a:lstStyle/>
          <a:p>
            <a:pPr indent="0" marL="0">
              <a:buNone/>
            </a:pPr>
            <a:r>
              <a:rPr lang="en-US" sz="950" dirty="0">
                <a:solidFill>
                  <a:srgbClr val="333333"/>
                </a:solidFill>
                <a:latin typeface="Calibri" pitchFamily="34" charset="0"/>
                <a:ea typeface="Calibri" pitchFamily="34" charset="-122"/>
                <a:cs typeface="Calibri" pitchFamily="34" charset="-120"/>
              </a:rPr>
              <a:t>Global I = [n/S0] * [sum(w_ij * z_i * z_j) / sum(z_i^2)]. 999 permutations.</a:t>
            </a:r>
            <a:endParaRPr lang="en-US" sz="950" dirty="0"/>
          </a:p>
        </p:txBody>
      </p:sp>
      <p:sp>
        <p:nvSpPr>
          <p:cNvPr id="13" name="Shape 11"/>
          <p:cNvSpPr/>
          <p:nvPr/>
        </p:nvSpPr>
        <p:spPr>
          <a:xfrm>
            <a:off x="457200" y="2514600"/>
            <a:ext cx="36576" cy="365760"/>
          </a:xfrm>
          <a:prstGeom prst="rect">
            <a:avLst/>
          </a:prstGeom>
          <a:solidFill>
            <a:srgbClr val="C8960C"/>
          </a:solidFill>
          <a:ln/>
        </p:spPr>
      </p:sp>
      <p:sp>
        <p:nvSpPr>
          <p:cNvPr id="14" name="Text 12"/>
          <p:cNvSpPr/>
          <p:nvPr/>
        </p:nvSpPr>
        <p:spPr>
          <a:xfrm>
            <a:off x="594360" y="2514600"/>
            <a:ext cx="1188720" cy="182880"/>
          </a:xfrm>
          <a:prstGeom prst="rect">
            <a:avLst/>
          </a:prstGeom>
          <a:noFill/>
          <a:ln/>
        </p:spPr>
        <p:txBody>
          <a:bodyPr wrap="square" lIns="0" tIns="0" rIns="0" bIns="0" rtlCol="0" anchor="ctr"/>
          <a:lstStyle/>
          <a:p>
            <a:pPr indent="0" marL="0">
              <a:buNone/>
            </a:pPr>
            <a:r>
              <a:rPr lang="en-US" sz="1000" b="1" dirty="0">
                <a:solidFill>
                  <a:srgbClr val="C8960C"/>
                </a:solidFill>
                <a:latin typeface="Georgia" pitchFamily="34" charset="0"/>
                <a:ea typeface="Georgia" pitchFamily="34" charset="-122"/>
                <a:cs typeface="Georgia" pitchFamily="34" charset="-120"/>
              </a:rPr>
              <a:t>4. LISA</a:t>
            </a:r>
            <a:endParaRPr lang="en-US" sz="1000" dirty="0"/>
          </a:p>
        </p:txBody>
      </p:sp>
      <p:sp>
        <p:nvSpPr>
          <p:cNvPr id="15" name="Text 13"/>
          <p:cNvSpPr/>
          <p:nvPr/>
        </p:nvSpPr>
        <p:spPr>
          <a:xfrm>
            <a:off x="1828800" y="2514600"/>
            <a:ext cx="3200400" cy="365760"/>
          </a:xfrm>
          <a:prstGeom prst="rect">
            <a:avLst/>
          </a:prstGeom>
          <a:noFill/>
          <a:ln/>
        </p:spPr>
        <p:txBody>
          <a:bodyPr wrap="square" lIns="0" tIns="0" rIns="0" bIns="0" rtlCol="0" anchor="t"/>
          <a:lstStyle/>
          <a:p>
            <a:pPr indent="0" marL="0">
              <a:buNone/>
            </a:pPr>
            <a:r>
              <a:rPr lang="en-US" sz="950" dirty="0">
                <a:solidFill>
                  <a:srgbClr val="333333"/>
                </a:solidFill>
                <a:latin typeface="Calibri" pitchFamily="34" charset="0"/>
                <a:ea typeface="Calibri" pitchFamily="34" charset="-122"/>
                <a:cs typeface="Calibri" pitchFamily="34" charset="-120"/>
              </a:rPr>
              <a:t>Local I_i = z_i * sum(w_ij * z_j). Classify: HH, LL, HL, LH, NS. p-values per unit.</a:t>
            </a:r>
            <a:endParaRPr lang="en-US" sz="950" dirty="0"/>
          </a:p>
        </p:txBody>
      </p:sp>
      <p:sp>
        <p:nvSpPr>
          <p:cNvPr id="16" name="Shape 14"/>
          <p:cNvSpPr/>
          <p:nvPr/>
        </p:nvSpPr>
        <p:spPr>
          <a:xfrm>
            <a:off x="457200" y="2971800"/>
            <a:ext cx="36576" cy="365760"/>
          </a:xfrm>
          <a:prstGeom prst="rect">
            <a:avLst/>
          </a:prstGeom>
          <a:solidFill>
            <a:srgbClr val="B7234C"/>
          </a:solidFill>
          <a:ln/>
        </p:spPr>
      </p:sp>
      <p:sp>
        <p:nvSpPr>
          <p:cNvPr id="17" name="Text 15"/>
          <p:cNvSpPr/>
          <p:nvPr/>
        </p:nvSpPr>
        <p:spPr>
          <a:xfrm>
            <a:off x="594360" y="2971800"/>
            <a:ext cx="1188720" cy="182880"/>
          </a:xfrm>
          <a:prstGeom prst="rect">
            <a:avLst/>
          </a:prstGeom>
          <a:noFill/>
          <a:ln/>
        </p:spPr>
        <p:txBody>
          <a:bodyPr wrap="square" lIns="0" tIns="0" rIns="0" bIns="0" rtlCol="0" anchor="ctr"/>
          <a:lstStyle/>
          <a:p>
            <a:pPr indent="0" marL="0">
              <a:buNone/>
            </a:pPr>
            <a:r>
              <a:rPr lang="en-US" sz="1000" b="1" dirty="0">
                <a:solidFill>
                  <a:srgbClr val="B7234C"/>
                </a:solidFill>
                <a:latin typeface="Georgia" pitchFamily="34" charset="0"/>
                <a:ea typeface="Georgia" pitchFamily="34" charset="-122"/>
                <a:cs typeface="Georgia" pitchFamily="34" charset="-120"/>
              </a:rPr>
              <a:t>5. Visualize</a:t>
            </a:r>
            <a:endParaRPr lang="en-US" sz="1000" dirty="0"/>
          </a:p>
        </p:txBody>
      </p:sp>
      <p:sp>
        <p:nvSpPr>
          <p:cNvPr id="18" name="Text 16"/>
          <p:cNvSpPr/>
          <p:nvPr/>
        </p:nvSpPr>
        <p:spPr>
          <a:xfrm>
            <a:off x="1828800" y="2971800"/>
            <a:ext cx="3200400" cy="365760"/>
          </a:xfrm>
          <a:prstGeom prst="rect">
            <a:avLst/>
          </a:prstGeom>
          <a:noFill/>
          <a:ln/>
        </p:spPr>
        <p:txBody>
          <a:bodyPr wrap="square" lIns="0" tIns="0" rIns="0" bIns="0" rtlCol="0" anchor="t"/>
          <a:lstStyle/>
          <a:p>
            <a:pPr indent="0" marL="0">
              <a:buNone/>
            </a:pPr>
            <a:r>
              <a:rPr lang="en-US" sz="950" dirty="0">
                <a:solidFill>
                  <a:srgbClr val="333333"/>
                </a:solidFill>
                <a:latin typeface="Calibri" pitchFamily="34" charset="0"/>
                <a:ea typeface="Calibri" pitchFamily="34" charset="-122"/>
                <a:cs typeface="Calibri" pitchFamily="34" charset="-120"/>
              </a:rPr>
              <a:t>Plotly.js interactive maps + Three.js WebGL 3D. Self-contained HTML.</a:t>
            </a:r>
            <a:endParaRPr lang="en-US" sz="950" dirty="0"/>
          </a:p>
        </p:txBody>
      </p:sp>
      <p:sp>
        <p:nvSpPr>
          <p:cNvPr id="19" name="Shape 17"/>
          <p:cNvSpPr/>
          <p:nvPr/>
        </p:nvSpPr>
        <p:spPr>
          <a:xfrm>
            <a:off x="5212080" y="1051560"/>
            <a:ext cx="3566160" cy="3017520"/>
          </a:xfrm>
          <a:prstGeom prst="rect">
            <a:avLst/>
          </a:prstGeom>
          <a:solidFill>
            <a:srgbClr val="1E1E1E"/>
          </a:solidFill>
          <a:ln/>
        </p:spPr>
      </p:sp>
      <p:sp>
        <p:nvSpPr>
          <p:cNvPr id="20" name="Text 18"/>
          <p:cNvSpPr/>
          <p:nvPr/>
        </p:nvSpPr>
        <p:spPr>
          <a:xfrm>
            <a:off x="5394960" y="1097280"/>
            <a:ext cx="3200400" cy="182880"/>
          </a:xfrm>
          <a:prstGeom prst="rect">
            <a:avLst/>
          </a:prstGeom>
          <a:noFill/>
          <a:ln/>
        </p:spPr>
        <p:txBody>
          <a:bodyPr wrap="square" lIns="0" tIns="0" rIns="0" bIns="0" rtlCol="0" anchor="ctr"/>
          <a:lstStyle/>
          <a:p>
            <a:pPr indent="0" marL="0">
              <a:buNone/>
            </a:pPr>
            <a:r>
              <a:rPr lang="en-US" sz="900" b="1" dirty="0">
                <a:solidFill>
                  <a:srgbClr val="00857C"/>
                </a:solidFill>
                <a:latin typeface="Consolas" pitchFamily="34" charset="0"/>
                <a:ea typeface="Consolas" pitchFamily="34" charset="-122"/>
                <a:cs typeface="Consolas" pitchFamily="34" charset="-120"/>
              </a:rPr>
              <a:t>Python / PySAL</a:t>
            </a:r>
            <a:endParaRPr lang="en-US" sz="900" dirty="0"/>
          </a:p>
        </p:txBody>
      </p:sp>
      <p:sp>
        <p:nvSpPr>
          <p:cNvPr id="21" name="Text 19"/>
          <p:cNvSpPr/>
          <p:nvPr/>
        </p:nvSpPr>
        <p:spPr>
          <a:xfrm>
            <a:off x="5394960" y="1325880"/>
            <a:ext cx="3200400" cy="2743200"/>
          </a:xfrm>
          <a:prstGeom prst="rect">
            <a:avLst/>
          </a:prstGeom>
          <a:noFill/>
          <a:ln/>
        </p:spPr>
        <p:txBody>
          <a:bodyPr wrap="square" lIns="0" tIns="0" rIns="0" bIns="0" rtlCol="0" anchor="t"/>
          <a:lstStyle/>
          <a:p>
            <a:pPr indent="0" marL="0">
              <a:buNone/>
            </a:pPr>
            <a:r>
              <a:rPr lang="en-US" sz="750" dirty="0">
                <a:solidFill>
                  <a:srgbClr val="D4D4D4"/>
                </a:solidFill>
                <a:latin typeface="Consolas" pitchFamily="34" charset="0"/>
                <a:ea typeface="Consolas" pitchFamily="34" charset="-122"/>
                <a:cs typeface="Consolas" pitchFamily="34" charset="-120"/>
              </a:rPr>
              <a:t>from libpysal.weights import KNN</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from esda.moran import Moran, Moran_Local</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import geopandas as gpd</a:t>
            </a:r>
            <a:endParaRPr lang="en-US" sz="750" dirty="0"/>
          </a:p>
          <a:p>
            <a:pPr indent="0" marL="0">
              <a:buNone/>
            </a:pP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 Works on ANY geographic dataset</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gdf = gpd.read_file('units.geojson')</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gdf = gdf.merge(data_df, on='UNIT_ID')</a:t>
            </a:r>
            <a:endParaRPr lang="en-US" sz="750" dirty="0"/>
          </a:p>
          <a:p>
            <a:pPr indent="0" marL="0">
              <a:buNone/>
            </a:pP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w = KNN.from_dataframe(gdf, k=8)</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w.transform = 'r'</a:t>
            </a:r>
            <a:endParaRPr lang="en-US" sz="750" dirty="0"/>
          </a:p>
          <a:p>
            <a:pPr indent="0" marL="0">
              <a:buNone/>
            </a:pP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 Query 1: Cluster Detection</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mi = Moran(gdf['variable_X'], w,</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           permutations=999)</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 Returns: I, p_sim, z_sim</a:t>
            </a:r>
            <a:endParaRPr lang="en-US" sz="750" dirty="0"/>
          </a:p>
          <a:p>
            <a:pPr indent="0" marL="0">
              <a:buNone/>
            </a:pP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 Query 2: Spatial Outlier</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lisa = Moran_Local(gdf['variable_X'], w)</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 Returns: q (quadrant), p_sim per unit</a:t>
            </a:r>
            <a:endParaRPr lang="en-US" sz="750" dirty="0"/>
          </a:p>
          <a:p>
            <a:pPr indent="0" marL="0">
              <a:buNone/>
            </a:pP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 Query 3: Absence as Evidence</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 If I ~ 0 and p &gt; 0.05: random.</a:t>
            </a:r>
            <a:endParaRPr lang="en-US" sz="750" dirty="0"/>
          </a:p>
          <a:p>
            <a:pPr indent="0" marL="0">
              <a:buNone/>
            </a:pPr>
            <a:r>
              <a:rPr lang="en-US" sz="750" dirty="0">
                <a:solidFill>
                  <a:srgbClr val="D4D4D4"/>
                </a:solidFill>
                <a:latin typeface="Consolas" pitchFamily="34" charset="0"/>
                <a:ea typeface="Consolas" pitchFamily="34" charset="-122"/>
                <a:cs typeface="Consolas" pitchFamily="34" charset="-120"/>
              </a:rPr>
              <a:t># Non-geographic cause confirmed.</a:t>
            </a:r>
            <a:endParaRPr lang="en-US" sz="750" dirty="0"/>
          </a:p>
        </p:txBody>
      </p:sp>
      <p:sp>
        <p:nvSpPr>
          <p:cNvPr id="22" name="Text 20"/>
          <p:cNvSpPr/>
          <p:nvPr/>
        </p:nvSpPr>
        <p:spPr>
          <a:xfrm>
            <a:off x="457200" y="4297680"/>
            <a:ext cx="8229600" cy="457200"/>
          </a:xfrm>
          <a:prstGeom prst="rect">
            <a:avLst/>
          </a:prstGeom>
          <a:noFill/>
          <a:ln/>
        </p:spPr>
        <p:txBody>
          <a:bodyPr wrap="square" lIns="0" tIns="0" rIns="0" bIns="0"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Use case inputs (provided by advisor): ECI 2024 base datasets, 15th Finance Commission fiscal maps, reservation % simulation code, constituency count simulation code.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lIns="0" tIns="0" rIns="0" bIns="0" rtlCol="0" anchor="ctr"/>
          <a:lstStyle/>
          <a:p>
            <a:pPr indent="0" marL="0">
              <a:buNone/>
            </a:pPr>
            <a:r>
              <a:rPr lang="en-US" sz="2800" b="1" dirty="0">
                <a:solidFill>
                  <a:srgbClr val="0D2B5C"/>
                </a:solidFill>
                <a:latin typeface="Georgia" pitchFamily="34" charset="0"/>
                <a:ea typeface="Georgia" pitchFamily="34" charset="-122"/>
                <a:cs typeface="Georgia" pitchFamily="34" charset="-120"/>
              </a:rPr>
              <a:t>Why This Use Case, Why Now</a:t>
            </a:r>
            <a:endParaRPr lang="en-US" sz="2800" dirty="0"/>
          </a:p>
        </p:txBody>
      </p:sp>
      <p:sp>
        <p:nvSpPr>
          <p:cNvPr id="3" name="Shape 1"/>
          <p:cNvSpPr/>
          <p:nvPr/>
        </p:nvSpPr>
        <p:spPr>
          <a:xfrm>
            <a:off x="731520" y="868680"/>
            <a:ext cx="7680960" cy="1097280"/>
          </a:xfrm>
          <a:prstGeom prst="rect">
            <a:avLst/>
          </a:prstGeom>
          <a:solidFill>
            <a:srgbClr val="F0F0F0"/>
          </a:solidFill>
          <a:ln/>
        </p:spPr>
      </p:sp>
      <p:sp>
        <p:nvSpPr>
          <p:cNvPr id="4" name="Text 2"/>
          <p:cNvSpPr/>
          <p:nvPr/>
        </p:nvSpPr>
        <p:spPr>
          <a:xfrm>
            <a:off x="914400" y="914400"/>
            <a:ext cx="1828800" cy="228600"/>
          </a:xfrm>
          <a:prstGeom prst="rect">
            <a:avLst/>
          </a:prstGeom>
          <a:noFill/>
          <a:ln/>
        </p:spPr>
        <p:txBody>
          <a:bodyPr wrap="square" lIns="0" tIns="0" rIns="0" bIns="0" rtlCol="0" anchor="ctr"/>
          <a:lstStyle/>
          <a:p>
            <a:pPr indent="0" marL="0">
              <a:buNone/>
            </a:pPr>
            <a:r>
              <a:rPr lang="en-US" sz="1300" b="1" dirty="0">
                <a:solidFill>
                  <a:srgbClr val="0D2B5C"/>
                </a:solidFill>
                <a:latin typeface="Georgia" pitchFamily="34" charset="0"/>
                <a:ea typeface="Georgia" pitchFamily="34" charset="-122"/>
                <a:cs typeface="Georgia" pitchFamily="34" charset="-120"/>
              </a:rPr>
              <a:t>April 16, 2026</a:t>
            </a:r>
            <a:endParaRPr lang="en-US" sz="1300" dirty="0"/>
          </a:p>
        </p:txBody>
      </p:sp>
      <p:sp>
        <p:nvSpPr>
          <p:cNvPr id="5" name="Text 3"/>
          <p:cNvSpPr/>
          <p:nvPr/>
        </p:nvSpPr>
        <p:spPr>
          <a:xfrm>
            <a:off x="914400" y="1188720"/>
            <a:ext cx="7315200" cy="411480"/>
          </a:xfrm>
          <a:prstGeom prst="rect">
            <a:avLst/>
          </a:prstGeom>
          <a:noFill/>
          <a:ln/>
        </p:spPr>
        <p:txBody>
          <a:bodyPr wrap="square" lIns="0" tIns="0" rIns="0" bIns="0" rtlCol="0" anchor="ctr"/>
          <a:lstStyle/>
          <a:p>
            <a:pPr indent="0" marL="0">
              <a:buNone/>
            </a:pPr>
            <a:r>
              <a:rPr lang="en-US" sz="1050" dirty="0">
                <a:solidFill>
                  <a:srgbClr val="333333"/>
                </a:solidFill>
                <a:latin typeface="Calibri" pitchFamily="34" charset="0"/>
                <a:ea typeface="Calibri" pitchFamily="34" charset="-122"/>
                <a:cs typeface="Calibri" pitchFamily="34" charset="-120"/>
              </a:rPr>
              <a:t>Three bills introduced: Constitution (131st Amendment), Delimitation Bill, UT Laws Amendment. Proposed expanding 543 to 850 seats AND activating 33% women's reservation (Nari Shakti Vandan Adhiniyam, passed 2023 but tied to delimitation).</a:t>
            </a:r>
            <a:endParaRPr lang="en-US" sz="1050" dirty="0"/>
          </a:p>
        </p:txBody>
      </p:sp>
      <p:sp>
        <p:nvSpPr>
          <p:cNvPr id="6" name="Shape 4"/>
          <p:cNvSpPr/>
          <p:nvPr/>
        </p:nvSpPr>
        <p:spPr>
          <a:xfrm>
            <a:off x="731520" y="2103120"/>
            <a:ext cx="7680960" cy="640080"/>
          </a:xfrm>
          <a:prstGeom prst="rect">
            <a:avLst/>
          </a:prstGeom>
          <a:solidFill>
            <a:srgbClr val="FFF5F5"/>
          </a:solidFill>
          <a:ln/>
        </p:spPr>
      </p:sp>
      <p:sp>
        <p:nvSpPr>
          <p:cNvPr id="7" name="Text 5"/>
          <p:cNvSpPr/>
          <p:nvPr/>
        </p:nvSpPr>
        <p:spPr>
          <a:xfrm>
            <a:off x="914400" y="2194560"/>
            <a:ext cx="7315200" cy="365760"/>
          </a:xfrm>
          <a:prstGeom prst="rect">
            <a:avLst/>
          </a:prstGeom>
          <a:noFill/>
          <a:ln/>
        </p:spPr>
        <p:txBody>
          <a:bodyPr wrap="square" lIns="0" tIns="0" rIns="0" bIns="0" rtlCol="0" anchor="ctr"/>
          <a:lstStyle/>
          <a:p>
            <a:pPr indent="0" marL="0">
              <a:buNone/>
            </a:pPr>
            <a:r>
              <a:rPr lang="en-US" sz="1100" b="1" dirty="0">
                <a:solidFill>
                  <a:srgbClr val="D7191C"/>
                </a:solidFill>
                <a:latin typeface="Calibri" pitchFamily="34" charset="0"/>
                <a:ea typeface="Calibri" pitchFamily="34" charset="-122"/>
                <a:cs typeface="Calibri" pitchFamily="34" charset="-120"/>
              </a:rPr>
              <a:t>April 17, 2026: Amendment voted down. 298 for, 230 against (needed 352). First Modi govt amendment failure.</a:t>
            </a:r>
            <a:endParaRPr lang="en-US" sz="1100" dirty="0"/>
          </a:p>
        </p:txBody>
      </p:sp>
      <p:sp>
        <p:nvSpPr>
          <p:cNvPr id="8" name="Text 6"/>
          <p:cNvSpPr/>
          <p:nvPr/>
        </p:nvSpPr>
        <p:spPr>
          <a:xfrm>
            <a:off x="731520" y="2926080"/>
            <a:ext cx="7680960" cy="274320"/>
          </a:xfrm>
          <a:prstGeom prst="rect">
            <a:avLst/>
          </a:prstGeom>
          <a:noFill/>
          <a:ln/>
        </p:spPr>
        <p:txBody>
          <a:bodyPr wrap="square" lIns="0" tIns="0" rIns="0" bIns="0" rtlCol="0" anchor="ctr"/>
          <a:lstStyle/>
          <a:p>
            <a:pPr indent="0" marL="0">
              <a:buNone/>
            </a:pPr>
            <a:r>
              <a:rPr lang="en-US" sz="1200" i="1" dirty="0">
                <a:solidFill>
                  <a:srgbClr val="00857C"/>
                </a:solidFill>
                <a:latin typeface="Georgia" pitchFamily="34" charset="0"/>
                <a:ea typeface="Georgia" pitchFamily="34" charset="-122"/>
                <a:cs typeface="Georgia" pitchFamily="34" charset="-120"/>
              </a:rPr>
              <a:t>The Lok Sabha dataset is not an arbitrary choice. The five query classes address the exact questions that were debated:</a:t>
            </a:r>
            <a:endParaRPr lang="en-US" sz="1200" dirty="0"/>
          </a:p>
        </p:txBody>
      </p:sp>
      <p:sp>
        <p:nvSpPr>
          <p:cNvPr id="9" name="Shape 7"/>
          <p:cNvSpPr/>
          <p:nvPr/>
        </p:nvSpPr>
        <p:spPr>
          <a:xfrm>
            <a:off x="731520" y="3337560"/>
            <a:ext cx="36576" cy="274320"/>
          </a:xfrm>
          <a:prstGeom prst="rect">
            <a:avLst/>
          </a:prstGeom>
          <a:solidFill>
            <a:srgbClr val="D7191C"/>
          </a:solidFill>
          <a:ln/>
        </p:spPr>
      </p:sp>
      <p:sp>
        <p:nvSpPr>
          <p:cNvPr id="10" name="Text 8"/>
          <p:cNvSpPr/>
          <p:nvPr/>
        </p:nvSpPr>
        <p:spPr>
          <a:xfrm>
            <a:off x="868680" y="3337560"/>
            <a:ext cx="2011680" cy="274320"/>
          </a:xfrm>
          <a:prstGeom prst="rect">
            <a:avLst/>
          </a:prstGeom>
          <a:noFill/>
          <a:ln/>
        </p:spPr>
        <p:txBody>
          <a:bodyPr wrap="square" lIns="0" tIns="0" rIns="0" bIns="0" rtlCol="0" anchor="ctr"/>
          <a:lstStyle/>
          <a:p>
            <a:pPr indent="0" marL="0">
              <a:buNone/>
            </a:pPr>
            <a:r>
              <a:rPr lang="en-US" sz="1000" b="1" dirty="0">
                <a:solidFill>
                  <a:srgbClr val="D7191C"/>
                </a:solidFill>
                <a:latin typeface="Calibri" pitchFamily="34" charset="0"/>
                <a:ea typeface="Calibri" pitchFamily="34" charset="-122"/>
                <a:cs typeface="Calibri" pitchFamily="34" charset="-120"/>
              </a:rPr>
              <a:t>Cluster Detection</a:t>
            </a:r>
            <a:endParaRPr lang="en-US" sz="1000" dirty="0"/>
          </a:p>
        </p:txBody>
      </p:sp>
      <p:sp>
        <p:nvSpPr>
          <p:cNvPr id="11" name="Text 9"/>
          <p:cNvSpPr/>
          <p:nvPr/>
        </p:nvSpPr>
        <p:spPr>
          <a:xfrm>
            <a:off x="2926080" y="3337560"/>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Does the low-turnout belt co-locate with the underrepresented states?</a:t>
            </a:r>
            <a:endParaRPr lang="en-US" sz="1000" dirty="0"/>
          </a:p>
        </p:txBody>
      </p:sp>
      <p:sp>
        <p:nvSpPr>
          <p:cNvPr id="12" name="Shape 10"/>
          <p:cNvSpPr/>
          <p:nvPr/>
        </p:nvSpPr>
        <p:spPr>
          <a:xfrm>
            <a:off x="731520" y="3685032"/>
            <a:ext cx="36576" cy="274320"/>
          </a:xfrm>
          <a:prstGeom prst="rect">
            <a:avLst/>
          </a:prstGeom>
          <a:solidFill>
            <a:srgbClr val="C8960C"/>
          </a:solidFill>
          <a:ln/>
        </p:spPr>
      </p:sp>
      <p:sp>
        <p:nvSpPr>
          <p:cNvPr id="13" name="Text 11"/>
          <p:cNvSpPr/>
          <p:nvPr/>
        </p:nvSpPr>
        <p:spPr>
          <a:xfrm>
            <a:off x="868680" y="3685032"/>
            <a:ext cx="2011680" cy="274320"/>
          </a:xfrm>
          <a:prstGeom prst="rect">
            <a:avLst/>
          </a:prstGeom>
          <a:noFill/>
          <a:ln/>
        </p:spPr>
        <p:txBody>
          <a:bodyPr wrap="square" lIns="0" tIns="0" rIns="0" bIns="0" rtlCol="0" anchor="ctr"/>
          <a:lstStyle/>
          <a:p>
            <a:pPr indent="0" marL="0">
              <a:buNone/>
            </a:pPr>
            <a:r>
              <a:rPr lang="en-US" sz="1000" b="1" dirty="0">
                <a:solidFill>
                  <a:srgbClr val="C8960C"/>
                </a:solidFill>
                <a:latin typeface="Calibri" pitchFamily="34" charset="0"/>
                <a:ea typeface="Calibri" pitchFamily="34" charset="-122"/>
                <a:cs typeface="Calibri" pitchFamily="34" charset="-120"/>
              </a:rPr>
              <a:t>Spatial Outlier</a:t>
            </a:r>
            <a:endParaRPr lang="en-US" sz="1000" dirty="0"/>
          </a:p>
        </p:txBody>
      </p:sp>
      <p:sp>
        <p:nvSpPr>
          <p:cNvPr id="14" name="Text 12"/>
          <p:cNvSpPr/>
          <p:nvPr/>
        </p:nvSpPr>
        <p:spPr>
          <a:xfrm>
            <a:off x="2926080" y="3685032"/>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Is Bangalore's low turnout a national phenomenon or a Karnataka anomaly?</a:t>
            </a:r>
            <a:endParaRPr lang="en-US" sz="1000" dirty="0"/>
          </a:p>
        </p:txBody>
      </p:sp>
      <p:sp>
        <p:nvSpPr>
          <p:cNvPr id="15" name="Shape 13"/>
          <p:cNvSpPr/>
          <p:nvPr/>
        </p:nvSpPr>
        <p:spPr>
          <a:xfrm>
            <a:off x="731520" y="4032504"/>
            <a:ext cx="36576" cy="274320"/>
          </a:xfrm>
          <a:prstGeom prst="rect">
            <a:avLst/>
          </a:prstGeom>
          <a:solidFill>
            <a:srgbClr val="B7234C"/>
          </a:solidFill>
          <a:ln/>
        </p:spPr>
      </p:sp>
      <p:sp>
        <p:nvSpPr>
          <p:cNvPr id="16" name="Text 14"/>
          <p:cNvSpPr/>
          <p:nvPr/>
        </p:nvSpPr>
        <p:spPr>
          <a:xfrm>
            <a:off x="868680" y="4032504"/>
            <a:ext cx="2011680" cy="274320"/>
          </a:xfrm>
          <a:prstGeom prst="rect">
            <a:avLst/>
          </a:prstGeom>
          <a:noFill/>
          <a:ln/>
        </p:spPr>
        <p:txBody>
          <a:bodyPr wrap="square" lIns="0" tIns="0" rIns="0" bIns="0" rtlCol="0" anchor="ctr"/>
          <a:lstStyle/>
          <a:p>
            <a:pPr indent="0" marL="0">
              <a:buNone/>
            </a:pPr>
            <a:r>
              <a:rPr lang="en-US" sz="1000" b="1" dirty="0">
                <a:solidFill>
                  <a:srgbClr val="B7234C"/>
                </a:solidFill>
                <a:latin typeface="Calibri" pitchFamily="34" charset="0"/>
                <a:ea typeface="Calibri" pitchFamily="34" charset="-122"/>
                <a:cs typeface="Calibri" pitchFamily="34" charset="-120"/>
              </a:rPr>
              <a:t>Absence as Evidence</a:t>
            </a:r>
            <a:endParaRPr lang="en-US" sz="1000" dirty="0"/>
          </a:p>
        </p:txBody>
      </p:sp>
      <p:sp>
        <p:nvSpPr>
          <p:cNvPr id="17" name="Text 15"/>
          <p:cNvSpPr/>
          <p:nvPr/>
        </p:nvSpPr>
        <p:spPr>
          <a:xfrm>
            <a:off x="2926080" y="4032504"/>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Is women's exclusion concentrated in specific states, or everywhere equally?</a:t>
            </a:r>
            <a:endParaRPr lang="en-US" sz="1000" dirty="0"/>
          </a:p>
        </p:txBody>
      </p:sp>
      <p:sp>
        <p:nvSpPr>
          <p:cNvPr id="18" name="Shape 16"/>
          <p:cNvSpPr/>
          <p:nvPr/>
        </p:nvSpPr>
        <p:spPr>
          <a:xfrm>
            <a:off x="731520" y="4379976"/>
            <a:ext cx="36576" cy="274320"/>
          </a:xfrm>
          <a:prstGeom prst="rect">
            <a:avLst/>
          </a:prstGeom>
          <a:solidFill>
            <a:srgbClr val="FF9933"/>
          </a:solidFill>
          <a:ln/>
        </p:spPr>
      </p:sp>
      <p:sp>
        <p:nvSpPr>
          <p:cNvPr id="19" name="Text 17"/>
          <p:cNvSpPr/>
          <p:nvPr/>
        </p:nvSpPr>
        <p:spPr>
          <a:xfrm>
            <a:off x="868680" y="4379976"/>
            <a:ext cx="2011680" cy="274320"/>
          </a:xfrm>
          <a:prstGeom prst="rect">
            <a:avLst/>
          </a:prstGeom>
          <a:noFill/>
          <a:ln/>
        </p:spPr>
        <p:txBody>
          <a:bodyPr wrap="square" lIns="0" tIns="0" rIns="0" bIns="0" rtlCol="0" anchor="ctr"/>
          <a:lstStyle/>
          <a:p>
            <a:pPr indent="0" marL="0">
              <a:buNone/>
            </a:pPr>
            <a:r>
              <a:rPr lang="en-US" sz="1000" b="1" dirty="0">
                <a:solidFill>
                  <a:srgbClr val="FF9933"/>
                </a:solidFill>
                <a:latin typeface="Calibri" pitchFamily="34" charset="0"/>
                <a:ea typeface="Calibri" pitchFamily="34" charset="-122"/>
                <a:cs typeface="Calibri" pitchFamily="34" charset="-120"/>
              </a:rPr>
              <a:t>Co-location</a:t>
            </a:r>
            <a:endParaRPr lang="en-US" sz="1000" dirty="0"/>
          </a:p>
        </p:txBody>
      </p:sp>
      <p:sp>
        <p:nvSpPr>
          <p:cNvPr id="20" name="Text 18"/>
          <p:cNvSpPr/>
          <p:nvPr/>
        </p:nvSpPr>
        <p:spPr>
          <a:xfrm>
            <a:off x="2926080" y="4379976"/>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Do three crises (turnout, seats, fiscal) share the same north-south axis?</a:t>
            </a:r>
            <a:endParaRPr lang="en-US" sz="1000" dirty="0"/>
          </a:p>
        </p:txBody>
      </p:sp>
      <p:sp>
        <p:nvSpPr>
          <p:cNvPr id="21" name="Shape 19"/>
          <p:cNvSpPr/>
          <p:nvPr/>
        </p:nvSpPr>
        <p:spPr>
          <a:xfrm>
            <a:off x="731520" y="4727448"/>
            <a:ext cx="36576" cy="274320"/>
          </a:xfrm>
          <a:prstGeom prst="rect">
            <a:avLst/>
          </a:prstGeom>
          <a:solidFill>
            <a:srgbClr val="00857C"/>
          </a:solidFill>
          <a:ln/>
        </p:spPr>
      </p:sp>
      <p:sp>
        <p:nvSpPr>
          <p:cNvPr id="22" name="Text 20"/>
          <p:cNvSpPr/>
          <p:nvPr/>
        </p:nvSpPr>
        <p:spPr>
          <a:xfrm>
            <a:off x="868680" y="4727448"/>
            <a:ext cx="2011680" cy="274320"/>
          </a:xfrm>
          <a:prstGeom prst="rect">
            <a:avLst/>
          </a:prstGeom>
          <a:noFill/>
          <a:ln/>
        </p:spPr>
        <p:txBody>
          <a:bodyPr wrap="square" lIns="0" tIns="0" rIns="0" bIns="0" rtlCol="0" anchor="ctr"/>
          <a:lstStyle/>
          <a:p>
            <a:pPr indent="0" marL="0">
              <a:buNone/>
            </a:pPr>
            <a:r>
              <a:rPr lang="en-US" sz="1000" b="1" dirty="0">
                <a:solidFill>
                  <a:srgbClr val="00857C"/>
                </a:solidFill>
                <a:latin typeface="Calibri" pitchFamily="34" charset="0"/>
                <a:ea typeface="Calibri" pitchFamily="34" charset="-122"/>
                <a:cs typeface="Calibri" pitchFamily="34" charset="-120"/>
              </a:rPr>
              <a:t>Policy Simulation</a:t>
            </a:r>
            <a:endParaRPr lang="en-US" sz="1000" dirty="0"/>
          </a:p>
        </p:txBody>
      </p:sp>
      <p:sp>
        <p:nvSpPr>
          <p:cNvPr id="23" name="Text 21"/>
          <p:cNvSpPr/>
          <p:nvPr/>
        </p:nvSpPr>
        <p:spPr>
          <a:xfrm>
            <a:off x="2926080" y="4727448"/>
            <a:ext cx="5486400" cy="2743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Which delimitation formula reduces geographic clustering of disadvantage?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7191C"/>
        </a:solidFill>
      </p:bgPr>
    </p:bg>
    <p:spTree>
      <p:nvGrpSpPr>
        <p:cNvPr id="1" name=""/>
        <p:cNvGrpSpPr/>
        <p:nvPr/>
      </p:nvGrpSpPr>
      <p:grpSpPr>
        <a:xfrm>
          <a:off x="0" y="0"/>
          <a:ext cx="0" cy="0"/>
          <a:chOff x="0" y="0"/>
          <a:chExt cx="0" cy="0"/>
        </a:xfrm>
      </p:grpSpPr>
      <p:sp>
        <p:nvSpPr>
          <p:cNvPr id="2" name="Text 0"/>
          <p:cNvSpPr/>
          <p:nvPr/>
        </p:nvSpPr>
        <p:spPr>
          <a:xfrm>
            <a:off x="731520" y="914400"/>
            <a:ext cx="7680960" cy="4572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Query Class 1</a:t>
            </a:r>
            <a:endParaRPr lang="en-US" sz="1800" dirty="0"/>
          </a:p>
        </p:txBody>
      </p:sp>
      <p:sp>
        <p:nvSpPr>
          <p:cNvPr id="3" name="Text 1"/>
          <p:cNvSpPr/>
          <p:nvPr/>
        </p:nvSpPr>
        <p:spPr>
          <a:xfrm>
            <a:off x="731520" y="1463040"/>
            <a:ext cx="768096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Cluster Detection</a:t>
            </a:r>
            <a:endParaRPr lang="en-US" sz="4000" dirty="0"/>
          </a:p>
        </p:txBody>
      </p:sp>
      <p:sp>
        <p:nvSpPr>
          <p:cNvPr id="4" name="Text 2"/>
          <p:cNvSpPr/>
          <p:nvPr/>
        </p:nvSpPr>
        <p:spPr>
          <a:xfrm>
            <a:off x="731520" y="2560320"/>
            <a:ext cx="768096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"Does variable X exhibit statistically significant spatial</a:t>
            </a:r>
            <a:endParaRPr lang="en-US" sz="1600" dirty="0"/>
          </a:p>
          <a:p>
            <a:pPr indent="0" marL="0">
              <a:buNone/>
            </a:pPr>
            <a:r>
              <a:rPr lang="en-US" sz="1600" i="1" dirty="0">
                <a:solidFill>
                  <a:srgbClr val="FFFFFF"/>
                </a:solidFill>
                <a:latin typeface="Calibri" pitchFamily="34" charset="0"/>
                <a:ea typeface="Calibri" pitchFamily="34" charset="-122"/>
                <a:cs typeface="Calibri" pitchFamily="34" charset="-120"/>
              </a:rPr>
              <a:t>autocorrelation, and if so, where are the clusters?"</a:t>
            </a:r>
            <a:endParaRPr lang="en-US" sz="1600" dirty="0"/>
          </a:p>
        </p:txBody>
      </p:sp>
      <p:sp>
        <p:nvSpPr>
          <p:cNvPr id="5" name="Text 3"/>
          <p:cNvSpPr/>
          <p:nvPr/>
        </p:nvSpPr>
        <p:spPr>
          <a:xfrm>
            <a:off x="731520" y="3474720"/>
            <a:ext cx="7680960" cy="457200"/>
          </a:xfrm>
          <a:prstGeom prst="rect">
            <a:avLst/>
          </a:prstGeom>
          <a:noFill/>
          <a:ln/>
        </p:spPr>
        <p:txBody>
          <a:bodyPr wrap="square" lIns="0" tIns="0" rIns="0" bIns="0" rtlCol="0" anchor="ctr"/>
          <a:lstStyle/>
          <a:p>
            <a:pPr indent="0" marL="0">
              <a:buNone/>
            </a:pPr>
            <a:r>
              <a:rPr lang="en-US" sz="1200" dirty="0">
                <a:solidFill>
                  <a:srgbClr val="FFB0B0"/>
                </a:solidFill>
                <a:latin typeface="Calibri" pitchFamily="34" charset="0"/>
                <a:ea typeface="Calibri" pitchFamily="34" charset="-122"/>
                <a:cs typeface="Calibri" pitchFamily="34" charset="-120"/>
              </a:rPr>
              <a:t>Aspatial charts cannot answer this. A histogram shows shape. A bar chart shows rank.</a:t>
            </a:r>
            <a:endParaRPr lang="en-US" sz="1200" dirty="0"/>
          </a:p>
          <a:p>
            <a:pPr indent="0" marL="0">
              <a:buNone/>
            </a:pPr>
            <a:r>
              <a:rPr lang="en-US" sz="1200" dirty="0">
                <a:solidFill>
                  <a:srgbClr val="FFB0B0"/>
                </a:solidFill>
                <a:latin typeface="Calibri" pitchFamily="34" charset="0"/>
                <a:ea typeface="Calibri" pitchFamily="34" charset="-122"/>
                <a:cs typeface="Calibri" pitchFamily="34" charset="-120"/>
              </a:rPr>
              <a:t>Neither shows geographic contiguity, cluster boundaries, or spillover potential.</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365760"/>
          </a:xfrm>
          <a:prstGeom prst="rect">
            <a:avLst/>
          </a:prstGeom>
          <a:noFill/>
          <a:ln/>
        </p:spPr>
        <p:txBody>
          <a:bodyPr wrap="square" lIns="0" tIns="0" rIns="0" bIns="0" rtlCol="0" anchor="ctr"/>
          <a:lstStyle/>
          <a:p>
            <a:pPr indent="0" marL="0">
              <a:buNone/>
            </a:pPr>
            <a:r>
              <a:rPr lang="en-US" sz="2000" b="1" dirty="0">
                <a:solidFill>
                  <a:srgbClr val="0D2B5C"/>
                </a:solidFill>
                <a:latin typeface="Georgia" pitchFamily="34" charset="0"/>
                <a:ea typeface="Georgia" pitchFamily="34" charset="-122"/>
                <a:cs typeface="Georgia" pitchFamily="34" charset="-120"/>
              </a:rPr>
              <a:t>Use Case: Voter Turnout in 548 Constituencies</a:t>
            </a:r>
            <a:endParaRPr lang="en-US" sz="2000" dirty="0"/>
          </a:p>
        </p:txBody>
      </p:sp>
      <p:pic>
        <p:nvPicPr>
          <p:cNvPr id="3" name="Image 0" descr="/home/claude/chart_images/01_turnout_histogram.png">    </p:cNvPr>
          <p:cNvPicPr>
            <a:picLocks noChangeAspect="1"/>
          </p:cNvPicPr>
          <p:nvPr/>
        </p:nvPicPr>
        <p:blipFill>
          <a:blip r:embed="rId1"/>
          <a:srcRect l="0" r="0" t="0" b="0"/>
          <a:stretch/>
        </p:blipFill>
        <p:spPr>
          <a:xfrm>
            <a:off x="274320" y="502920"/>
            <a:ext cx="4114800" cy="2651760"/>
          </a:xfrm>
          <a:prstGeom prst="rect">
            <a:avLst/>
          </a:prstGeom>
        </p:spPr>
      </p:pic>
      <p:pic>
        <p:nvPicPr>
          <p:cNvPr id="4" name="Image 1" descr="/home/claude/screenshots/37.png">    </p:cNvPr>
          <p:cNvPicPr>
            <a:picLocks noChangeAspect="1"/>
          </p:cNvPicPr>
          <p:nvPr/>
        </p:nvPicPr>
        <p:blipFill>
          <a:blip r:embed="rId2"/>
          <a:srcRect l="0" r="0" t="0" b="0"/>
          <a:stretch/>
        </p:blipFill>
        <p:spPr>
          <a:xfrm>
            <a:off x="4480560" y="502920"/>
            <a:ext cx="4389120" cy="2651760"/>
          </a:xfrm>
          <a:prstGeom prst="rect">
            <a:avLst/>
          </a:prstGeom>
        </p:spPr>
      </p:pic>
      <p:sp>
        <p:nvSpPr>
          <p:cNvPr id="5" name="Text 1"/>
          <p:cNvSpPr/>
          <p:nvPr/>
        </p:nvSpPr>
        <p:spPr>
          <a:xfrm>
            <a:off x="274320" y="3200400"/>
            <a:ext cx="4114800" cy="182880"/>
          </a:xfrm>
          <a:prstGeom prst="rect">
            <a:avLst/>
          </a:prstGeom>
          <a:noFill/>
          <a:ln/>
        </p:spPr>
        <p:txBody>
          <a:bodyPr wrap="square" lIns="0" tIns="0" rIns="0" bIns="0" rtlCol="0" anchor="ctr"/>
          <a:lstStyle/>
          <a:p>
            <a:pPr algn="ctr" indent="0" marL="0">
              <a:buNone/>
            </a:pPr>
            <a:r>
              <a:rPr lang="en-US" sz="1000" b="1" dirty="0">
                <a:solidFill>
                  <a:srgbClr val="D7191C"/>
                </a:solidFill>
                <a:latin typeface="Georgia" pitchFamily="34" charset="0"/>
                <a:ea typeface="Georgia" pitchFamily="34" charset="-122"/>
                <a:cs typeface="Georgia" pitchFamily="34" charset="-120"/>
              </a:rPr>
              <a:t>ASPATIAL</a:t>
            </a:r>
            <a:endParaRPr lang="en-US" sz="1000" dirty="0"/>
          </a:p>
        </p:txBody>
      </p:sp>
      <p:sp>
        <p:nvSpPr>
          <p:cNvPr id="6" name="Text 2"/>
          <p:cNvSpPr/>
          <p:nvPr/>
        </p:nvSpPr>
        <p:spPr>
          <a:xfrm>
            <a:off x="4480560" y="3200400"/>
            <a:ext cx="4389120" cy="182880"/>
          </a:xfrm>
          <a:prstGeom prst="rect">
            <a:avLst/>
          </a:prstGeom>
          <a:noFill/>
          <a:ln/>
        </p:spPr>
        <p:txBody>
          <a:bodyPr wrap="square" lIns="0" tIns="0" rIns="0" bIns="0" rtlCol="0" anchor="ctr"/>
          <a:lstStyle/>
          <a:p>
            <a:pPr algn="ctr" indent="0" marL="0">
              <a:buNone/>
            </a:pPr>
            <a:r>
              <a:rPr lang="en-US" sz="1000" b="1" dirty="0">
                <a:solidFill>
                  <a:srgbClr val="00857C"/>
                </a:solidFill>
                <a:latin typeface="Georgia" pitchFamily="34" charset="0"/>
                <a:ea typeface="Georgia" pitchFamily="34" charset="-122"/>
                <a:cs typeface="Georgia" pitchFamily="34" charset="-120"/>
              </a:rPr>
              <a:t>SPATIALIZED (Chart 37)</a:t>
            </a:r>
            <a:endParaRPr lang="en-US" sz="1000" dirty="0"/>
          </a:p>
        </p:txBody>
      </p:sp>
      <p:sp>
        <p:nvSpPr>
          <p:cNvPr id="7" name="Shape 3"/>
          <p:cNvSpPr/>
          <p:nvPr/>
        </p:nvSpPr>
        <p:spPr>
          <a:xfrm>
            <a:off x="274320" y="3474720"/>
            <a:ext cx="8412480" cy="1463040"/>
          </a:xfrm>
          <a:prstGeom prst="rect">
            <a:avLst/>
          </a:prstGeom>
          <a:solidFill>
            <a:srgbClr val="EBF5F4"/>
          </a:solidFill>
          <a:ln/>
        </p:spPr>
      </p:sp>
      <p:sp>
        <p:nvSpPr>
          <p:cNvPr id="8" name="Text 4"/>
          <p:cNvSpPr/>
          <p:nvPr/>
        </p:nvSpPr>
        <p:spPr>
          <a:xfrm>
            <a:off x="457200" y="3520440"/>
            <a:ext cx="8046720" cy="45720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Result: Moran's I = 0.614 (p &lt; 0.001). 57% of PCs in LISA clusters. Two contiguous hot-spot belts (South + NE) separated by a cold-spot belt (Hindi heartland). The histogram says "roughly normal." LISA says "two connected zones."</a:t>
            </a:r>
            <a:endParaRPr lang="en-US" sz="1000" dirty="0"/>
          </a:p>
        </p:txBody>
      </p:sp>
      <p:sp>
        <p:nvSpPr>
          <p:cNvPr id="9" name="Text 5"/>
          <p:cNvSpPr/>
          <p:nvPr/>
        </p:nvSpPr>
        <p:spPr>
          <a:xfrm>
            <a:off x="457200" y="4069080"/>
            <a:ext cx="8046720" cy="365760"/>
          </a:xfrm>
          <a:prstGeom prst="rect">
            <a:avLst/>
          </a:prstGeom>
          <a:noFill/>
          <a:ln/>
        </p:spPr>
        <p:txBody>
          <a:bodyPr wrap="square" lIns="0" tIns="0" rIns="0" bIns="0" rtlCol="0" anchor="ctr"/>
          <a:lstStyle/>
          <a:p>
            <a:pPr indent="0" marL="0">
              <a:buNone/>
            </a:pPr>
            <a:r>
              <a:rPr lang="en-US" sz="1000" i="1" dirty="0">
                <a:solidFill>
                  <a:srgbClr val="00857C"/>
                </a:solidFill>
                <a:latin typeface="Calibri" pitchFamily="34" charset="0"/>
                <a:ea typeface="Calibri" pitchFamily="34" charset="-122"/>
                <a:cs typeface="Calibri" pitchFamily="34" charset="-120"/>
              </a:rPr>
              <a:t>Generalizable: Does crime cluster by district? Where are the COVID hot spots? Do house prices form contiguous high-value belts? Is crop failure concentrated or scattered? Any variable with a lat/lon can be tested.</a:t>
            </a:r>
            <a:endParaRPr lang="en-US" sz="1000" dirty="0"/>
          </a:p>
        </p:txBody>
      </p:sp>
      <p:sp>
        <p:nvSpPr>
          <p:cNvPr id="10" name="Text 6"/>
          <p:cNvSpPr/>
          <p:nvPr/>
        </p:nvSpPr>
        <p:spPr>
          <a:xfrm>
            <a:off x="457200" y="4526280"/>
            <a:ext cx="8046720" cy="274320"/>
          </a:xfrm>
          <a:prstGeom prst="rect">
            <a:avLst/>
          </a:prstGeom>
          <a:noFill/>
          <a:ln/>
        </p:spPr>
        <p:txBody>
          <a:bodyPr wrap="square" lIns="0" tIns="0" rIns="0" bIns="0" rtlCol="0" anchor="ctr"/>
          <a:lstStyle/>
          <a:p>
            <a:pPr indent="0" marL="0">
              <a:buNone/>
            </a:pPr>
            <a:r>
              <a:rPr lang="en-US" sz="1000" b="1" dirty="0">
                <a:solidFill>
                  <a:srgbClr val="0D2B5C"/>
                </a:solidFill>
                <a:latin typeface="Calibri" pitchFamily="34" charset="0"/>
                <a:ea typeface="Calibri" pitchFamily="34" charset="-122"/>
                <a:cs typeface="Calibri" pitchFamily="34" charset="-120"/>
              </a:rPr>
              <a:t>Use case finding: The cold-spot belt (UP, Bihar, Rajasthan) is the SAME geography that reappears in every subsequent query class.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8960C"/>
        </a:solidFill>
      </p:bgPr>
    </p:bg>
    <p:spTree>
      <p:nvGrpSpPr>
        <p:cNvPr id="1" name=""/>
        <p:cNvGrpSpPr/>
        <p:nvPr/>
      </p:nvGrpSpPr>
      <p:grpSpPr>
        <a:xfrm>
          <a:off x="0" y="0"/>
          <a:ext cx="0" cy="0"/>
          <a:chOff x="0" y="0"/>
          <a:chExt cx="0" cy="0"/>
        </a:xfrm>
      </p:grpSpPr>
      <p:sp>
        <p:nvSpPr>
          <p:cNvPr id="2" name="Text 0"/>
          <p:cNvSpPr/>
          <p:nvPr/>
        </p:nvSpPr>
        <p:spPr>
          <a:xfrm>
            <a:off x="731520" y="914400"/>
            <a:ext cx="7680960" cy="4572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Query Class 2</a:t>
            </a:r>
            <a:endParaRPr lang="en-US" sz="1800" dirty="0"/>
          </a:p>
        </p:txBody>
      </p:sp>
      <p:sp>
        <p:nvSpPr>
          <p:cNvPr id="3" name="Text 1"/>
          <p:cNvSpPr/>
          <p:nvPr/>
        </p:nvSpPr>
        <p:spPr>
          <a:xfrm>
            <a:off x="731520" y="1463040"/>
            <a:ext cx="768096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Spatial Outlier</a:t>
            </a:r>
            <a:endParaRPr lang="en-US" sz="4000" dirty="0"/>
          </a:p>
        </p:txBody>
      </p:sp>
      <p:sp>
        <p:nvSpPr>
          <p:cNvPr id="4" name="Text 2"/>
          <p:cNvSpPr/>
          <p:nvPr/>
        </p:nvSpPr>
        <p:spPr>
          <a:xfrm>
            <a:off x="731520" y="2560320"/>
            <a:ext cx="768096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"Is observation X anomalous relative to the global</a:t>
            </a:r>
            <a:endParaRPr lang="en-US" sz="1600" dirty="0"/>
          </a:p>
          <a:p>
            <a:pPr indent="0" marL="0">
              <a:buNone/>
            </a:pPr>
            <a:r>
              <a:rPr lang="en-US" sz="1600" i="1" dirty="0">
                <a:solidFill>
                  <a:srgbClr val="FFFFFF"/>
                </a:solidFill>
                <a:latin typeface="Calibri" pitchFamily="34" charset="0"/>
                <a:ea typeface="Calibri" pitchFamily="34" charset="-122"/>
                <a:cs typeface="Calibri" pitchFamily="34" charset="-120"/>
              </a:rPr>
              <a:t>distribution, or relative to its geographic neighborhood?"</a:t>
            </a:r>
            <a:endParaRPr lang="en-US" sz="1600" dirty="0"/>
          </a:p>
        </p:txBody>
      </p:sp>
      <p:sp>
        <p:nvSpPr>
          <p:cNvPr id="5" name="Text 3"/>
          <p:cNvSpPr/>
          <p:nvPr/>
        </p:nvSpPr>
        <p:spPr>
          <a:xfrm>
            <a:off x="731520" y="3474720"/>
            <a:ext cx="7680960" cy="457200"/>
          </a:xfrm>
          <a:prstGeom prst="rect">
            <a:avLst/>
          </a:prstGeom>
          <a:noFill/>
          <a:ln/>
        </p:spPr>
        <p:txBody>
          <a:bodyPr wrap="square" lIns="0" tIns="0" rIns="0" bIns="0" rtlCol="0" anchor="ctr"/>
          <a:lstStyle/>
          <a:p>
            <a:pPr indent="0" marL="0">
              <a:buNone/>
            </a:pPr>
            <a:r>
              <a:rPr lang="en-US" sz="1200" dirty="0">
                <a:solidFill>
                  <a:srgbClr val="FFF5E0"/>
                </a:solidFill>
                <a:latin typeface="Calibri" pitchFamily="34" charset="0"/>
                <a:ea typeface="Calibri" pitchFamily="34" charset="-122"/>
                <a:cs typeface="Calibri" pitchFamily="34" charset="-120"/>
              </a:rPr>
              <a:t>A distributional outlier deviates from the global mean. A spatial outlier deviates from its</a:t>
            </a:r>
            <a:endParaRPr lang="en-US" sz="1200" dirty="0"/>
          </a:p>
          <a:p>
            <a:pPr indent="0" marL="0">
              <a:buNone/>
            </a:pPr>
            <a:r>
              <a:rPr lang="en-US" sz="1200" dirty="0">
                <a:solidFill>
                  <a:srgbClr val="FFF5E0"/>
                </a:solidFill>
                <a:latin typeface="Calibri" pitchFamily="34" charset="0"/>
                <a:ea typeface="Calibri" pitchFamily="34" charset="-122"/>
                <a:cs typeface="Calibri" pitchFamily="34" charset="-120"/>
              </a:rPr>
              <a:t>neighbors. These are different concepts. The second requires a neighborhood definition.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365760"/>
          </a:xfrm>
          <a:prstGeom prst="rect">
            <a:avLst/>
          </a:prstGeom>
          <a:noFill/>
          <a:ln/>
        </p:spPr>
        <p:txBody>
          <a:bodyPr wrap="square" lIns="0" tIns="0" rIns="0" bIns="0" rtlCol="0" anchor="ctr"/>
          <a:lstStyle/>
          <a:p>
            <a:pPr indent="0" marL="0">
              <a:buNone/>
            </a:pPr>
            <a:r>
              <a:rPr lang="en-US" sz="2000" b="1" dirty="0">
                <a:solidFill>
                  <a:srgbClr val="0D2B5C"/>
                </a:solidFill>
                <a:latin typeface="Georgia" pitchFamily="34" charset="0"/>
                <a:ea typeface="Georgia" pitchFamily="34" charset="-122"/>
                <a:cs typeface="Georgia" pitchFamily="34" charset="-120"/>
              </a:rPr>
              <a:t>Use Case: Bangalore -- Distributional or Spatial Outlier?</a:t>
            </a:r>
            <a:endParaRPr lang="en-US" sz="2000" dirty="0"/>
          </a:p>
        </p:txBody>
      </p:sp>
      <p:pic>
        <p:nvPicPr>
          <p:cNvPr id="3" name="Image 0" descr="/home/claude/chart_images/08_turnout_vs_margin.png">    </p:cNvPr>
          <p:cNvPicPr>
            <a:picLocks noChangeAspect="1"/>
          </p:cNvPicPr>
          <p:nvPr/>
        </p:nvPicPr>
        <p:blipFill>
          <a:blip r:embed="rId1"/>
          <a:srcRect l="0" r="0" t="0" b="0"/>
          <a:stretch/>
        </p:blipFill>
        <p:spPr>
          <a:xfrm>
            <a:off x="274320" y="502920"/>
            <a:ext cx="4114800" cy="2651760"/>
          </a:xfrm>
          <a:prstGeom prst="rect">
            <a:avLst/>
          </a:prstGeom>
        </p:spPr>
      </p:pic>
      <p:pic>
        <p:nvPicPr>
          <p:cNvPr id="4" name="Image 1" descr="/home/claude/screenshots/39.png">    </p:cNvPr>
          <p:cNvPicPr>
            <a:picLocks noChangeAspect="1"/>
          </p:cNvPicPr>
          <p:nvPr/>
        </p:nvPicPr>
        <p:blipFill>
          <a:blip r:embed="rId2"/>
          <a:srcRect l="0" r="0" t="0" b="0"/>
          <a:stretch/>
        </p:blipFill>
        <p:spPr>
          <a:xfrm>
            <a:off x="4480560" y="502920"/>
            <a:ext cx="4389120" cy="2651760"/>
          </a:xfrm>
          <a:prstGeom prst="rect">
            <a:avLst/>
          </a:prstGeom>
        </p:spPr>
      </p:pic>
      <p:sp>
        <p:nvSpPr>
          <p:cNvPr id="5" name="Text 1"/>
          <p:cNvSpPr/>
          <p:nvPr/>
        </p:nvSpPr>
        <p:spPr>
          <a:xfrm>
            <a:off x="274320" y="3200400"/>
            <a:ext cx="4114800" cy="182880"/>
          </a:xfrm>
          <a:prstGeom prst="rect">
            <a:avLst/>
          </a:prstGeom>
          <a:noFill/>
          <a:ln/>
        </p:spPr>
        <p:txBody>
          <a:bodyPr wrap="square" lIns="0" tIns="0" rIns="0" bIns="0" rtlCol="0" anchor="ctr"/>
          <a:lstStyle/>
          <a:p>
            <a:pPr algn="ctr" indent="0" marL="0">
              <a:buNone/>
            </a:pPr>
            <a:r>
              <a:rPr lang="en-US" sz="1000" b="1" dirty="0">
                <a:solidFill>
                  <a:srgbClr val="D7191C"/>
                </a:solidFill>
                <a:latin typeface="Georgia" pitchFamily="34" charset="0"/>
                <a:ea typeface="Georgia" pitchFamily="34" charset="-122"/>
                <a:cs typeface="Georgia" pitchFamily="34" charset="-120"/>
              </a:rPr>
              <a:t>ASPATIAL</a:t>
            </a:r>
            <a:endParaRPr lang="en-US" sz="1000" dirty="0"/>
          </a:p>
        </p:txBody>
      </p:sp>
      <p:sp>
        <p:nvSpPr>
          <p:cNvPr id="6" name="Text 2"/>
          <p:cNvSpPr/>
          <p:nvPr/>
        </p:nvSpPr>
        <p:spPr>
          <a:xfrm>
            <a:off x="4480560" y="3200400"/>
            <a:ext cx="4389120" cy="182880"/>
          </a:xfrm>
          <a:prstGeom prst="rect">
            <a:avLst/>
          </a:prstGeom>
          <a:noFill/>
          <a:ln/>
        </p:spPr>
        <p:txBody>
          <a:bodyPr wrap="square" lIns="0" tIns="0" rIns="0" bIns="0" rtlCol="0" anchor="ctr"/>
          <a:lstStyle/>
          <a:p>
            <a:pPr algn="ctr" indent="0" marL="0">
              <a:buNone/>
            </a:pPr>
            <a:r>
              <a:rPr lang="en-US" sz="1000" b="1" dirty="0">
                <a:solidFill>
                  <a:srgbClr val="00857C"/>
                </a:solidFill>
                <a:latin typeface="Georgia" pitchFamily="34" charset="0"/>
                <a:ea typeface="Georgia" pitchFamily="34" charset="-122"/>
                <a:cs typeface="Georgia" pitchFamily="34" charset="-120"/>
              </a:rPr>
              <a:t>SPATIALIZED (Chart 39)</a:t>
            </a:r>
            <a:endParaRPr lang="en-US" sz="1000" dirty="0"/>
          </a:p>
        </p:txBody>
      </p:sp>
      <p:sp>
        <p:nvSpPr>
          <p:cNvPr id="7" name="Shape 3"/>
          <p:cNvSpPr/>
          <p:nvPr/>
        </p:nvSpPr>
        <p:spPr>
          <a:xfrm>
            <a:off x="274320" y="3474720"/>
            <a:ext cx="8412480" cy="1463040"/>
          </a:xfrm>
          <a:prstGeom prst="rect">
            <a:avLst/>
          </a:prstGeom>
          <a:solidFill>
            <a:srgbClr val="F0F0F0"/>
          </a:solidFill>
          <a:ln/>
        </p:spPr>
      </p:sp>
      <p:sp>
        <p:nvSpPr>
          <p:cNvPr id="8" name="Text 4"/>
          <p:cNvSpPr/>
          <p:nvPr/>
        </p:nvSpPr>
        <p:spPr>
          <a:xfrm>
            <a:off x="457200" y="3520440"/>
            <a:ext cx="8046720" cy="5029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Result: Scatterplot says "Bangalore is 1.2 std below the mean" (distributional outlier). Moran says "Bangalore is low in a HIGH neighborhood" (LH quadrant, spatial outlier). Different diagnosis, different policy. Turnout I=0.614 vs Margin I=0.277: participation is 2.2x more geographically structured than competition. Invisible in any scatterplot.</a:t>
            </a:r>
            <a:endParaRPr lang="en-US" sz="1000" dirty="0"/>
          </a:p>
        </p:txBody>
      </p:sp>
      <p:sp>
        <p:nvSpPr>
          <p:cNvPr id="9" name="Text 5"/>
          <p:cNvSpPr/>
          <p:nvPr/>
        </p:nvSpPr>
        <p:spPr>
          <a:xfrm>
            <a:off x="457200" y="4069080"/>
            <a:ext cx="8046720" cy="365760"/>
          </a:xfrm>
          <a:prstGeom prst="rect">
            <a:avLst/>
          </a:prstGeom>
          <a:noFill/>
          <a:ln/>
        </p:spPr>
        <p:txBody>
          <a:bodyPr wrap="square" lIns="0" tIns="0" rIns="0" bIns="0" rtlCol="0" anchor="ctr"/>
          <a:lstStyle/>
          <a:p>
            <a:pPr indent="0" marL="0">
              <a:buNone/>
            </a:pPr>
            <a:r>
              <a:rPr lang="en-US" sz="1000" i="1" dirty="0">
                <a:solidFill>
                  <a:srgbClr val="00857C"/>
                </a:solidFill>
                <a:latin typeface="Calibri" pitchFamily="34" charset="0"/>
                <a:ea typeface="Calibri" pitchFamily="34" charset="-122"/>
                <a:cs typeface="Calibri" pitchFamily="34" charset="-120"/>
              </a:rPr>
              <a:t>Generalizable: Is this hospital's wait time a local management failure or a regional pattern? Is this school's low score a staffing issue or a neighborhood effect? Is a pollution sensor reading an event or a malfunction? The Moran scatterplot transforms any X-Y plot into a spatial diagnostic.</a:t>
            </a:r>
            <a:endParaRPr lang="en-US" sz="1000" dirty="0"/>
          </a:p>
        </p:txBody>
      </p:sp>
      <p:sp>
        <p:nvSpPr>
          <p:cNvPr id="10" name="Text 6"/>
          <p:cNvSpPr/>
          <p:nvPr/>
        </p:nvSpPr>
        <p:spPr>
          <a:xfrm>
            <a:off x="457200" y="4526280"/>
            <a:ext cx="8046720" cy="274320"/>
          </a:xfrm>
          <a:prstGeom prst="rect">
            <a:avLst/>
          </a:prstGeom>
          <a:noFill/>
          <a:ln/>
        </p:spPr>
        <p:txBody>
          <a:bodyPr wrap="square" lIns="0" tIns="0" rIns="0" bIns="0" rtlCol="0" anchor="ctr"/>
          <a:lstStyle/>
          <a:p>
            <a:pPr indent="0" marL="0">
              <a:buNone/>
            </a:pPr>
            <a:r>
              <a:rPr lang="en-US" sz="1000" b="1" dirty="0">
                <a:solidFill>
                  <a:srgbClr val="0D2B5C"/>
                </a:solidFill>
                <a:latin typeface="Calibri" pitchFamily="34" charset="0"/>
                <a:ea typeface="Calibri" pitchFamily="34" charset="-122"/>
                <a:cs typeface="Calibri" pitchFamily="34" charset="-120"/>
              </a:rPr>
              <a:t>Use case finding: The 2.2x asymmetry (turnout clusters, competition does not) is the central analytical result.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7234C"/>
        </a:solidFill>
      </p:bgPr>
    </p:bg>
    <p:spTree>
      <p:nvGrpSpPr>
        <p:cNvPr id="1" name=""/>
        <p:cNvGrpSpPr/>
        <p:nvPr/>
      </p:nvGrpSpPr>
      <p:grpSpPr>
        <a:xfrm>
          <a:off x="0" y="0"/>
          <a:ext cx="0" cy="0"/>
          <a:chOff x="0" y="0"/>
          <a:chExt cx="0" cy="0"/>
        </a:xfrm>
      </p:grpSpPr>
      <p:sp>
        <p:nvSpPr>
          <p:cNvPr id="2" name="Text 0"/>
          <p:cNvSpPr/>
          <p:nvPr/>
        </p:nvSpPr>
        <p:spPr>
          <a:xfrm>
            <a:off x="731520" y="914400"/>
            <a:ext cx="7680960" cy="4572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Query Class 3</a:t>
            </a:r>
            <a:endParaRPr lang="en-US" sz="1800" dirty="0"/>
          </a:p>
        </p:txBody>
      </p:sp>
      <p:sp>
        <p:nvSpPr>
          <p:cNvPr id="3" name="Text 1"/>
          <p:cNvSpPr/>
          <p:nvPr/>
        </p:nvSpPr>
        <p:spPr>
          <a:xfrm>
            <a:off x="731520" y="1463040"/>
            <a:ext cx="768096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Absence as Evidence</a:t>
            </a:r>
            <a:endParaRPr lang="en-US" sz="4000" dirty="0"/>
          </a:p>
        </p:txBody>
      </p:sp>
      <p:sp>
        <p:nvSpPr>
          <p:cNvPr id="4" name="Text 2"/>
          <p:cNvSpPr/>
          <p:nvPr/>
        </p:nvSpPr>
        <p:spPr>
          <a:xfrm>
            <a:off x="731520" y="2560320"/>
            <a:ext cx="768096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"Does the LACK of spatial structure in variable X</a:t>
            </a:r>
            <a:endParaRPr lang="en-US" sz="1600" dirty="0"/>
          </a:p>
          <a:p>
            <a:pPr indent="0" marL="0">
              <a:buNone/>
            </a:pPr>
            <a:r>
              <a:rPr lang="en-US" sz="1600" i="1" dirty="0">
                <a:solidFill>
                  <a:srgbClr val="FFFFFF"/>
                </a:solidFill>
                <a:latin typeface="Calibri" pitchFamily="34" charset="0"/>
                <a:ea typeface="Calibri" pitchFamily="34" charset="-122"/>
                <a:cs typeface="Calibri" pitchFamily="34" charset="-120"/>
              </a:rPr>
              <a:t>constitute evidence for a non-geographic cause?"</a:t>
            </a:r>
            <a:endParaRPr lang="en-US" sz="1600" dirty="0"/>
          </a:p>
        </p:txBody>
      </p:sp>
      <p:sp>
        <p:nvSpPr>
          <p:cNvPr id="5" name="Text 3"/>
          <p:cNvSpPr/>
          <p:nvPr/>
        </p:nvSpPr>
        <p:spPr>
          <a:xfrm>
            <a:off x="731520" y="3474720"/>
            <a:ext cx="7680960" cy="457200"/>
          </a:xfrm>
          <a:prstGeom prst="rect">
            <a:avLst/>
          </a:prstGeom>
          <a:noFill/>
          <a:ln/>
        </p:spPr>
        <p:txBody>
          <a:bodyPr wrap="square" lIns="0" tIns="0" rIns="0" bIns="0" rtlCol="0" anchor="ctr"/>
          <a:lstStyle/>
          <a:p>
            <a:pPr indent="0" marL="0">
              <a:buNone/>
            </a:pPr>
            <a:r>
              <a:rPr lang="en-US" sz="1200" dirty="0">
                <a:solidFill>
                  <a:srgbClr val="FFD0DD"/>
                </a:solidFill>
                <a:latin typeface="Calibri" pitchFamily="34" charset="0"/>
                <a:ea typeface="Calibri" pitchFamily="34" charset="-122"/>
                <a:cs typeface="Calibri" pitchFamily="34" charset="-120"/>
              </a:rPr>
              <a:t>A histogram says "121 units had zero." It cannot say whether those 121 are concentrated</a:t>
            </a:r>
            <a:endParaRPr lang="en-US" sz="1200" dirty="0"/>
          </a:p>
          <a:p>
            <a:pPr indent="0" marL="0">
              <a:buNone/>
            </a:pPr>
            <a:r>
              <a:rPr lang="en-US" sz="1200" dirty="0">
                <a:solidFill>
                  <a:srgbClr val="FFD0DD"/>
                </a:solidFill>
                <a:latin typeface="Calibri" pitchFamily="34" charset="0"/>
                <a:ea typeface="Calibri" pitchFamily="34" charset="-122"/>
                <a:cs typeface="Calibri" pitchFamily="34" charset="-120"/>
              </a:rPr>
              <a:t>or scattered. Only a near-zero Moran's I can prove spatial randomness. Randomness IS the finding.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365760"/>
          </a:xfrm>
          <a:prstGeom prst="rect">
            <a:avLst/>
          </a:prstGeom>
          <a:noFill/>
          <a:ln/>
        </p:spPr>
        <p:txBody>
          <a:bodyPr wrap="square" lIns="0" tIns="0" rIns="0" bIns="0" rtlCol="0" anchor="ctr"/>
          <a:lstStyle/>
          <a:p>
            <a:pPr indent="0" marL="0">
              <a:buNone/>
            </a:pPr>
            <a:r>
              <a:rPr lang="en-US" sz="2000" b="1" dirty="0">
                <a:solidFill>
                  <a:srgbClr val="0D2B5C"/>
                </a:solidFill>
                <a:latin typeface="Georgia" pitchFamily="34" charset="0"/>
                <a:ea typeface="Georgia" pitchFamily="34" charset="-122"/>
                <a:cs typeface="Georgia" pitchFamily="34" charset="-120"/>
              </a:rPr>
              <a:t>Use Case: Women's Exclusion -- Regional or Institutional?</a:t>
            </a:r>
            <a:endParaRPr lang="en-US" sz="2000" dirty="0"/>
          </a:p>
        </p:txBody>
      </p:sp>
      <p:pic>
        <p:nvPicPr>
          <p:cNvPr id="3" name="Image 0" descr="/home/claude/chart_images/04_women_histogram.png">    </p:cNvPr>
          <p:cNvPicPr>
            <a:picLocks noChangeAspect="1"/>
          </p:cNvPicPr>
          <p:nvPr/>
        </p:nvPicPr>
        <p:blipFill>
          <a:blip r:embed="rId1"/>
          <a:srcRect l="0" r="0" t="0" b="0"/>
          <a:stretch/>
        </p:blipFill>
        <p:spPr>
          <a:xfrm>
            <a:off x="274320" y="502920"/>
            <a:ext cx="4114800" cy="2651760"/>
          </a:xfrm>
          <a:prstGeom prst="rect">
            <a:avLst/>
          </a:prstGeom>
        </p:spPr>
      </p:pic>
      <p:pic>
        <p:nvPicPr>
          <p:cNvPr id="4" name="Image 1" descr="/home/claude/screenshots/65.png">    </p:cNvPr>
          <p:cNvPicPr>
            <a:picLocks noChangeAspect="1"/>
          </p:cNvPicPr>
          <p:nvPr/>
        </p:nvPicPr>
        <p:blipFill>
          <a:blip r:embed="rId2"/>
          <a:srcRect l="0" r="0" t="0" b="0"/>
          <a:stretch/>
        </p:blipFill>
        <p:spPr>
          <a:xfrm>
            <a:off x="4480560" y="502920"/>
            <a:ext cx="4389120" cy="2651760"/>
          </a:xfrm>
          <a:prstGeom prst="rect">
            <a:avLst/>
          </a:prstGeom>
        </p:spPr>
      </p:pic>
      <p:sp>
        <p:nvSpPr>
          <p:cNvPr id="5" name="Text 1"/>
          <p:cNvSpPr/>
          <p:nvPr/>
        </p:nvSpPr>
        <p:spPr>
          <a:xfrm>
            <a:off x="274320" y="3200400"/>
            <a:ext cx="4114800" cy="182880"/>
          </a:xfrm>
          <a:prstGeom prst="rect">
            <a:avLst/>
          </a:prstGeom>
          <a:noFill/>
          <a:ln/>
        </p:spPr>
        <p:txBody>
          <a:bodyPr wrap="square" lIns="0" tIns="0" rIns="0" bIns="0" rtlCol="0" anchor="ctr"/>
          <a:lstStyle/>
          <a:p>
            <a:pPr algn="ctr" indent="0" marL="0">
              <a:buNone/>
            </a:pPr>
            <a:r>
              <a:rPr lang="en-US" sz="1000" b="1" dirty="0">
                <a:solidFill>
                  <a:srgbClr val="D7191C"/>
                </a:solidFill>
                <a:latin typeface="Georgia" pitchFamily="34" charset="0"/>
                <a:ea typeface="Georgia" pitchFamily="34" charset="-122"/>
                <a:cs typeface="Georgia" pitchFamily="34" charset="-120"/>
              </a:rPr>
              <a:t>ASPATIAL</a:t>
            </a:r>
            <a:endParaRPr lang="en-US" sz="1000" dirty="0"/>
          </a:p>
        </p:txBody>
      </p:sp>
      <p:sp>
        <p:nvSpPr>
          <p:cNvPr id="6" name="Text 2"/>
          <p:cNvSpPr/>
          <p:nvPr/>
        </p:nvSpPr>
        <p:spPr>
          <a:xfrm>
            <a:off x="4480560" y="3200400"/>
            <a:ext cx="4389120" cy="182880"/>
          </a:xfrm>
          <a:prstGeom prst="rect">
            <a:avLst/>
          </a:prstGeom>
          <a:noFill/>
          <a:ln/>
        </p:spPr>
        <p:txBody>
          <a:bodyPr wrap="square" lIns="0" tIns="0" rIns="0" bIns="0" rtlCol="0" anchor="ctr"/>
          <a:lstStyle/>
          <a:p>
            <a:pPr algn="ctr" indent="0" marL="0">
              <a:buNone/>
            </a:pPr>
            <a:r>
              <a:rPr lang="en-US" sz="1000" b="1" dirty="0">
                <a:solidFill>
                  <a:srgbClr val="00857C"/>
                </a:solidFill>
                <a:latin typeface="Georgia" pitchFamily="34" charset="0"/>
                <a:ea typeface="Georgia" pitchFamily="34" charset="-122"/>
                <a:cs typeface="Georgia" pitchFamily="34" charset="-120"/>
              </a:rPr>
              <a:t>SPATIALIZED (Chart 65)</a:t>
            </a:r>
            <a:endParaRPr lang="en-US" sz="1000" dirty="0"/>
          </a:p>
        </p:txBody>
      </p:sp>
      <p:sp>
        <p:nvSpPr>
          <p:cNvPr id="7" name="Shape 3"/>
          <p:cNvSpPr/>
          <p:nvPr/>
        </p:nvSpPr>
        <p:spPr>
          <a:xfrm>
            <a:off x="274320" y="3474720"/>
            <a:ext cx="8412480" cy="1463040"/>
          </a:xfrm>
          <a:prstGeom prst="rect">
            <a:avLst/>
          </a:prstGeom>
          <a:solidFill>
            <a:srgbClr val="FDF0F4"/>
          </a:solidFill>
          <a:ln/>
        </p:spPr>
      </p:sp>
      <p:sp>
        <p:nvSpPr>
          <p:cNvPr id="8" name="Text 4"/>
          <p:cNvSpPr/>
          <p:nvPr/>
        </p:nvSpPr>
        <p:spPr>
          <a:xfrm>
            <a:off x="457200" y="3520440"/>
            <a:ext cx="8046720" cy="5029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Result: I = 0.113 (near-random). 121 zero-women PCs span every region. The histogram says "121 had zero" (a number). LISA says "the 121 are geographically random" (a spatial proof). The barrier is institutional (party nomination), not regional (culture). Targeting "problem states" would miss the majority of exclusion.</a:t>
            </a:r>
            <a:endParaRPr lang="en-US" sz="1000" dirty="0"/>
          </a:p>
        </p:txBody>
      </p:sp>
      <p:sp>
        <p:nvSpPr>
          <p:cNvPr id="9" name="Text 5"/>
          <p:cNvSpPr/>
          <p:nvPr/>
        </p:nvSpPr>
        <p:spPr>
          <a:xfrm>
            <a:off x="457200" y="4069080"/>
            <a:ext cx="8046720" cy="365760"/>
          </a:xfrm>
          <a:prstGeom prst="rect">
            <a:avLst/>
          </a:prstGeom>
          <a:noFill/>
          <a:ln/>
        </p:spPr>
        <p:txBody>
          <a:bodyPr wrap="square" lIns="0" tIns="0" rIns="0" bIns="0" rtlCol="0" anchor="ctr"/>
          <a:lstStyle/>
          <a:p>
            <a:pPr indent="0" marL="0">
              <a:buNone/>
            </a:pPr>
            <a:r>
              <a:rPr lang="en-US" sz="1000" i="1" dirty="0">
                <a:solidFill>
                  <a:srgbClr val="B7234C"/>
                </a:solidFill>
                <a:latin typeface="Calibri" pitchFamily="34" charset="0"/>
                <a:ea typeface="Calibri" pitchFamily="34" charset="-122"/>
                <a:cs typeface="Calibri" pitchFamily="34" charset="-120"/>
              </a:rPr>
              <a:t>Generalizable: Are equipment failures across plants systemic or concentrated? Are regulatory violations an industry practice or regional enforcement gap? Are bank branch service failures a policy issue or a geography issue? Near-zero I proves systemic cause.</a:t>
            </a:r>
            <a:endParaRPr lang="en-US" sz="1000" dirty="0"/>
          </a:p>
        </p:txBody>
      </p:sp>
      <p:sp>
        <p:nvSpPr>
          <p:cNvPr id="10" name="Text 6"/>
          <p:cNvSpPr/>
          <p:nvPr/>
        </p:nvSpPr>
        <p:spPr>
          <a:xfrm>
            <a:off x="457200" y="4526280"/>
            <a:ext cx="8046720" cy="274320"/>
          </a:xfrm>
          <a:prstGeom prst="rect">
            <a:avLst/>
          </a:prstGeom>
          <a:noFill/>
          <a:ln/>
        </p:spPr>
        <p:txBody>
          <a:bodyPr wrap="square" lIns="0" tIns="0" rIns="0" bIns="0" rtlCol="0" anchor="ctr"/>
          <a:lstStyle/>
          <a:p>
            <a:pPr indent="0" marL="0">
              <a:buNone/>
            </a:pPr>
            <a:r>
              <a:rPr lang="en-US" sz="1000" b="1" dirty="0">
                <a:solidFill>
                  <a:srgbClr val="0D2B5C"/>
                </a:solidFill>
                <a:latin typeface="Calibri" pitchFamily="34" charset="0"/>
                <a:ea typeface="Calibri" pitchFamily="34" charset="-122"/>
                <a:cs typeface="Calibri" pitchFamily="34" charset="-120"/>
              </a:rPr>
              <a:t>Use case finding: This changes policy design. Systemic reform (party quotas, deposit waivers) is needed, not geographic targeting.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9933"/>
        </a:solidFill>
      </p:bgPr>
    </p:bg>
    <p:spTree>
      <p:nvGrpSpPr>
        <p:cNvPr id="1" name=""/>
        <p:cNvGrpSpPr/>
        <p:nvPr/>
      </p:nvGrpSpPr>
      <p:grpSpPr>
        <a:xfrm>
          <a:off x="0" y="0"/>
          <a:ext cx="0" cy="0"/>
          <a:chOff x="0" y="0"/>
          <a:chExt cx="0" cy="0"/>
        </a:xfrm>
      </p:grpSpPr>
      <p:sp>
        <p:nvSpPr>
          <p:cNvPr id="2" name="Text 0"/>
          <p:cNvSpPr/>
          <p:nvPr/>
        </p:nvSpPr>
        <p:spPr>
          <a:xfrm>
            <a:off x="731520" y="914400"/>
            <a:ext cx="7680960" cy="4572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Query Class 4</a:t>
            </a:r>
            <a:endParaRPr lang="en-US" sz="1800" dirty="0"/>
          </a:p>
        </p:txBody>
      </p:sp>
      <p:sp>
        <p:nvSpPr>
          <p:cNvPr id="3" name="Text 1"/>
          <p:cNvSpPr/>
          <p:nvPr/>
        </p:nvSpPr>
        <p:spPr>
          <a:xfrm>
            <a:off x="731520" y="1463040"/>
            <a:ext cx="768096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Co-location</a:t>
            </a:r>
            <a:endParaRPr lang="en-US" sz="4000" dirty="0"/>
          </a:p>
        </p:txBody>
      </p:sp>
      <p:sp>
        <p:nvSpPr>
          <p:cNvPr id="4" name="Text 2"/>
          <p:cNvSpPr/>
          <p:nvPr/>
        </p:nvSpPr>
        <p:spPr>
          <a:xfrm>
            <a:off x="731520" y="2560320"/>
            <a:ext cx="768096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"Do multiple disadvantages occupy the same</a:t>
            </a:r>
            <a:endParaRPr lang="en-US" sz="1600" dirty="0"/>
          </a:p>
          <a:p>
            <a:pPr indent="0" marL="0">
              <a:buNone/>
            </a:pPr>
            <a:r>
              <a:rPr lang="en-US" sz="1600" i="1" dirty="0">
                <a:solidFill>
                  <a:srgbClr val="FFFFFF"/>
                </a:solidFill>
                <a:latin typeface="Calibri" pitchFamily="34" charset="0"/>
                <a:ea typeface="Calibri" pitchFamily="34" charset="-122"/>
                <a:cs typeface="Calibri" pitchFamily="34" charset="-120"/>
              </a:rPr>
              <a:t>geographic belt? Is the overlap coincidental?"</a:t>
            </a:r>
            <a:endParaRPr lang="en-US" sz="1600" dirty="0"/>
          </a:p>
        </p:txBody>
      </p:sp>
      <p:sp>
        <p:nvSpPr>
          <p:cNvPr id="5" name="Text 3"/>
          <p:cNvSpPr/>
          <p:nvPr/>
        </p:nvSpPr>
        <p:spPr>
          <a:xfrm>
            <a:off x="731520" y="3474720"/>
            <a:ext cx="7680960" cy="457200"/>
          </a:xfrm>
          <a:prstGeom prst="rect">
            <a:avLst/>
          </a:prstGeom>
          <a:noFill/>
          <a:ln/>
        </p:spPr>
        <p:txBody>
          <a:bodyPr wrap="square" lIns="0" tIns="0" rIns="0" bIns="0" rtlCol="0" anchor="ctr"/>
          <a:lstStyle/>
          <a:p>
            <a:pPr indent="0" marL="0">
              <a:buNone/>
            </a:pPr>
            <a:r>
              <a:rPr lang="en-US" sz="1200" dirty="0">
                <a:solidFill>
                  <a:srgbClr val="FFF5DD"/>
                </a:solidFill>
                <a:latin typeface="Calibri" pitchFamily="34" charset="0"/>
                <a:ea typeface="Calibri" pitchFamily="34" charset="-122"/>
                <a:cs typeface="Calibri" pitchFamily="34" charset="-120"/>
              </a:rPr>
              <a:t>Separate bar charts show each variable's ranking. They cannot show that the same states</a:t>
            </a:r>
            <a:endParaRPr lang="en-US" sz="1200" dirty="0"/>
          </a:p>
          <a:p>
            <a:pPr indent="0" marL="0">
              <a:buNone/>
            </a:pPr>
            <a:r>
              <a:rPr lang="en-US" sz="1200" dirty="0">
                <a:solidFill>
                  <a:srgbClr val="FFF5DD"/>
                </a:solidFill>
                <a:latin typeface="Calibri" pitchFamily="34" charset="0"/>
                <a:ea typeface="Calibri" pitchFamily="34" charset="-122"/>
                <a:cs typeface="Calibri" pitchFamily="34" charset="-120"/>
              </a:rPr>
              <a:t>appear at the top of EVERY list, or that a single geographic axis explains all three gradients.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365760"/>
          </a:xfrm>
          <a:prstGeom prst="rect">
            <a:avLst/>
          </a:prstGeom>
          <a:noFill/>
          <a:ln/>
        </p:spPr>
        <p:txBody>
          <a:bodyPr wrap="square" lIns="0" tIns="0" rIns="0" bIns="0" rtlCol="0" anchor="ctr"/>
          <a:lstStyle/>
          <a:p>
            <a:pPr indent="0" marL="0">
              <a:buNone/>
            </a:pPr>
            <a:r>
              <a:rPr lang="en-US" sz="2000" b="1" dirty="0">
                <a:solidFill>
                  <a:srgbClr val="0D2B5C"/>
                </a:solidFill>
                <a:latin typeface="Georgia" pitchFamily="34" charset="0"/>
                <a:ea typeface="Georgia" pitchFamily="34" charset="-122"/>
                <a:cs typeface="Georgia" pitchFamily="34" charset="-120"/>
              </a:rPr>
              <a:t>Use Case: Three Crises, One Geographic Axis</a:t>
            </a:r>
            <a:endParaRPr lang="en-US" sz="2000" dirty="0"/>
          </a:p>
        </p:txBody>
      </p:sp>
      <p:pic>
        <p:nvPicPr>
          <p:cNvPr id="3" name="Image 0" descr="/home/claude/chart_images/06_fiscal_returns.png">    </p:cNvPr>
          <p:cNvPicPr>
            <a:picLocks noChangeAspect="1"/>
          </p:cNvPicPr>
          <p:nvPr/>
        </p:nvPicPr>
        <p:blipFill>
          <a:blip r:embed="rId1"/>
          <a:srcRect l="0" r="0" t="0" b="0"/>
          <a:stretch/>
        </p:blipFill>
        <p:spPr>
          <a:xfrm>
            <a:off x="274320" y="502920"/>
            <a:ext cx="4114800" cy="2651760"/>
          </a:xfrm>
          <a:prstGeom prst="rect">
            <a:avLst/>
          </a:prstGeom>
        </p:spPr>
      </p:pic>
      <p:pic>
        <p:nvPicPr>
          <p:cNvPr id="4" name="Image 1" descr="/home/claude/screenshots/77.png">    </p:cNvPr>
          <p:cNvPicPr>
            <a:picLocks noChangeAspect="1"/>
          </p:cNvPicPr>
          <p:nvPr/>
        </p:nvPicPr>
        <p:blipFill>
          <a:blip r:embed="rId2"/>
          <a:srcRect l="0" r="0" t="0" b="0"/>
          <a:stretch/>
        </p:blipFill>
        <p:spPr>
          <a:xfrm>
            <a:off x="4480560" y="502920"/>
            <a:ext cx="4389120" cy="2651760"/>
          </a:xfrm>
          <a:prstGeom prst="rect">
            <a:avLst/>
          </a:prstGeom>
        </p:spPr>
      </p:pic>
      <p:sp>
        <p:nvSpPr>
          <p:cNvPr id="5" name="Text 1"/>
          <p:cNvSpPr/>
          <p:nvPr/>
        </p:nvSpPr>
        <p:spPr>
          <a:xfrm>
            <a:off x="274320" y="3200400"/>
            <a:ext cx="4114800" cy="182880"/>
          </a:xfrm>
          <a:prstGeom prst="rect">
            <a:avLst/>
          </a:prstGeom>
          <a:noFill/>
          <a:ln/>
        </p:spPr>
        <p:txBody>
          <a:bodyPr wrap="square" lIns="0" tIns="0" rIns="0" bIns="0" rtlCol="0" anchor="ctr"/>
          <a:lstStyle/>
          <a:p>
            <a:pPr algn="ctr" indent="0" marL="0">
              <a:buNone/>
            </a:pPr>
            <a:r>
              <a:rPr lang="en-US" sz="1000" b="1" dirty="0">
                <a:solidFill>
                  <a:srgbClr val="D7191C"/>
                </a:solidFill>
                <a:latin typeface="Georgia" pitchFamily="34" charset="0"/>
                <a:ea typeface="Georgia" pitchFamily="34" charset="-122"/>
                <a:cs typeface="Georgia" pitchFamily="34" charset="-120"/>
              </a:rPr>
              <a:t>ASPATIAL</a:t>
            </a:r>
            <a:endParaRPr lang="en-US" sz="1000" dirty="0"/>
          </a:p>
        </p:txBody>
      </p:sp>
      <p:sp>
        <p:nvSpPr>
          <p:cNvPr id="6" name="Text 2"/>
          <p:cNvSpPr/>
          <p:nvPr/>
        </p:nvSpPr>
        <p:spPr>
          <a:xfrm>
            <a:off x="4480560" y="3200400"/>
            <a:ext cx="4389120" cy="182880"/>
          </a:xfrm>
          <a:prstGeom prst="rect">
            <a:avLst/>
          </a:prstGeom>
          <a:noFill/>
          <a:ln/>
        </p:spPr>
        <p:txBody>
          <a:bodyPr wrap="square" lIns="0" tIns="0" rIns="0" bIns="0" rtlCol="0" anchor="ctr"/>
          <a:lstStyle/>
          <a:p>
            <a:pPr algn="ctr" indent="0" marL="0">
              <a:buNone/>
            </a:pPr>
            <a:r>
              <a:rPr lang="en-US" sz="1000" b="1" dirty="0">
                <a:solidFill>
                  <a:srgbClr val="00857C"/>
                </a:solidFill>
                <a:latin typeface="Georgia" pitchFamily="34" charset="0"/>
                <a:ea typeface="Georgia" pitchFamily="34" charset="-122"/>
                <a:cs typeface="Georgia" pitchFamily="34" charset="-120"/>
              </a:rPr>
              <a:t>SPATIALIZED (Chart 77)</a:t>
            </a:r>
            <a:endParaRPr lang="en-US" sz="1000" dirty="0"/>
          </a:p>
        </p:txBody>
      </p:sp>
      <p:sp>
        <p:nvSpPr>
          <p:cNvPr id="7" name="Shape 3"/>
          <p:cNvSpPr/>
          <p:nvPr/>
        </p:nvSpPr>
        <p:spPr>
          <a:xfrm>
            <a:off x="274320" y="3474720"/>
            <a:ext cx="8412480" cy="1463040"/>
          </a:xfrm>
          <a:prstGeom prst="rect">
            <a:avLst/>
          </a:prstGeom>
          <a:solidFill>
            <a:srgbClr val="F0F0F0"/>
          </a:solidFill>
          <a:ln/>
        </p:spPr>
      </p:sp>
      <p:sp>
        <p:nvSpPr>
          <p:cNvPr id="8" name="Text 4"/>
          <p:cNvSpPr/>
          <p:nvPr/>
        </p:nvSpPr>
        <p:spPr>
          <a:xfrm>
            <a:off x="457200" y="3520440"/>
            <a:ext cx="8046720" cy="502920"/>
          </a:xfrm>
          <a:prstGeom prst="rect">
            <a:avLst/>
          </a:prstGeom>
          <a:noFill/>
          <a:ln/>
        </p:spPr>
        <p:txBody>
          <a:bodyPr wrap="square" lIns="0" tIns="0" rIns="0" bIns="0" rtlCol="0" anchor="ctr"/>
          <a:lstStyle/>
          <a:p>
            <a:pPr indent="0" marL="0">
              <a:buNone/>
            </a:pPr>
            <a:r>
              <a:rPr lang="en-US" sz="1000" dirty="0">
                <a:solidFill>
                  <a:srgbClr val="333333"/>
                </a:solidFill>
                <a:latin typeface="Calibri" pitchFamily="34" charset="0"/>
                <a:ea typeface="Calibri" pitchFamily="34" charset="-122"/>
                <a:cs typeface="Calibri" pitchFamily="34" charset="-120"/>
              </a:rPr>
              <a:t>Result: Turnout clusters (south=high, north=low). Delimitation distortion (north underrepresented). Fiscal returns (south contributes, north receives). All three share the SAME north-south axis. The bar chart shows WHO pays. The Fiscal Spine shows they are ALL in the south.</a:t>
            </a:r>
            <a:endParaRPr lang="en-US" sz="1000" dirty="0"/>
          </a:p>
        </p:txBody>
      </p:sp>
      <p:sp>
        <p:nvSpPr>
          <p:cNvPr id="9" name="Text 5"/>
          <p:cNvSpPr/>
          <p:nvPr/>
        </p:nvSpPr>
        <p:spPr>
          <a:xfrm>
            <a:off x="457200" y="4069080"/>
            <a:ext cx="8046720" cy="365760"/>
          </a:xfrm>
          <a:prstGeom prst="rect">
            <a:avLst/>
          </a:prstGeom>
          <a:noFill/>
          <a:ln/>
        </p:spPr>
        <p:txBody>
          <a:bodyPr wrap="square" lIns="0" tIns="0" rIns="0" bIns="0" rtlCol="0" anchor="ctr"/>
          <a:lstStyle/>
          <a:p>
            <a:pPr indent="0" marL="0">
              <a:buNone/>
            </a:pPr>
            <a:r>
              <a:rPr lang="en-US" sz="1000" i="1" dirty="0">
                <a:solidFill>
                  <a:srgbClr val="FF9933"/>
                </a:solidFill>
                <a:latin typeface="Calibri" pitchFamily="34" charset="0"/>
                <a:ea typeface="Calibri" pitchFamily="34" charset="-122"/>
                <a:cs typeface="Calibri" pitchFamily="34" charset="-120"/>
              </a:rPr>
              <a:t>Generalizable: Do poverty + poor health + low education co-locate in the same districts? Do infrastructure deficits + low investment + brain drain share the same regions? Do flood risk + low insurance + poor drainage overlap in the same urban zones? Only spatial embedding reveals geographic co-location.</a:t>
            </a:r>
            <a:endParaRPr lang="en-US" sz="1000" dirty="0"/>
          </a:p>
        </p:txBody>
      </p:sp>
      <p:sp>
        <p:nvSpPr>
          <p:cNvPr id="10" name="Text 6"/>
          <p:cNvSpPr/>
          <p:nvPr/>
        </p:nvSpPr>
        <p:spPr>
          <a:xfrm>
            <a:off x="457200" y="4526280"/>
            <a:ext cx="8046720" cy="274320"/>
          </a:xfrm>
          <a:prstGeom prst="rect">
            <a:avLst/>
          </a:prstGeom>
          <a:noFill/>
          <a:ln/>
        </p:spPr>
        <p:txBody>
          <a:bodyPr wrap="square" lIns="0" tIns="0" rIns="0" bIns="0" rtlCol="0" anchor="ctr"/>
          <a:lstStyle/>
          <a:p>
            <a:pPr indent="0" marL="0">
              <a:buNone/>
            </a:pPr>
            <a:r>
              <a:rPr lang="en-US" sz="1000" b="1" dirty="0">
                <a:solidFill>
                  <a:srgbClr val="0D2B5C"/>
                </a:solidFill>
                <a:latin typeface="Calibri" pitchFamily="34" charset="0"/>
                <a:ea typeface="Calibri" pitchFamily="34" charset="-122"/>
                <a:cs typeface="Calibri" pitchFamily="34" charset="-120"/>
              </a:rPr>
              <a:t>Use case finding: The same belt is penalized three times. The fourth penalty (women's exclusion) is everywhere.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857C"/>
        </a:solidFill>
      </p:bgPr>
    </p:bg>
    <p:spTree>
      <p:nvGrpSpPr>
        <p:cNvPr id="1" name=""/>
        <p:cNvGrpSpPr/>
        <p:nvPr/>
      </p:nvGrpSpPr>
      <p:grpSpPr>
        <a:xfrm>
          <a:off x="0" y="0"/>
          <a:ext cx="0" cy="0"/>
          <a:chOff x="0" y="0"/>
          <a:chExt cx="0" cy="0"/>
        </a:xfrm>
      </p:grpSpPr>
      <p:sp>
        <p:nvSpPr>
          <p:cNvPr id="2" name="Text 0"/>
          <p:cNvSpPr/>
          <p:nvPr/>
        </p:nvSpPr>
        <p:spPr>
          <a:xfrm>
            <a:off x="731520" y="914400"/>
            <a:ext cx="7680960" cy="4572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Query Class 5</a:t>
            </a:r>
            <a:endParaRPr lang="en-US" sz="1800" dirty="0"/>
          </a:p>
        </p:txBody>
      </p:sp>
      <p:sp>
        <p:nvSpPr>
          <p:cNvPr id="3" name="Text 1"/>
          <p:cNvSpPr/>
          <p:nvPr/>
        </p:nvSpPr>
        <p:spPr>
          <a:xfrm>
            <a:off x="731520" y="1463040"/>
            <a:ext cx="768096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Policy Simulation</a:t>
            </a:r>
            <a:endParaRPr lang="en-US" sz="4000" dirty="0"/>
          </a:p>
        </p:txBody>
      </p:sp>
      <p:sp>
        <p:nvSpPr>
          <p:cNvPr id="4" name="Text 2"/>
          <p:cNvSpPr/>
          <p:nvPr/>
        </p:nvSpPr>
        <p:spPr>
          <a:xfrm>
            <a:off x="731520" y="2560320"/>
            <a:ext cx="7680960" cy="64008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"Does a policy intervention change the spatial structure</a:t>
            </a:r>
            <a:endParaRPr lang="en-US" sz="1600" dirty="0"/>
          </a:p>
          <a:p>
            <a:pPr indent="0" marL="0">
              <a:buNone/>
            </a:pPr>
            <a:r>
              <a:rPr lang="en-US" sz="1600" i="1" dirty="0">
                <a:solidFill>
                  <a:srgbClr val="FFFFFF"/>
                </a:solidFill>
                <a:latin typeface="Calibri" pitchFamily="34" charset="0"/>
                <a:ea typeface="Calibri" pitchFamily="34" charset="-122"/>
                <a:cs typeface="Calibri" pitchFamily="34" charset="-120"/>
              </a:rPr>
              <a:t>of variable X, or does the geographic pattern persist?"</a:t>
            </a:r>
            <a:endParaRPr lang="en-US" sz="1600" dirty="0"/>
          </a:p>
        </p:txBody>
      </p:sp>
      <p:sp>
        <p:nvSpPr>
          <p:cNvPr id="5" name="Text 3"/>
          <p:cNvSpPr/>
          <p:nvPr/>
        </p:nvSpPr>
        <p:spPr>
          <a:xfrm>
            <a:off x="731520" y="3474720"/>
            <a:ext cx="7680960" cy="457200"/>
          </a:xfrm>
          <a:prstGeom prst="rect">
            <a:avLst/>
          </a:prstGeom>
          <a:noFill/>
          <a:ln/>
        </p:spPr>
        <p:txBody>
          <a:bodyPr wrap="square" lIns="0" tIns="0" rIns="0" bIns="0" rtlCol="0" anchor="ctr"/>
          <a:lstStyle/>
          <a:p>
            <a:pPr indent="0" marL="0">
              <a:buNone/>
            </a:pPr>
            <a:r>
              <a:rPr lang="en-US" sz="1200" dirty="0">
                <a:solidFill>
                  <a:srgbClr val="B0E8E0"/>
                </a:solidFill>
                <a:latin typeface="Calibri" pitchFamily="34" charset="0"/>
                <a:ea typeface="Calibri" pitchFamily="34" charset="-122"/>
                <a:cs typeface="Calibri" pitchFamily="34" charset="-120"/>
              </a:rPr>
              <a:t>A simulator produces numbers (seat counts, quotas). Without Moran's I, it cannot evaluate</a:t>
            </a:r>
            <a:endParaRPr lang="en-US" sz="1200" dirty="0"/>
          </a:p>
          <a:p>
            <a:pPr indent="0" marL="0">
              <a:buNone/>
            </a:pPr>
            <a:r>
              <a:rPr lang="en-US" sz="1200" dirty="0">
                <a:solidFill>
                  <a:srgbClr val="B0E8E0"/>
                </a:solidFill>
                <a:latin typeface="Calibri" pitchFamily="34" charset="0"/>
                <a:ea typeface="Calibri" pitchFamily="34" charset="-122"/>
                <a:cs typeface="Calibri" pitchFamily="34" charset="-120"/>
              </a:rPr>
              <a:t>whether the GEOGRAPHIC DISTRIBUTION of inequality improves or worsens under each scenario.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
            <a:ext cx="8229600" cy="365760"/>
          </a:xfrm>
          <a:prstGeom prst="rect">
            <a:avLst/>
          </a:prstGeom>
          <a:noFill/>
          <a:ln/>
        </p:spPr>
        <p:txBody>
          <a:bodyPr wrap="square" lIns="0" tIns="0" rIns="0" bIns="0" rtlCol="0" anchor="ctr"/>
          <a:lstStyle/>
          <a:p>
            <a:pPr indent="0" marL="0">
              <a:buNone/>
            </a:pPr>
            <a:r>
              <a:rPr lang="en-US" sz="1800" b="1" dirty="0">
                <a:solidFill>
                  <a:srgbClr val="0D2B5C"/>
                </a:solidFill>
                <a:latin typeface="Georgia" pitchFamily="34" charset="0"/>
                <a:ea typeface="Georgia" pitchFamily="34" charset="-122"/>
                <a:cs typeface="Georgia" pitchFamily="34" charset="-120"/>
              </a:rPr>
              <a:t>Use Case: Delimitation Simulator (Chart 71, advisor's code)</a:t>
            </a:r>
            <a:endParaRPr lang="en-US" sz="1800" dirty="0"/>
          </a:p>
        </p:txBody>
      </p:sp>
      <p:pic>
        <p:nvPicPr>
          <p:cNvPr id="3" name="Image 0" descr="/home/claude/screenshots/71.png">    </p:cNvPr>
          <p:cNvPicPr>
            <a:picLocks noChangeAspect="1"/>
          </p:cNvPicPr>
          <p:nvPr/>
        </p:nvPicPr>
        <p:blipFill>
          <a:blip r:embed="rId1"/>
          <a:srcRect l="0" r="0" t="0" b="0"/>
          <a:stretch/>
        </p:blipFill>
        <p:spPr>
          <a:xfrm>
            <a:off x="274320" y="502920"/>
            <a:ext cx="8412480" cy="2834640"/>
          </a:xfrm>
          <a:prstGeom prst="rect">
            <a:avLst/>
          </a:prstGeom>
        </p:spPr>
      </p:pic>
      <p:sp>
        <p:nvSpPr>
          <p:cNvPr id="4" name="Shape 1"/>
          <p:cNvSpPr/>
          <p:nvPr/>
        </p:nvSpPr>
        <p:spPr>
          <a:xfrm>
            <a:off x="274320" y="3429000"/>
            <a:ext cx="8412480" cy="1554480"/>
          </a:xfrm>
          <a:prstGeom prst="rect">
            <a:avLst/>
          </a:prstGeom>
          <a:solidFill>
            <a:srgbClr val="EBF5F4"/>
          </a:solidFill>
          <a:ln/>
        </p:spPr>
      </p:sp>
      <p:sp>
        <p:nvSpPr>
          <p:cNvPr id="5" name="Text 2"/>
          <p:cNvSpPr/>
          <p:nvPr/>
        </p:nvSpPr>
        <p:spPr>
          <a:xfrm>
            <a:off x="457200" y="3474720"/>
            <a:ext cx="8046720" cy="182880"/>
          </a:xfrm>
          <a:prstGeom prst="rect">
            <a:avLst/>
          </a:prstGeom>
          <a:noFill/>
          <a:ln/>
        </p:spPr>
        <p:txBody>
          <a:bodyPr wrap="square" lIns="0" tIns="0" rIns="0" bIns="0" rtlCol="0" anchor="ctr"/>
          <a:lstStyle/>
          <a:p>
            <a:pPr indent="0" marL="0">
              <a:buNone/>
            </a:pPr>
            <a:r>
              <a:rPr lang="en-US" sz="950" dirty="0">
                <a:solidFill>
                  <a:srgbClr val="333333"/>
                </a:solidFill>
                <a:latin typeface="Calibri" pitchFamily="34" charset="0"/>
                <a:ea typeface="Calibri" pitchFamily="34" charset="-122"/>
                <a:cs typeface="Calibri" pitchFamily="34" charset="-120"/>
              </a:rPr>
              <a:t>Without Moran's I: "At 850 seats, UP gains 37, TN loses 6." Numbers. No spatial structure.</a:t>
            </a:r>
            <a:endParaRPr lang="en-US" sz="950" dirty="0"/>
          </a:p>
        </p:txBody>
      </p:sp>
      <p:sp>
        <p:nvSpPr>
          <p:cNvPr id="6" name="Text 3"/>
          <p:cNvSpPr/>
          <p:nvPr/>
        </p:nvSpPr>
        <p:spPr>
          <a:xfrm>
            <a:off x="457200" y="3703320"/>
            <a:ext cx="8046720" cy="365760"/>
          </a:xfrm>
          <a:prstGeom prst="rect">
            <a:avLst/>
          </a:prstGeom>
          <a:noFill/>
          <a:ln/>
        </p:spPr>
        <p:txBody>
          <a:bodyPr wrap="square" lIns="0" tIns="0" rIns="0" bIns="0" rtlCol="0" anchor="ctr"/>
          <a:lstStyle/>
          <a:p>
            <a:pPr indent="0" marL="0">
              <a:buNone/>
            </a:pPr>
            <a:r>
              <a:rPr lang="en-US" sz="950" b="1" dirty="0">
                <a:solidFill>
                  <a:srgbClr val="00857C"/>
                </a:solidFill>
                <a:latin typeface="Calibri" pitchFamily="34" charset="0"/>
                <a:ea typeface="Calibri" pitchFamily="34" charset="-122"/>
                <a:cs typeface="Calibri" pitchFamily="34" charset="-120"/>
              </a:rPr>
              <a:t>With Moran's I: "At 850, I of electors-per-seat drops from 0.52 to 0.31. Clustering of underrepresentation reduced by 40%." Chart 74 extends: which allocation formula (population only vs +area vs +women vs +fiscal) produces the lowest I?</a:t>
            </a:r>
            <a:endParaRPr lang="en-US" sz="950" dirty="0"/>
          </a:p>
        </p:txBody>
      </p:sp>
      <p:sp>
        <p:nvSpPr>
          <p:cNvPr id="7" name="Text 4"/>
          <p:cNvSpPr/>
          <p:nvPr/>
        </p:nvSpPr>
        <p:spPr>
          <a:xfrm>
            <a:off x="457200" y="4114800"/>
            <a:ext cx="8046720" cy="320040"/>
          </a:xfrm>
          <a:prstGeom prst="rect">
            <a:avLst/>
          </a:prstGeom>
          <a:noFill/>
          <a:ln/>
        </p:spPr>
        <p:txBody>
          <a:bodyPr wrap="square" lIns="0" tIns="0" rIns="0" bIns="0" rtlCol="0" anchor="ctr"/>
          <a:lstStyle/>
          <a:p>
            <a:pPr indent="0" marL="0">
              <a:buNone/>
            </a:pPr>
            <a:r>
              <a:rPr lang="en-US" sz="950" i="1" dirty="0">
                <a:solidFill>
                  <a:srgbClr val="00857C"/>
                </a:solidFill>
                <a:latin typeface="Calibri" pitchFamily="34" charset="0"/>
                <a:ea typeface="Calibri" pitchFamily="34" charset="-122"/>
                <a:cs typeface="Calibri" pitchFamily="34" charset="-120"/>
              </a:rPr>
              <a:t>Generalizable: Which school zoning minimizes geographic clustering of low scores? Which hospital budget reduces spatial concentration of wait times? Which tax policy reduces clustering of fiscal dependency?</a:t>
            </a:r>
            <a:endParaRPr lang="en-US" sz="950" dirty="0"/>
          </a:p>
        </p:txBody>
      </p:sp>
      <p:sp>
        <p:nvSpPr>
          <p:cNvPr id="8" name="Text 5"/>
          <p:cNvSpPr/>
          <p:nvPr/>
        </p:nvSpPr>
        <p:spPr>
          <a:xfrm>
            <a:off x="457200" y="4526280"/>
            <a:ext cx="8046720" cy="320040"/>
          </a:xfrm>
          <a:prstGeom prst="rect">
            <a:avLst/>
          </a:prstGeom>
          <a:noFill/>
          <a:ln/>
        </p:spPr>
        <p:txBody>
          <a:bodyPr wrap="square" lIns="0" tIns="0" rIns="0" bIns="0" rtlCol="0" anchor="ctr"/>
          <a:lstStyle/>
          <a:p>
            <a:pPr indent="0" marL="0">
              <a:buNone/>
            </a:pPr>
            <a:r>
              <a:rPr lang="en-US" sz="950" dirty="0">
                <a:solidFill>
                  <a:srgbClr val="0D2B5C"/>
                </a:solidFill>
                <a:latin typeface="Calibri" pitchFamily="34" charset="0"/>
                <a:ea typeface="Calibri" pitchFamily="34" charset="-122"/>
                <a:cs typeface="Calibri" pitchFamily="34" charset="-120"/>
              </a:rPr>
              <a:t>Reservation simulator (Chart 73, advisor's code): At any reservation %, women's I stays ~0.113. The spatial randomness persists. The barrier is institutional regardless of quota level.</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0D2B5C"/>
                </a:solidFill>
                <a:latin typeface="Georgia" pitchFamily="34" charset="0"/>
                <a:ea typeface="Georgia" pitchFamily="34" charset="-122"/>
                <a:cs typeface="Georgia" pitchFamily="34" charset="-120"/>
              </a:rPr>
              <a:t>How Every Atlas Chart Maps to a Query Class</a:t>
            </a:r>
            <a:endParaRPr lang="en-US" sz="2200" dirty="0"/>
          </a:p>
        </p:txBody>
      </p:sp>
      <p:sp>
        <p:nvSpPr>
          <p:cNvPr id="3" name="Text 1"/>
          <p:cNvSpPr/>
          <p:nvPr/>
        </p:nvSpPr>
        <p:spPr>
          <a:xfrm>
            <a:off x="457200" y="777240"/>
            <a:ext cx="8229600" cy="228600"/>
          </a:xfrm>
          <a:prstGeom prst="rect">
            <a:avLst/>
          </a:prstGeom>
          <a:noFill/>
          <a:ln/>
        </p:spPr>
        <p:txBody>
          <a:bodyPr wrap="square" lIns="0" tIns="0" rIns="0" bIns="0" rtlCol="0" anchor="ctr"/>
          <a:lstStyle/>
          <a:p>
            <a:pPr indent="0" marL="0">
              <a:buNone/>
            </a:pPr>
            <a:r>
              <a:rPr lang="en-US" sz="1100" i="1" dirty="0">
                <a:solidFill>
                  <a:srgbClr val="00857C"/>
                </a:solidFill>
                <a:latin typeface="Georgia" pitchFamily="34" charset="0"/>
                <a:ea typeface="Georgia" pitchFamily="34" charset="-122"/>
                <a:cs typeface="Georgia" pitchFamily="34" charset="-120"/>
              </a:rPr>
              <a:t>The atlas is not separate from the project. It IS the five query classes applied to multiple variables.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1371600"/>
                <a:gridCol w="2560320"/>
                <a:gridCol w="2286000"/>
              </a:tblGrid>
              <a:tr h="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Query Class</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2B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Chart(s)</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2B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Variable</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2B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Input Used</a:t>
                      </a:r>
                      <a:endParaRPr lang="en-US" sz="9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2B5C"/>
                    </a:solidFill>
                  </a:tcPr>
                </a:tc>
              </a:tr>
              <a:tr h="0">
                <a:tc>
                  <a:txBody>
                    <a:bodyPr/>
                    <a:lstStyle/>
                    <a:p>
                      <a:pPr indent="0" marL="0">
                        <a:buNone/>
                      </a:pPr>
                      <a:r>
                        <a:rPr lang="en-US" sz="850" b="1" dirty="0">
                          <a:solidFill>
                            <a:srgbClr val="D7191C"/>
                          </a:solidFill>
                          <a:latin typeface="Calibri" pitchFamily="34" charset="0"/>
                          <a:ea typeface="Calibri" pitchFamily="34" charset="-122"/>
                          <a:cs typeface="Calibri" pitchFamily="34" charset="-120"/>
                        </a:rPr>
                        <a:t>1. Cluster Detection</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37, 48</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Turnout, Alliance</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Base dataset</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indent="0" marL="0">
                        <a:buNone/>
                      </a:pPr>
                      <a:r>
                        <a:rPr lang="en-US" sz="850" b="1" dirty="0">
                          <a:solidFill>
                            <a:srgbClr val="C8960C"/>
                          </a:solidFill>
                          <a:latin typeface="Calibri" pitchFamily="34" charset="0"/>
                          <a:ea typeface="Calibri" pitchFamily="34" charset="-122"/>
                          <a:cs typeface="Calibri" pitchFamily="34" charset="-120"/>
                        </a:rPr>
                        <a:t>2. Spatial Outlier</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39, 40</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Turnout vs Margin, Swing</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Base dataset</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indent="0" marL="0">
                        <a:buNone/>
                      </a:pPr>
                      <a:r>
                        <a:rPr lang="en-US" sz="850" b="1" dirty="0">
                          <a:solidFill>
                            <a:srgbClr val="B7234C"/>
                          </a:solidFill>
                          <a:latin typeface="Calibri" pitchFamily="34" charset="0"/>
                          <a:ea typeface="Calibri" pitchFamily="34" charset="-122"/>
                          <a:cs typeface="Calibri" pitchFamily="34" charset="-120"/>
                        </a:rPr>
                        <a:t>3. Absence = Evidence</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65, 68</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Women's candidature</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Base dataset</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indent="0" marL="0">
                        <a:buNone/>
                      </a:pPr>
                      <a:r>
                        <a:rPr lang="en-US" sz="850" b="1" dirty="0">
                          <a:solidFill>
                            <a:srgbClr val="FF9933"/>
                          </a:solidFill>
                          <a:latin typeface="Calibri" pitchFamily="34" charset="0"/>
                          <a:ea typeface="Calibri" pitchFamily="34" charset="-122"/>
                          <a:cs typeface="Calibri" pitchFamily="34" charset="-120"/>
                        </a:rPr>
                        <a:t>4. Co-location</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77, 75</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Fiscal + turnout + seats</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b="1" dirty="0">
                          <a:solidFill>
                            <a:srgbClr val="000000"/>
                          </a:solidFill>
                          <a:latin typeface="Calibri" pitchFamily="34" charset="0"/>
                          <a:ea typeface="Calibri" pitchFamily="34" charset="-122"/>
                          <a:cs typeface="Calibri" pitchFamily="34" charset="-120"/>
                        </a:rPr>
                        <a:t>Fiscal maps</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indent="0" marL="0">
                        <a:buNone/>
                      </a:pPr>
                      <a:r>
                        <a:rPr lang="en-US" sz="850" b="1" dirty="0">
                          <a:solidFill>
                            <a:srgbClr val="00857C"/>
                          </a:solidFill>
                          <a:latin typeface="Calibri" pitchFamily="34" charset="0"/>
                          <a:ea typeface="Calibri" pitchFamily="34" charset="-122"/>
                          <a:cs typeface="Calibri" pitchFamily="34" charset="-120"/>
                        </a:rPr>
                        <a:t>5. Policy Simulation</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71, 73, 74</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Seat count, reservation %</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b="1" dirty="0">
                          <a:solidFill>
                            <a:srgbClr val="000000"/>
                          </a:solidFill>
                          <a:latin typeface="Calibri" pitchFamily="34" charset="0"/>
                          <a:ea typeface="Calibri" pitchFamily="34" charset="-122"/>
                          <a:cs typeface="Calibri" pitchFamily="34" charset="-120"/>
                        </a:rPr>
                        <a:t>Simulation code</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indent="0" marL="0">
                        <a:buNone/>
                      </a:pPr>
                      <a:r>
                        <a:rPr lang="en-US" sz="850" b="1" dirty="0">
                          <a:solidFill>
                            <a:srgbClr val="0D2B5C"/>
                          </a:solidFill>
                          <a:latin typeface="Calibri" pitchFamily="34" charset="0"/>
                          <a:ea typeface="Calibri" pitchFamily="34" charset="-122"/>
                          <a:cs typeface="Calibri" pitchFamily="34" charset="-120"/>
                        </a:rPr>
                        <a:t>3D / Depth</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47, 70, 85-89</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Multiple variables</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000000"/>
                          </a:solidFill>
                          <a:latin typeface="Calibri" pitchFamily="34" charset="0"/>
                          <a:ea typeface="Calibri" pitchFamily="34" charset="-122"/>
                          <a:cs typeface="Calibri" pitchFamily="34" charset="-120"/>
                        </a:rPr>
                        <a:t>All inputs</a:t>
                      </a:r>
                      <a:endParaRPr lang="en-US" sz="8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5" name="Text 2"/>
          <p:cNvSpPr/>
          <p:nvPr/>
        </p:nvSpPr>
        <p:spPr>
          <a:xfrm>
            <a:off x="457200" y="4114800"/>
            <a:ext cx="8229600" cy="365760"/>
          </a:xfrm>
          <a:prstGeom prst="rect">
            <a:avLst/>
          </a:prstGeom>
          <a:noFill/>
          <a:ln/>
        </p:spPr>
        <p:txBody>
          <a:bodyPr wrap="square" lIns="0" tIns="0" rIns="0" bIns="0" rtlCol="0" anchor="ctr"/>
          <a:lstStyle/>
          <a:p>
            <a:pPr indent="0" marL="0">
              <a:buNone/>
            </a:pPr>
            <a:r>
              <a:rPr lang="en-US" sz="1100" i="1" dirty="0">
                <a:solidFill>
                  <a:srgbClr val="00857C"/>
                </a:solidFill>
                <a:latin typeface="Georgia" pitchFamily="34" charset="0"/>
                <a:ea typeface="Georgia" pitchFamily="34" charset="-122"/>
                <a:cs typeface="Georgia" pitchFamily="34" charset="-120"/>
              </a:rPr>
              <a:t>Every chart uses the SAME spatial weights (KNN k=8) and SAME Moran's I / LISA algorithm. What changes is the input variable.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74320"/>
            <a:ext cx="7680960" cy="457200"/>
          </a:xfrm>
          <a:prstGeom prst="rect">
            <a:avLst/>
          </a:prstGeom>
          <a:noFill/>
          <a:ln/>
        </p:spPr>
        <p:txBody>
          <a:bodyPr wrap="square" lIns="0" tIns="0" rIns="0" bIns="0" rtlCol="0" anchor="ctr"/>
          <a:lstStyle/>
          <a:p>
            <a:pPr indent="0" marL="0">
              <a:buNone/>
            </a:pPr>
            <a:r>
              <a:rPr lang="en-US" sz="3000" b="1" dirty="0">
                <a:solidFill>
                  <a:srgbClr val="0D2B5C"/>
                </a:solidFill>
                <a:latin typeface="Georgia" pitchFamily="34" charset="0"/>
                <a:ea typeface="Georgia" pitchFamily="34" charset="-122"/>
                <a:cs typeface="Georgia" pitchFamily="34" charset="-120"/>
              </a:rPr>
              <a:t>Summary</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1645920"/>
                <a:gridCol w="1828800"/>
                <a:gridCol w="2377440"/>
                <a:gridCol w="2743200"/>
              </a:tblGrid>
              <a:tr h="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Query</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2B5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Aspatial Answer</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2B5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Spatialized Answer</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2B5C"/>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Generalizable Form</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2B5C"/>
                    </a:solidFill>
                  </a:tcPr>
                </a:tc>
              </a:tr>
              <a:tr h="0">
                <a:tc>
                  <a:txBody>
                    <a:bodyPr/>
                    <a:lstStyle/>
                    <a:p>
                      <a:pPr indent="0" marL="0">
                        <a:buNone/>
                      </a:pPr>
                      <a:r>
                        <a:rPr lang="en-US" sz="950" b="1" dirty="0">
                          <a:solidFill>
                            <a:srgbClr val="D7191C"/>
                          </a:solidFill>
                          <a:latin typeface="Calibri" pitchFamily="34" charset="0"/>
                          <a:ea typeface="Calibri" pitchFamily="34" charset="-122"/>
                          <a:cs typeface="Calibri" pitchFamily="34" charset="-120"/>
                        </a:rPr>
                        <a:t>Cluster Detection</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"Roughly normal."</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5F5"/>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"Two contiguous belts, I=0.614."</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BF5F4"/>
                    </a:solidFill>
                  </a:tcPr>
                </a:tc>
                <a:tc>
                  <a:txBody>
                    <a:bodyPr/>
                    <a:lstStyle/>
                    <a:p>
                      <a:pPr indent="0" marL="0">
                        <a:buNone/>
                      </a:pPr>
                      <a:r>
                        <a:rPr lang="en-US" sz="950" i="1" dirty="0">
                          <a:solidFill>
                            <a:srgbClr val="000000"/>
                          </a:solidFill>
                          <a:latin typeface="Calibri" pitchFamily="34" charset="0"/>
                          <a:ea typeface="Calibri" pitchFamily="34" charset="-122"/>
                          <a:cs typeface="Calibri" pitchFamily="34" charset="-120"/>
                        </a:rPr>
                        <a:t>Does X cluster geographically?</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indent="0" marL="0">
                        <a:buNone/>
                      </a:pPr>
                      <a:r>
                        <a:rPr lang="en-US" sz="950" b="1" dirty="0">
                          <a:solidFill>
                            <a:srgbClr val="C8960C"/>
                          </a:solidFill>
                          <a:latin typeface="Calibri" pitchFamily="34" charset="0"/>
                          <a:ea typeface="Calibri" pitchFamily="34" charset="-122"/>
                          <a:cs typeface="Calibri" pitchFamily="34" charset="-120"/>
                        </a:rPr>
                        <a:t>Spatial Outlier</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"1.2 std below mean."</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5F5"/>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"Low in high neighborhood (LH)."</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BF5F4"/>
                    </a:solidFill>
                  </a:tcPr>
                </a:tc>
                <a:tc>
                  <a:txBody>
                    <a:bodyPr/>
                    <a:lstStyle/>
                    <a:p>
                      <a:pPr indent="0" marL="0">
                        <a:buNone/>
                      </a:pPr>
                      <a:r>
                        <a:rPr lang="en-US" sz="950" i="1" dirty="0">
                          <a:solidFill>
                            <a:srgbClr val="000000"/>
                          </a:solidFill>
                          <a:latin typeface="Calibri" pitchFamily="34" charset="0"/>
                          <a:ea typeface="Calibri" pitchFamily="34" charset="-122"/>
                          <a:cs typeface="Calibri" pitchFamily="34" charset="-120"/>
                        </a:rPr>
                        <a:t>Anomalous vs global or local?</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indent="0" marL="0">
                        <a:buNone/>
                      </a:pPr>
                      <a:r>
                        <a:rPr lang="en-US" sz="950" b="1" dirty="0">
                          <a:solidFill>
                            <a:srgbClr val="B7234C"/>
                          </a:solidFill>
                          <a:latin typeface="Calibri" pitchFamily="34" charset="0"/>
                          <a:ea typeface="Calibri" pitchFamily="34" charset="-122"/>
                          <a:cs typeface="Calibri" pitchFamily="34" charset="-120"/>
                        </a:rPr>
                        <a:t>Absence = Evidence</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"121 had zero women."</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5F5"/>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"I=0.113: random. Institutional."</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BF5F4"/>
                    </a:solidFill>
                  </a:tcPr>
                </a:tc>
                <a:tc>
                  <a:txBody>
                    <a:bodyPr/>
                    <a:lstStyle/>
                    <a:p>
                      <a:pPr indent="0" marL="0">
                        <a:buNone/>
                      </a:pPr>
                      <a:r>
                        <a:rPr lang="en-US" sz="950" i="1" dirty="0">
                          <a:solidFill>
                            <a:srgbClr val="000000"/>
                          </a:solidFill>
                          <a:latin typeface="Calibri" pitchFamily="34" charset="0"/>
                          <a:ea typeface="Calibri" pitchFamily="34" charset="-122"/>
                          <a:cs typeface="Calibri" pitchFamily="34" charset="-120"/>
                        </a:rPr>
                        <a:t>Does non-clustering prove cause?</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indent="0" marL="0">
                        <a:buNone/>
                      </a:pPr>
                      <a:r>
                        <a:rPr lang="en-US" sz="950" b="1" dirty="0">
                          <a:solidFill>
                            <a:srgbClr val="FF9933"/>
                          </a:solidFill>
                          <a:latin typeface="Calibri" pitchFamily="34" charset="0"/>
                          <a:ea typeface="Calibri" pitchFamily="34" charset="-122"/>
                          <a:cs typeface="Calibri" pitchFamily="34" charset="-120"/>
                        </a:rPr>
                        <a:t>Co-location</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"Three separate bar charts."</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5F5"/>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"Same north-south axis."</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BF5F4"/>
                    </a:solidFill>
                  </a:tcPr>
                </a:tc>
                <a:tc>
                  <a:txBody>
                    <a:bodyPr/>
                    <a:lstStyle/>
                    <a:p>
                      <a:pPr indent="0" marL="0">
                        <a:buNone/>
                      </a:pPr>
                      <a:r>
                        <a:rPr lang="en-US" sz="950" i="1" dirty="0">
                          <a:solidFill>
                            <a:srgbClr val="000000"/>
                          </a:solidFill>
                          <a:latin typeface="Calibri" pitchFamily="34" charset="0"/>
                          <a:ea typeface="Calibri" pitchFamily="34" charset="-122"/>
                          <a:cs typeface="Calibri" pitchFamily="34" charset="-120"/>
                        </a:rPr>
                        <a:t>Do disadvantages share geography?</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0">
                <a:tc>
                  <a:txBody>
                    <a:bodyPr/>
                    <a:lstStyle/>
                    <a:p>
                      <a:pPr indent="0" marL="0">
                        <a:buNone/>
                      </a:pPr>
                      <a:r>
                        <a:rPr lang="en-US" sz="950" b="1" dirty="0">
                          <a:solidFill>
                            <a:srgbClr val="00857C"/>
                          </a:solidFill>
                          <a:latin typeface="Calibri" pitchFamily="34" charset="0"/>
                          <a:ea typeface="Calibri" pitchFamily="34" charset="-122"/>
                          <a:cs typeface="Calibri" pitchFamily="34" charset="-120"/>
                        </a:rPr>
                        <a:t>Policy Simulation</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"UP gains 37 seats."</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5F5"/>
                    </a:solidFill>
                  </a:tcPr>
                </a:tc>
                <a:tc>
                  <a:txBody>
                    <a:bodyPr/>
                    <a:lstStyle/>
                    <a:p>
                      <a:pPr indent="0" marL="0">
                        <a:buNone/>
                      </a:pPr>
                      <a:r>
                        <a:rPr lang="en-US" sz="950" dirty="0">
                          <a:solidFill>
                            <a:srgbClr val="000000"/>
                          </a:solidFill>
                          <a:latin typeface="Calibri" pitchFamily="34" charset="0"/>
                          <a:ea typeface="Calibri" pitchFamily="34" charset="-122"/>
                          <a:cs typeface="Calibri" pitchFamily="34" charset="-120"/>
                        </a:rPr>
                        <a:t>"I drops 0.52 to 0.31 at 850."</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BF5F4"/>
                    </a:solidFill>
                  </a:tcPr>
                </a:tc>
                <a:tc>
                  <a:txBody>
                    <a:bodyPr/>
                    <a:lstStyle/>
                    <a:p>
                      <a:pPr indent="0" marL="0">
                        <a:buNone/>
                      </a:pPr>
                      <a:r>
                        <a:rPr lang="en-US" sz="950" i="1" dirty="0">
                          <a:solidFill>
                            <a:srgbClr val="000000"/>
                          </a:solidFill>
                          <a:latin typeface="Calibri" pitchFamily="34" charset="0"/>
                          <a:ea typeface="Calibri" pitchFamily="34" charset="-122"/>
                          <a:cs typeface="Calibri" pitchFamily="34" charset="-120"/>
                        </a:rPr>
                        <a:t>Does intervention change spatial structure?</a:t>
                      </a:r>
                      <a:endParaRPr lang="en-US" sz="9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4" name="Text 1"/>
          <p:cNvSpPr/>
          <p:nvPr/>
        </p:nvSpPr>
        <p:spPr>
          <a:xfrm>
            <a:off x="731520" y="3931920"/>
            <a:ext cx="7680960" cy="457200"/>
          </a:xfrm>
          <a:prstGeom prst="rect">
            <a:avLst/>
          </a:prstGeom>
          <a:noFill/>
          <a:ln/>
        </p:spPr>
        <p:txBody>
          <a:bodyPr wrap="square" lIns="0" tIns="0" rIns="0" bIns="0" rtlCol="0" anchor="ctr"/>
          <a:lstStyle/>
          <a:p>
            <a:pPr indent="0" marL="0">
              <a:buNone/>
            </a:pPr>
            <a:r>
              <a:rPr lang="en-US" sz="1200" i="1" dirty="0">
                <a:solidFill>
                  <a:srgbClr val="00857C"/>
                </a:solidFill>
                <a:latin typeface="Georgia" pitchFamily="34" charset="0"/>
                <a:ea typeface="Georgia" pitchFamily="34" charset="-122"/>
                <a:cs typeface="Georgia" pitchFamily="34" charset="-120"/>
              </a:rPr>
              <a:t>None of these queries have aspatial equivalents. Each requires a neighborhood definition that standard charts do not provide. The visualization engine that answers them is dataset-agnostic.</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2B5C"/>
        </a:solidFill>
      </p:bgPr>
    </p:bg>
    <p:spTree>
      <p:nvGrpSpPr>
        <p:cNvPr id="1" name=""/>
        <p:cNvGrpSpPr/>
        <p:nvPr/>
      </p:nvGrpSpPr>
      <p:grpSpPr>
        <a:xfrm>
          <a:off x="0" y="0"/>
          <a:ext cx="0" cy="0"/>
          <a:chOff x="0" y="0"/>
          <a:chExt cx="0" cy="0"/>
        </a:xfrm>
      </p:grpSpPr>
      <p:sp>
        <p:nvSpPr>
          <p:cNvPr id="2" name="Text 0"/>
          <p:cNvSpPr/>
          <p:nvPr/>
        </p:nvSpPr>
        <p:spPr>
          <a:xfrm>
            <a:off x="731520" y="1097280"/>
            <a:ext cx="7680960" cy="73152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3" name="Text 1"/>
          <p:cNvSpPr/>
          <p:nvPr/>
        </p:nvSpPr>
        <p:spPr>
          <a:xfrm>
            <a:off x="731520" y="2286000"/>
            <a:ext cx="7680960" cy="731520"/>
          </a:xfrm>
          <a:prstGeom prst="rect">
            <a:avLst/>
          </a:prstGeom>
          <a:noFill/>
          <a:ln/>
        </p:spPr>
        <p:txBody>
          <a:bodyPr wrap="square" lIns="0" tIns="0" rIns="0" bIns="0" rtlCol="0" anchor="ctr"/>
          <a:lstStyle/>
          <a:p>
            <a:pPr indent="0" marL="0">
              <a:buNone/>
            </a:pPr>
            <a:r>
              <a:rPr lang="en-US" sz="1300" dirty="0">
                <a:solidFill>
                  <a:srgbClr val="BBBBBB"/>
                </a:solidFill>
                <a:latin typeface="Calibri" pitchFamily="34" charset="0"/>
                <a:ea typeface="Calibri" pitchFamily="34" charset="-122"/>
                <a:cs typeface="Calibri" pitchFamily="34" charset="-120"/>
              </a:rPr>
              <a:t>Vishakha Agrawal    |    Malini Krishnan</a:t>
            </a:r>
            <a:endParaRPr lang="en-US" sz="1300" dirty="0"/>
          </a:p>
          <a:p>
            <a:pPr indent="0" marL="0">
              <a:buNone/>
            </a:pPr>
            <a:r>
              <a:rPr lang="en-US" sz="1300" dirty="0">
                <a:solidFill>
                  <a:srgbClr val="BBBBBB"/>
                </a:solidFill>
                <a:latin typeface="Calibri" pitchFamily="34" charset="0"/>
                <a:ea typeface="Calibri" pitchFamily="34" charset="-122"/>
                <a:cs typeface="Calibri" pitchFamily="34" charset="-120"/>
              </a:rPr>
              <a:t>Lab for Spatial Informatics  |  IIIT Hyderabad</a:t>
            </a:r>
            <a:endParaRPr lang="en-US" sz="1300" dirty="0"/>
          </a:p>
          <a:p>
            <a:pPr indent="0" marL="0">
              <a:buNone/>
            </a:pPr>
            <a:r>
              <a:rPr lang="en-US" sz="1300" dirty="0">
                <a:solidFill>
                  <a:srgbClr val="BBBBBB"/>
                </a:solidFill>
                <a:latin typeface="Calibri" pitchFamily="34" charset="0"/>
                <a:ea typeface="Calibri" pitchFamily="34" charset="-122"/>
                <a:cs typeface="Calibri" pitchFamily="34" charset="-120"/>
              </a:rPr>
              <a:t>Advisors: Kuldeep Kurte, K.S. Rajan</a:t>
            </a:r>
            <a:endParaRPr lang="en-US" sz="1300" dirty="0"/>
          </a:p>
        </p:txBody>
      </p:sp>
      <p:sp>
        <p:nvSpPr>
          <p:cNvPr id="4" name="Text 2"/>
          <p:cNvSpPr/>
          <p:nvPr/>
        </p:nvSpPr>
        <p:spPr>
          <a:xfrm>
            <a:off x="731520" y="3474720"/>
            <a:ext cx="7680960" cy="457200"/>
          </a:xfrm>
          <a:prstGeom prst="rect">
            <a:avLst/>
          </a:prstGeom>
          <a:noFill/>
          <a:ln/>
        </p:spPr>
        <p:txBody>
          <a:bodyPr wrap="square" lIns="0" tIns="0" rIns="0" bIns="0" rtlCol="0" anchor="ctr"/>
          <a:lstStyle/>
          <a:p>
            <a:pPr indent="0" marL="0">
              <a:buNone/>
            </a:pPr>
            <a:r>
              <a:rPr lang="en-US" sz="1200" dirty="0">
                <a:solidFill>
                  <a:srgbClr val="00857C"/>
                </a:solidFill>
                <a:latin typeface="Calibri" pitchFamily="34" charset="0"/>
                <a:ea typeface="Calibri" pitchFamily="34" charset="-122"/>
                <a:cs typeface="Calibri" pitchFamily="34" charset="-120"/>
              </a:rPr>
              <a:t>Five generalizable query classes  |  Two core spatializations</a:t>
            </a:r>
            <a:endParaRPr lang="en-US" sz="1200" dirty="0"/>
          </a:p>
          <a:p>
            <a:pPr indent="0" marL="0">
              <a:buNone/>
            </a:pPr>
            <a:r>
              <a:rPr lang="en-US" sz="1200" dirty="0">
                <a:solidFill>
                  <a:srgbClr val="00857C"/>
                </a:solidFill>
                <a:latin typeface="Calibri" pitchFamily="34" charset="0"/>
                <a:ea typeface="Calibri" pitchFamily="34" charset="-122"/>
                <a:cs typeface="Calibri" pitchFamily="34" charset="-120"/>
              </a:rPr>
              <a:t>30 use-case charts  |  One dataset-agnostic engine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2026-04-20T13:35:53Z</dcterms:created>
  <dcterms:modified xsi:type="dcterms:W3CDTF">2026-04-20T13:35:53Z</dcterms:modified>
</cp:coreProperties>
</file>