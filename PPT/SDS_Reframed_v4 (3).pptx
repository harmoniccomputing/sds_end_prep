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2.xml.rels" ContentType="application/vnd.openxmlformats-package.relationships+xml"/>
  <Override PartName="/ppt/notesSlides/_rels/notesSlide11.xml.rels" ContentType="application/vnd.openxmlformats-package.relationships+xml"/>
  <Override PartName="/ppt/notesSlides/_rels/notesSlide26.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25.xml.rels" ContentType="application/vnd.openxmlformats-package.relationships+xml"/>
  <Override PartName="/ppt/notesSlides/_rels/notesSlide21.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5.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18.xml.rels" ContentType="application/vnd.openxmlformats-package.relationships+xml"/>
  <Override PartName="/ppt/notesSlides/_rels/notesSlide12.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6.xml.rels" ContentType="application/vnd.openxmlformats-package.relationships+xml"/>
  <Override PartName="/ppt/notesSlides/_rels/notesSlide15.xml.rels" ContentType="application/vnd.openxmlformats-package.relationships+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8.xml" ContentType="application/vnd.openxmlformats-officedocument.presentationml.notesSlide+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7.xml" ContentType="application/vnd.openxmlformats-officedocument.presentationml.notesSlide+xml"/>
  <Override PartName="/ppt/notesSlides/notesSlide16.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6.xml" ContentType="application/vnd.openxmlformats-officedocument.presentationml.notesSlide+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_rels/slide17.xml.rels" ContentType="application/vnd.openxmlformats-package.relationships+xml"/>
  <Override PartName="/ppt/slides/_rels/slide18.xml.rels" ContentType="application/vnd.openxmlformats-package.relationships+xml"/>
  <Override PartName="/ppt/slides/_rels/slide20.xml.rels" ContentType="application/vnd.openxmlformats-package.relationships+xml"/>
  <Override PartName="/ppt/slides/_rels/slide2.xml.rels" ContentType="application/vnd.openxmlformats-package.relationships+xml"/>
  <Override PartName="/ppt/slides/_rels/slide19.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23.xml.rels" ContentType="application/vnd.openxmlformats-package.relationships+xml"/>
  <Override PartName="/ppt/slides/_rels/slide14.xml.rels" ContentType="application/vnd.openxmlformats-package.relationships+xml"/>
  <Override PartName="/ppt/slides/_rels/slide24.xml.rels" ContentType="application/vnd.openxmlformats-package.relationships+xml"/>
  <Override PartName="/ppt/slides/_rels/slide15.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slide16.xml" ContentType="application/vnd.openxmlformats-officedocument.presentationml.slide+xml"/>
  <Override PartName="/ppt/slides/slide1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rgbClr val="000000"/>
                </a:solidFill>
                <a:latin typeface="Calibri"/>
              </a:rPr>
              <a:t>Click to move the slide</a:t>
            </a:r>
            <a:endParaRPr b="0" lang="en-US" sz="1800" spc="-1" strike="noStrike">
              <a:solidFill>
                <a:srgbClr val="000000"/>
              </a:solidFill>
              <a:latin typeface="Calibri"/>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0AF26894-0C72-4953-8499-A435FE0E326C}"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type="sldImg"/>
          </p:nvPr>
        </p:nvSpPr>
        <p:spPr>
          <a:xfrm>
            <a:off x="685800" y="1143000"/>
            <a:ext cx="5486040" cy="3085920"/>
          </a:xfrm>
          <a:prstGeom prst="rect">
            <a:avLst/>
          </a:prstGeom>
          <a:ln w="0">
            <a:noFill/>
          </a:ln>
        </p:spPr>
      </p:sp>
      <p:sp>
        <p:nvSpPr>
          <p:cNvPr id="301"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02" name="PlaceHolder 3"/>
          <p:cNvSpPr>
            <a:spLocks noGrp="1"/>
          </p:cNvSpPr>
          <p:nvPr>
            <p:ph type="sldNum" idx="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908F5B4-1A2E-4F27-8C85-F3F78136B16A}"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PlaceHolder 1"/>
          <p:cNvSpPr>
            <a:spLocks noGrp="1"/>
          </p:cNvSpPr>
          <p:nvPr>
            <p:ph type="sldImg"/>
          </p:nvPr>
        </p:nvSpPr>
        <p:spPr>
          <a:xfrm>
            <a:off x="685800" y="1143000"/>
            <a:ext cx="5486040" cy="3085920"/>
          </a:xfrm>
          <a:prstGeom prst="rect">
            <a:avLst/>
          </a:prstGeom>
          <a:ln w="0">
            <a:noFill/>
          </a:ln>
        </p:spPr>
      </p:sp>
      <p:sp>
        <p:nvSpPr>
          <p:cNvPr id="30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05" name="PlaceHolder 3"/>
          <p:cNvSpPr>
            <a:spLocks noGrp="1"/>
          </p:cNvSpPr>
          <p:nvPr>
            <p:ph type="sldNum" idx="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E4768ED-CCCB-4C5B-BA28-BA1BF55A027D}"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sldImg"/>
          </p:nvPr>
        </p:nvSpPr>
        <p:spPr>
          <a:xfrm>
            <a:off x="685800" y="1143000"/>
            <a:ext cx="5486040" cy="3085920"/>
          </a:xfrm>
          <a:prstGeom prst="rect">
            <a:avLst/>
          </a:prstGeom>
          <a:ln w="0">
            <a:noFill/>
          </a:ln>
        </p:spPr>
      </p:sp>
      <p:sp>
        <p:nvSpPr>
          <p:cNvPr id="307"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08" name="PlaceHolder 3"/>
          <p:cNvSpPr>
            <a:spLocks noGrp="1"/>
          </p:cNvSpPr>
          <p:nvPr>
            <p:ph type="sldNum" idx="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0FFC5883-C0DA-46EC-A485-2F70FA8B7D07}"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sldImg"/>
          </p:nvPr>
        </p:nvSpPr>
        <p:spPr>
          <a:xfrm>
            <a:off x="685800" y="1143000"/>
            <a:ext cx="5486040" cy="3085920"/>
          </a:xfrm>
          <a:prstGeom prst="rect">
            <a:avLst/>
          </a:prstGeom>
          <a:ln w="0">
            <a:noFill/>
          </a:ln>
        </p:spPr>
      </p:sp>
      <p:sp>
        <p:nvSpPr>
          <p:cNvPr id="310"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11" name="PlaceHolder 3"/>
          <p:cNvSpPr>
            <a:spLocks noGrp="1"/>
          </p:cNvSpPr>
          <p:nvPr>
            <p:ph type="sldNum" idx="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06B06920-916D-4FA1-BCE7-C4F5EBF28846}"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type="sldImg"/>
          </p:nvPr>
        </p:nvSpPr>
        <p:spPr>
          <a:xfrm>
            <a:off x="685800" y="1143000"/>
            <a:ext cx="5486040" cy="3085920"/>
          </a:xfrm>
          <a:prstGeom prst="rect">
            <a:avLst/>
          </a:prstGeom>
          <a:ln w="0">
            <a:noFill/>
          </a:ln>
        </p:spPr>
      </p:sp>
      <p:sp>
        <p:nvSpPr>
          <p:cNvPr id="31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14" name="PlaceHolder 3"/>
          <p:cNvSpPr>
            <a:spLocks noGrp="1"/>
          </p:cNvSpPr>
          <p:nvPr>
            <p:ph type="sldNum" idx="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15C4AFD-7D31-49F1-B833-9BCBB7DA3C67}"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PlaceHolder 1"/>
          <p:cNvSpPr>
            <a:spLocks noGrp="1"/>
          </p:cNvSpPr>
          <p:nvPr>
            <p:ph type="sldImg"/>
          </p:nvPr>
        </p:nvSpPr>
        <p:spPr>
          <a:xfrm>
            <a:off x="685800" y="1143000"/>
            <a:ext cx="5486040" cy="3085920"/>
          </a:xfrm>
          <a:prstGeom prst="rect">
            <a:avLst/>
          </a:prstGeom>
          <a:ln w="0">
            <a:noFill/>
          </a:ln>
        </p:spPr>
      </p:sp>
      <p:sp>
        <p:nvSpPr>
          <p:cNvPr id="31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17" name="PlaceHolder 3"/>
          <p:cNvSpPr>
            <a:spLocks noGrp="1"/>
          </p:cNvSpPr>
          <p:nvPr>
            <p:ph type="sldNum" idx="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7C1DBE09-E079-4CEB-89C5-71175ECE3FD9}"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PlaceHolder 1"/>
          <p:cNvSpPr>
            <a:spLocks noGrp="1"/>
          </p:cNvSpPr>
          <p:nvPr>
            <p:ph type="sldImg"/>
          </p:nvPr>
        </p:nvSpPr>
        <p:spPr>
          <a:xfrm>
            <a:off x="685800" y="1143000"/>
            <a:ext cx="5486040" cy="3085920"/>
          </a:xfrm>
          <a:prstGeom prst="rect">
            <a:avLst/>
          </a:prstGeom>
          <a:ln w="0">
            <a:noFill/>
          </a:ln>
        </p:spPr>
      </p:sp>
      <p:sp>
        <p:nvSpPr>
          <p:cNvPr id="31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20" name="PlaceHolder 3"/>
          <p:cNvSpPr>
            <a:spLocks noGrp="1"/>
          </p:cNvSpPr>
          <p:nvPr>
            <p:ph type="sldNum" idx="10"/>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8950261-90DA-4B29-8EC7-877C1DCC26F1}"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type="sldImg"/>
          </p:nvPr>
        </p:nvSpPr>
        <p:spPr>
          <a:xfrm>
            <a:off x="685800" y="1143000"/>
            <a:ext cx="5486040" cy="3085920"/>
          </a:xfrm>
          <a:prstGeom prst="rect">
            <a:avLst/>
          </a:prstGeom>
          <a:ln w="0">
            <a:noFill/>
          </a:ln>
        </p:spPr>
      </p:sp>
      <p:sp>
        <p:nvSpPr>
          <p:cNvPr id="32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23" name="PlaceHolder 3"/>
          <p:cNvSpPr>
            <a:spLocks noGrp="1"/>
          </p:cNvSpPr>
          <p:nvPr>
            <p:ph type="sldNum" idx="1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09372CE3-9F98-4FFD-8A40-2D341A8EC79E}"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PlaceHolder 1"/>
          <p:cNvSpPr>
            <a:spLocks noGrp="1"/>
          </p:cNvSpPr>
          <p:nvPr>
            <p:ph type="sldImg"/>
          </p:nvPr>
        </p:nvSpPr>
        <p:spPr>
          <a:xfrm>
            <a:off x="685800" y="1143000"/>
            <a:ext cx="5486040" cy="3085920"/>
          </a:xfrm>
          <a:prstGeom prst="rect">
            <a:avLst/>
          </a:prstGeom>
          <a:ln w="0">
            <a:noFill/>
          </a:ln>
        </p:spPr>
      </p:sp>
      <p:sp>
        <p:nvSpPr>
          <p:cNvPr id="32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26" name="PlaceHolder 3"/>
          <p:cNvSpPr>
            <a:spLocks noGrp="1"/>
          </p:cNvSpPr>
          <p:nvPr>
            <p:ph type="sldNum" idx="1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1A2C6DC-10AA-4798-BD9F-819F9AEBC4D7}"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PlaceHolder 1"/>
          <p:cNvSpPr>
            <a:spLocks noGrp="1"/>
          </p:cNvSpPr>
          <p:nvPr>
            <p:ph type="sldImg"/>
          </p:nvPr>
        </p:nvSpPr>
        <p:spPr>
          <a:xfrm>
            <a:off x="685800" y="1143000"/>
            <a:ext cx="5486040" cy="3085920"/>
          </a:xfrm>
          <a:prstGeom prst="rect">
            <a:avLst/>
          </a:prstGeom>
          <a:ln w="0">
            <a:noFill/>
          </a:ln>
        </p:spPr>
      </p:sp>
      <p:sp>
        <p:nvSpPr>
          <p:cNvPr id="328"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29" name="PlaceHolder 3"/>
          <p:cNvSpPr>
            <a:spLocks noGrp="1"/>
          </p:cNvSpPr>
          <p:nvPr>
            <p:ph type="sldNum" idx="1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EA88E64-3D53-499A-BB6F-513BF5CDF24D}"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sldImg"/>
          </p:nvPr>
        </p:nvSpPr>
        <p:spPr>
          <a:xfrm>
            <a:off x="685800" y="1143000"/>
            <a:ext cx="5486040" cy="3085920"/>
          </a:xfrm>
          <a:prstGeom prst="rect">
            <a:avLst/>
          </a:prstGeom>
          <a:ln w="0">
            <a:noFill/>
          </a:ln>
        </p:spPr>
      </p:sp>
      <p:sp>
        <p:nvSpPr>
          <p:cNvPr id="331"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32" name="PlaceHolder 3"/>
          <p:cNvSpPr>
            <a:spLocks noGrp="1"/>
          </p:cNvSpPr>
          <p:nvPr>
            <p:ph type="sldNum" idx="1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E1A327F-2B6A-44AC-AF59-C7F864ED45D2}"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PlaceHolder 1"/>
          <p:cNvSpPr>
            <a:spLocks noGrp="1"/>
          </p:cNvSpPr>
          <p:nvPr>
            <p:ph type="sldImg"/>
          </p:nvPr>
        </p:nvSpPr>
        <p:spPr>
          <a:xfrm>
            <a:off x="685800" y="1143000"/>
            <a:ext cx="5486040" cy="3085920"/>
          </a:xfrm>
          <a:prstGeom prst="rect">
            <a:avLst/>
          </a:prstGeom>
          <a:ln w="0">
            <a:noFill/>
          </a:ln>
        </p:spPr>
      </p:sp>
      <p:sp>
        <p:nvSpPr>
          <p:cNvPr id="33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35" name="PlaceHolder 3"/>
          <p:cNvSpPr>
            <a:spLocks noGrp="1"/>
          </p:cNvSpPr>
          <p:nvPr>
            <p:ph type="sldNum" idx="1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0BBB4512-42E9-4DE5-A22B-65B4970C3BFF}"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sldImg"/>
          </p:nvPr>
        </p:nvSpPr>
        <p:spPr>
          <a:xfrm>
            <a:off x="685800" y="1143000"/>
            <a:ext cx="5486040" cy="3085920"/>
          </a:xfrm>
          <a:prstGeom prst="rect">
            <a:avLst/>
          </a:prstGeom>
          <a:ln w="0">
            <a:noFill/>
          </a:ln>
        </p:spPr>
      </p:sp>
      <p:sp>
        <p:nvSpPr>
          <p:cNvPr id="337"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38" name="PlaceHolder 3"/>
          <p:cNvSpPr>
            <a:spLocks noGrp="1"/>
          </p:cNvSpPr>
          <p:nvPr>
            <p:ph type="sldNum" idx="1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20E6835-41B9-42BC-880F-38611210DB27}"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sldImg"/>
          </p:nvPr>
        </p:nvSpPr>
        <p:spPr>
          <a:xfrm>
            <a:off x="685800" y="1143000"/>
            <a:ext cx="5486040" cy="3085920"/>
          </a:xfrm>
          <a:prstGeom prst="rect">
            <a:avLst/>
          </a:prstGeom>
          <a:ln w="0">
            <a:noFill/>
          </a:ln>
        </p:spPr>
      </p:sp>
      <p:sp>
        <p:nvSpPr>
          <p:cNvPr id="340"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41" name="PlaceHolder 3"/>
          <p:cNvSpPr>
            <a:spLocks noGrp="1"/>
          </p:cNvSpPr>
          <p:nvPr>
            <p:ph type="sldNum" idx="1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82DB9BF-5A43-4222-AC8D-79E6F2A14B29}"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sldImg"/>
          </p:nvPr>
        </p:nvSpPr>
        <p:spPr>
          <a:xfrm>
            <a:off x="685800" y="1143000"/>
            <a:ext cx="5486040" cy="3085920"/>
          </a:xfrm>
          <a:prstGeom prst="rect">
            <a:avLst/>
          </a:prstGeom>
          <a:ln w="0">
            <a:noFill/>
          </a:ln>
        </p:spPr>
      </p:sp>
      <p:sp>
        <p:nvSpPr>
          <p:cNvPr id="34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44" name="PlaceHolder 3"/>
          <p:cNvSpPr>
            <a:spLocks noGrp="1"/>
          </p:cNvSpPr>
          <p:nvPr>
            <p:ph type="sldNum" idx="1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93B4DB93-B39E-4B80-AABB-CC2B8C8D9E23}"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PlaceHolder 1"/>
          <p:cNvSpPr>
            <a:spLocks noGrp="1"/>
          </p:cNvSpPr>
          <p:nvPr>
            <p:ph type="sldImg"/>
          </p:nvPr>
        </p:nvSpPr>
        <p:spPr>
          <a:xfrm>
            <a:off x="685800" y="1143000"/>
            <a:ext cx="5486040" cy="3085920"/>
          </a:xfrm>
          <a:prstGeom prst="rect">
            <a:avLst/>
          </a:prstGeom>
          <a:ln w="0">
            <a:noFill/>
          </a:ln>
        </p:spPr>
      </p:sp>
      <p:sp>
        <p:nvSpPr>
          <p:cNvPr id="34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47" name="PlaceHolder 3"/>
          <p:cNvSpPr>
            <a:spLocks noGrp="1"/>
          </p:cNvSpPr>
          <p:nvPr>
            <p:ph type="sldNum" idx="1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222617BF-F45B-480B-9CEA-62DC371D9C3D}"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sldImg"/>
          </p:nvPr>
        </p:nvSpPr>
        <p:spPr>
          <a:xfrm>
            <a:off x="685800" y="1143000"/>
            <a:ext cx="5486040" cy="3085920"/>
          </a:xfrm>
          <a:prstGeom prst="rect">
            <a:avLst/>
          </a:prstGeom>
          <a:ln w="0">
            <a:noFill/>
          </a:ln>
        </p:spPr>
      </p:sp>
      <p:sp>
        <p:nvSpPr>
          <p:cNvPr id="34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50" name="PlaceHolder 3"/>
          <p:cNvSpPr>
            <a:spLocks noGrp="1"/>
          </p:cNvSpPr>
          <p:nvPr>
            <p:ph type="sldNum" idx="20"/>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687BACA-3F1D-4A59-BF33-E4833B6BEFF1}"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sldImg"/>
          </p:nvPr>
        </p:nvSpPr>
        <p:spPr>
          <a:xfrm>
            <a:off x="685800" y="1143000"/>
            <a:ext cx="5486040" cy="3085920"/>
          </a:xfrm>
          <a:prstGeom prst="rect">
            <a:avLst/>
          </a:prstGeom>
          <a:ln w="0">
            <a:noFill/>
          </a:ln>
        </p:spPr>
      </p:sp>
      <p:sp>
        <p:nvSpPr>
          <p:cNvPr id="35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53" name="PlaceHolder 3"/>
          <p:cNvSpPr>
            <a:spLocks noGrp="1"/>
          </p:cNvSpPr>
          <p:nvPr>
            <p:ph type="sldNum" idx="2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D4BF825-58A7-407C-A03C-77BF3D8F5758}"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sldImg"/>
          </p:nvPr>
        </p:nvSpPr>
        <p:spPr>
          <a:xfrm>
            <a:off x="685800" y="1143000"/>
            <a:ext cx="5486040" cy="3085920"/>
          </a:xfrm>
          <a:prstGeom prst="rect">
            <a:avLst/>
          </a:prstGeom>
          <a:ln w="0">
            <a:noFill/>
          </a:ln>
        </p:spPr>
      </p:sp>
      <p:sp>
        <p:nvSpPr>
          <p:cNvPr id="35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56" name="PlaceHolder 3"/>
          <p:cNvSpPr>
            <a:spLocks noGrp="1"/>
          </p:cNvSpPr>
          <p:nvPr>
            <p:ph type="sldNum" idx="2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7244CC01-2307-4E50-AF1C-20C3E4C64860}"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sldImg"/>
          </p:nvPr>
        </p:nvSpPr>
        <p:spPr>
          <a:xfrm>
            <a:off x="685800" y="1143000"/>
            <a:ext cx="5486040" cy="3085920"/>
          </a:xfrm>
          <a:prstGeom prst="rect">
            <a:avLst/>
          </a:prstGeom>
          <a:ln w="0">
            <a:noFill/>
          </a:ln>
        </p:spPr>
      </p:sp>
      <p:sp>
        <p:nvSpPr>
          <p:cNvPr id="358"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59" name="PlaceHolder 3"/>
          <p:cNvSpPr>
            <a:spLocks noGrp="1"/>
          </p:cNvSpPr>
          <p:nvPr>
            <p:ph type="sldNum" idx="2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5C3053C-8B25-47B0-B4FF-E31F090C3572}"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sldImg"/>
          </p:nvPr>
        </p:nvSpPr>
        <p:spPr>
          <a:xfrm>
            <a:off x="685800" y="1143000"/>
            <a:ext cx="5486040" cy="3085920"/>
          </a:xfrm>
          <a:prstGeom prst="rect">
            <a:avLst/>
          </a:prstGeom>
          <a:ln w="0">
            <a:noFill/>
          </a:ln>
        </p:spPr>
      </p:sp>
      <p:sp>
        <p:nvSpPr>
          <p:cNvPr id="361"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2" name="PlaceHolder 3"/>
          <p:cNvSpPr>
            <a:spLocks noGrp="1"/>
          </p:cNvSpPr>
          <p:nvPr>
            <p:ph type="sldNum" idx="2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9B324FD-9C18-4D9C-A71F-9CD227F50D06}"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sldImg"/>
          </p:nvPr>
        </p:nvSpPr>
        <p:spPr>
          <a:xfrm>
            <a:off x="685800" y="1143000"/>
            <a:ext cx="5486040" cy="3085920"/>
          </a:xfrm>
          <a:prstGeom prst="rect">
            <a:avLst/>
          </a:prstGeom>
          <a:ln w="0">
            <a:noFill/>
          </a:ln>
        </p:spPr>
      </p:sp>
      <p:sp>
        <p:nvSpPr>
          <p:cNvPr id="36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5" name="PlaceHolder 3"/>
          <p:cNvSpPr>
            <a:spLocks noGrp="1"/>
          </p:cNvSpPr>
          <p:nvPr>
            <p:ph type="sldNum" idx="2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027BDD8-4A37-4B5D-8287-5AC4A7DC95DC}"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sldImg"/>
          </p:nvPr>
        </p:nvSpPr>
        <p:spPr>
          <a:xfrm>
            <a:off x="685800" y="1143000"/>
            <a:ext cx="5486040" cy="3085920"/>
          </a:xfrm>
          <a:prstGeom prst="rect">
            <a:avLst/>
          </a:prstGeom>
          <a:ln w="0">
            <a:noFill/>
          </a:ln>
        </p:spPr>
      </p:sp>
      <p:sp>
        <p:nvSpPr>
          <p:cNvPr id="367"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8" name="PlaceHolder 3"/>
          <p:cNvSpPr>
            <a:spLocks noGrp="1"/>
          </p:cNvSpPr>
          <p:nvPr>
            <p:ph type="sldNum" idx="2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4948A12-B5FC-4590-B761-7389A11FE41C}"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PlaceHolder 1"/>
          <p:cNvSpPr>
            <a:spLocks noGrp="1"/>
          </p:cNvSpPr>
          <p:nvPr>
            <p:ph type="sldImg"/>
          </p:nvPr>
        </p:nvSpPr>
        <p:spPr>
          <a:xfrm>
            <a:off x="685800" y="1143000"/>
            <a:ext cx="5486040" cy="3085920"/>
          </a:xfrm>
          <a:prstGeom prst="rect">
            <a:avLst/>
          </a:prstGeom>
          <a:ln w="0">
            <a:noFill/>
          </a:ln>
        </p:spPr>
      </p:sp>
      <p:sp>
        <p:nvSpPr>
          <p:cNvPr id="370"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71" name="PlaceHolder 3"/>
          <p:cNvSpPr>
            <a:spLocks noGrp="1"/>
          </p:cNvSpPr>
          <p:nvPr>
            <p:ph type="sldNum" idx="2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0198A5B-ECB0-46C0-AF2D-C74B5160F29E}"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sldImg"/>
          </p:nvPr>
        </p:nvSpPr>
        <p:spPr>
          <a:xfrm>
            <a:off x="685800" y="1143000"/>
            <a:ext cx="5486040" cy="3085920"/>
          </a:xfrm>
          <a:prstGeom prst="rect">
            <a:avLst/>
          </a:prstGeom>
          <a:ln w="0">
            <a:noFill/>
          </a:ln>
        </p:spPr>
      </p:sp>
      <p:sp>
        <p:nvSpPr>
          <p:cNvPr id="37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74" name="PlaceHolder 3"/>
          <p:cNvSpPr>
            <a:spLocks noGrp="1"/>
          </p:cNvSpPr>
          <p:nvPr>
            <p:ph type="sldNum" idx="2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0900A8B-D5DD-483F-8207-013A96EE85D6}"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sldImg"/>
          </p:nvPr>
        </p:nvSpPr>
        <p:spPr>
          <a:xfrm>
            <a:off x="685800" y="1143000"/>
            <a:ext cx="5486040" cy="3085920"/>
          </a:xfrm>
          <a:prstGeom prst="rect">
            <a:avLst/>
          </a:prstGeom>
          <a:ln w="0">
            <a:noFill/>
          </a:ln>
        </p:spPr>
      </p:sp>
      <p:sp>
        <p:nvSpPr>
          <p:cNvPr id="37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77" name="PlaceHolder 3"/>
          <p:cNvSpPr>
            <a:spLocks noGrp="1"/>
          </p:cNvSpPr>
          <p:nvPr>
            <p:ph type="sldNum" idx="2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2545DFB-11ED-4EC7-8EF5-7C0A9D8AA5EB}"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8"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2"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4"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5"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0"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2"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3"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4"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5"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6"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7"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r>
              <a:rPr b="0" lang="en-US" sz="1800" spc="-1" strike="noStrike">
                <a:solidFill>
                  <a:srgbClr val="000000"/>
                </a:solidFill>
                <a:latin typeface="Calibri"/>
              </a:rPr>
              <a:t>Click to edit the title text format</a:t>
            </a:r>
            <a:endParaRPr b="0" lang="en-US" sz="1800" spc="-1" strike="noStrike">
              <a:solidFill>
                <a:srgbClr val="000000"/>
              </a:solidFill>
              <a:latin typeface="Calibri"/>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Click to edit the outline text format</a:t>
            </a:r>
            <a:endParaRPr b="0" lang="en-US"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Calibri"/>
              </a:rPr>
              <a:t>Second Outline Level</a:t>
            </a:r>
            <a:endParaRPr b="0" lang="en-US"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Calibri"/>
              </a:rPr>
              <a:t>Third Outline Level</a:t>
            </a:r>
            <a:endParaRPr b="0" lang="en-US"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Calibri"/>
              </a:rPr>
              <a:t>Fourth Outline Level</a:t>
            </a:r>
            <a:endParaRPr b="0" lang="en-US"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Seventh Outline 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2b5c"/>
        </a:solidFill>
      </p:bgPr>
    </p:bg>
    <p:spTree>
      <p:nvGrpSpPr>
        <p:cNvPr id="1" name=""/>
        <p:cNvGrpSpPr/>
        <p:nvPr/>
      </p:nvGrpSpPr>
      <p:grpSpPr>
        <a:xfrm>
          <a:off x="0" y="0"/>
          <a:ext cx="0" cy="0"/>
          <a:chOff x="0" y="0"/>
          <a:chExt cx="0" cy="0"/>
        </a:xfrm>
      </p:grpSpPr>
      <p:sp>
        <p:nvSpPr>
          <p:cNvPr id="44" name="Text 0"/>
          <p:cNvSpPr/>
          <p:nvPr/>
        </p:nvSpPr>
        <p:spPr>
          <a:xfrm>
            <a:off x="731520" y="1097280"/>
            <a:ext cx="7680600" cy="73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3600" spc="-1" strike="noStrike">
                <a:solidFill>
                  <a:srgbClr val="ffffff"/>
                </a:solidFill>
                <a:latin typeface="Georgia"/>
                <a:ea typeface="Georgia"/>
              </a:rPr>
              <a:t>Spatializing Statistical Charts</a:t>
            </a:r>
            <a:endParaRPr b="0" lang="en-US" sz="3600" spc="-1" strike="noStrike">
              <a:latin typeface="Arial"/>
            </a:endParaRPr>
          </a:p>
        </p:txBody>
      </p:sp>
      <p:sp>
        <p:nvSpPr>
          <p:cNvPr id="45" name="Text 1"/>
          <p:cNvSpPr/>
          <p:nvPr/>
        </p:nvSpPr>
        <p:spPr>
          <a:xfrm>
            <a:off x="731520" y="2011680"/>
            <a:ext cx="7680600" cy="6397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600" spc="-1" strike="noStrike">
                <a:solidFill>
                  <a:srgbClr val="00857c"/>
                </a:solidFill>
                <a:latin typeface="Calibri"/>
                <a:ea typeface="Calibri"/>
              </a:rPr>
              <a:t>Design and Implementation of a Visualization Engine</a:t>
            </a:r>
            <a:endParaRPr b="0" lang="en-US" sz="1600" spc="-1" strike="noStrike">
              <a:latin typeface="Arial"/>
            </a:endParaRPr>
          </a:p>
          <a:p>
            <a:pPr>
              <a:lnSpc>
                <a:spcPct val="100000"/>
              </a:lnSpc>
              <a:buNone/>
              <a:tabLst>
                <a:tab algn="l" pos="0"/>
              </a:tabLst>
            </a:pPr>
            <a:r>
              <a:rPr b="0" lang="en-US" sz="1600" spc="-1" strike="noStrike">
                <a:solidFill>
                  <a:srgbClr val="00857c"/>
                </a:solidFill>
                <a:latin typeface="Calibri"/>
                <a:ea typeface="Calibri"/>
              </a:rPr>
              <a:t>for Exploratory Spatial Data Analysis</a:t>
            </a:r>
            <a:endParaRPr b="0" lang="en-US" sz="1600" spc="-1" strike="noStrike">
              <a:latin typeface="Arial"/>
            </a:endParaRPr>
          </a:p>
        </p:txBody>
      </p:sp>
      <p:sp>
        <p:nvSpPr>
          <p:cNvPr id="46" name="Text 2"/>
          <p:cNvSpPr/>
          <p:nvPr/>
        </p:nvSpPr>
        <p:spPr>
          <a:xfrm>
            <a:off x="731520" y="3017520"/>
            <a:ext cx="7680600" cy="5482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300" spc="-1" strike="noStrike">
                <a:solidFill>
                  <a:srgbClr val="bbbbbb"/>
                </a:solidFill>
                <a:latin typeface="Calibri"/>
                <a:ea typeface="Calibri"/>
              </a:rPr>
              <a:t>Application: India's 2024 Lok Sabha Election</a:t>
            </a:r>
            <a:endParaRPr b="0" lang="en-US" sz="1300" spc="-1" strike="noStrike">
              <a:latin typeface="Arial"/>
            </a:endParaRPr>
          </a:p>
          <a:p>
            <a:pPr>
              <a:lnSpc>
                <a:spcPct val="100000"/>
              </a:lnSpc>
              <a:buNone/>
              <a:tabLst>
                <a:tab algn="l" pos="0"/>
              </a:tabLst>
            </a:pPr>
            <a:r>
              <a:rPr b="0" lang="en-US" sz="1300" spc="-1" strike="noStrike">
                <a:solidFill>
                  <a:srgbClr val="bbbbbb"/>
                </a:solidFill>
                <a:latin typeface="Calibri"/>
                <a:ea typeface="Calibri"/>
              </a:rPr>
              <a:t>543 Constituencies  |  642 Million Voters  |  8,902 Candidates</a:t>
            </a:r>
            <a:endParaRPr b="0" lang="en-US" sz="1300" spc="-1" strike="noStrike">
              <a:latin typeface="Arial"/>
            </a:endParaRPr>
          </a:p>
        </p:txBody>
      </p:sp>
      <p:sp>
        <p:nvSpPr>
          <p:cNvPr id="47" name="Text 3"/>
          <p:cNvSpPr/>
          <p:nvPr/>
        </p:nvSpPr>
        <p:spPr>
          <a:xfrm>
            <a:off x="731520" y="3931920"/>
            <a:ext cx="7680600" cy="5482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100" spc="-1" strike="noStrike">
                <a:solidFill>
                  <a:srgbClr val="999999"/>
                </a:solidFill>
                <a:latin typeface="Calibri"/>
                <a:ea typeface="Calibri"/>
              </a:rPr>
              <a:t>Vishakha Agrawal  |  Malini Krishnan</a:t>
            </a:r>
            <a:endParaRPr b="0" lang="en-US" sz="1100" spc="-1" strike="noStrike">
              <a:latin typeface="Arial"/>
            </a:endParaRPr>
          </a:p>
          <a:p>
            <a:pPr>
              <a:lnSpc>
                <a:spcPct val="100000"/>
              </a:lnSpc>
              <a:buNone/>
              <a:tabLst>
                <a:tab algn="l" pos="0"/>
              </a:tabLst>
            </a:pPr>
            <a:r>
              <a:rPr b="0" lang="en-US" sz="1100" spc="-1" strike="noStrike">
                <a:solidFill>
                  <a:srgbClr val="999999"/>
                </a:solidFill>
                <a:latin typeface="Calibri"/>
                <a:ea typeface="Calibri"/>
              </a:rPr>
              <a:t>Lab for Spatial Informatics  |  IIIT Hyderabad  |  Advisors: Kuldeep Kurte, K.S. Rajan</a:t>
            </a:r>
            <a:endParaRPr b="0" lang="en-US" sz="11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 name="Text 0"/>
          <p:cNvSpPr/>
          <p:nvPr/>
        </p:nvSpPr>
        <p:spPr>
          <a:xfrm>
            <a:off x="731520" y="274320"/>
            <a:ext cx="768060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400" spc="-1" strike="noStrike">
                <a:solidFill>
                  <a:srgbClr val="0d2b5c"/>
                </a:solidFill>
                <a:latin typeface="Georgia"/>
                <a:ea typeface="Georgia"/>
              </a:rPr>
              <a:t>Why This Matters: Four Crises in India's Electoral Geography</a:t>
            </a:r>
            <a:endParaRPr b="0" lang="en-US" sz="2400" spc="-1" strike="noStrike">
              <a:latin typeface="Arial"/>
            </a:endParaRPr>
          </a:p>
        </p:txBody>
      </p:sp>
      <p:sp>
        <p:nvSpPr>
          <p:cNvPr id="49" name="Shape 1"/>
          <p:cNvSpPr/>
          <p:nvPr/>
        </p:nvSpPr>
        <p:spPr>
          <a:xfrm>
            <a:off x="731520" y="868680"/>
            <a:ext cx="36360" cy="868320"/>
          </a:xfrm>
          <a:prstGeom prst="rect">
            <a:avLst/>
          </a:prstGeom>
          <a:solidFill>
            <a:srgbClr val="d7191c"/>
          </a:solidFill>
          <a:ln w="0">
            <a:noFill/>
          </a:ln>
        </p:spPr>
        <p:style>
          <a:lnRef idx="0"/>
          <a:fillRef idx="0"/>
          <a:effectRef idx="0"/>
          <a:fontRef idx="minor"/>
        </p:style>
      </p:sp>
      <p:sp>
        <p:nvSpPr>
          <p:cNvPr id="50" name="Text 2"/>
          <p:cNvSpPr/>
          <p:nvPr/>
        </p:nvSpPr>
        <p:spPr>
          <a:xfrm>
            <a:off x="868680" y="868680"/>
            <a:ext cx="365724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d7191c"/>
                </a:solidFill>
                <a:latin typeface="Georgia"/>
                <a:ea typeface="Georgia"/>
              </a:rPr>
              <a:t>The Participation Divide</a:t>
            </a:r>
            <a:endParaRPr b="0" lang="en-US" sz="1200" spc="-1" strike="noStrike">
              <a:latin typeface="Arial"/>
            </a:endParaRPr>
          </a:p>
        </p:txBody>
      </p:sp>
      <p:sp>
        <p:nvSpPr>
          <p:cNvPr id="51" name="Text 3"/>
          <p:cNvSpPr/>
          <p:nvPr/>
        </p:nvSpPr>
        <p:spPr>
          <a:xfrm>
            <a:off x="868680" y="1097280"/>
            <a:ext cx="754344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50" spc="-1" strike="noStrike">
                <a:solidFill>
                  <a:srgbClr val="333333"/>
                </a:solidFill>
                <a:latin typeface="Calibri"/>
                <a:ea typeface="Calibri"/>
              </a:rPr>
              <a:t>642 million voters across 543 constituencies. Turnout ranged from 38.6% to 92.1%. A histogram shows this as roughly normal variation. But Moran's I = 0.614 reveals 57% of constituencies are in geographic clusters: two contiguous high-turnout zones (South + NE) separated by a low-turnout Hindi heartland belt. The divide is a spatial structure, not random variation.</a:t>
            </a:r>
            <a:endParaRPr b="0" lang="en-US" sz="950" spc="-1" strike="noStrike">
              <a:latin typeface="Arial"/>
            </a:endParaRPr>
          </a:p>
        </p:txBody>
      </p:sp>
      <p:sp>
        <p:nvSpPr>
          <p:cNvPr id="52" name="Shape 4"/>
          <p:cNvSpPr/>
          <p:nvPr/>
        </p:nvSpPr>
        <p:spPr>
          <a:xfrm>
            <a:off x="731520" y="1828800"/>
            <a:ext cx="36360" cy="868320"/>
          </a:xfrm>
          <a:prstGeom prst="rect">
            <a:avLst/>
          </a:prstGeom>
          <a:solidFill>
            <a:srgbClr val="b7234c"/>
          </a:solidFill>
          <a:ln w="0">
            <a:noFill/>
          </a:ln>
        </p:spPr>
        <p:style>
          <a:lnRef idx="0"/>
          <a:fillRef idx="0"/>
          <a:effectRef idx="0"/>
          <a:fontRef idx="minor"/>
        </p:style>
      </p:sp>
      <p:sp>
        <p:nvSpPr>
          <p:cNvPr id="53" name="Text 5"/>
          <p:cNvSpPr/>
          <p:nvPr/>
        </p:nvSpPr>
        <p:spPr>
          <a:xfrm>
            <a:off x="868680" y="1828800"/>
            <a:ext cx="365724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b7234c"/>
                </a:solidFill>
                <a:latin typeface="Georgia"/>
                <a:ea typeface="Georgia"/>
              </a:rPr>
              <a:t>Women's Exclusion</a:t>
            </a:r>
            <a:endParaRPr b="0" lang="en-US" sz="1200" spc="-1" strike="noStrike">
              <a:latin typeface="Arial"/>
            </a:endParaRPr>
          </a:p>
        </p:txBody>
      </p:sp>
      <p:sp>
        <p:nvSpPr>
          <p:cNvPr id="54" name="Text 6"/>
          <p:cNvSpPr/>
          <p:nvPr/>
        </p:nvSpPr>
        <p:spPr>
          <a:xfrm>
            <a:off x="868680" y="2057400"/>
            <a:ext cx="754344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50" spc="-1" strike="noStrike">
                <a:solidFill>
                  <a:srgbClr val="333333"/>
                </a:solidFill>
                <a:latin typeface="Calibri"/>
                <a:ea typeface="Calibri"/>
              </a:rPr>
              <a:t>458 women contested (5.1% of 8,902). 362 forfeited deposits (79%). 47 elected. India has ~800 women police stations for 743 districts; Hyderabad has one. More women MPs would increase the 20% safety allocation from the Ministry's INR 5,000 crore budget. But I = 0.113 shows this exclusion is spatially random: institutional, not regional. Targeting "problem states" would miss the majority of exclusion.</a:t>
            </a:r>
            <a:endParaRPr b="0" lang="en-US" sz="950" spc="-1" strike="noStrike">
              <a:latin typeface="Arial"/>
            </a:endParaRPr>
          </a:p>
        </p:txBody>
      </p:sp>
      <p:sp>
        <p:nvSpPr>
          <p:cNvPr id="55" name="Shape 7"/>
          <p:cNvSpPr/>
          <p:nvPr/>
        </p:nvSpPr>
        <p:spPr>
          <a:xfrm>
            <a:off x="731520" y="2788920"/>
            <a:ext cx="36360" cy="868320"/>
          </a:xfrm>
          <a:prstGeom prst="rect">
            <a:avLst/>
          </a:prstGeom>
          <a:solidFill>
            <a:srgbClr val="c8960c"/>
          </a:solidFill>
          <a:ln w="0">
            <a:noFill/>
          </a:ln>
        </p:spPr>
        <p:style>
          <a:lnRef idx="0"/>
          <a:fillRef idx="0"/>
          <a:effectRef idx="0"/>
          <a:fontRef idx="minor"/>
        </p:style>
      </p:sp>
      <p:sp>
        <p:nvSpPr>
          <p:cNvPr id="56" name="Text 8"/>
          <p:cNvSpPr/>
          <p:nvPr/>
        </p:nvSpPr>
        <p:spPr>
          <a:xfrm>
            <a:off x="868680" y="2788920"/>
            <a:ext cx="365724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c8960c"/>
                </a:solidFill>
                <a:latin typeface="Georgia"/>
                <a:ea typeface="Georgia"/>
              </a:rPr>
              <a:t>The Delimitation Freeze</a:t>
            </a:r>
            <a:endParaRPr b="0" lang="en-US" sz="1200" spc="-1" strike="noStrike">
              <a:latin typeface="Arial"/>
            </a:endParaRPr>
          </a:p>
        </p:txBody>
      </p:sp>
      <p:sp>
        <p:nvSpPr>
          <p:cNvPr id="57" name="Text 9"/>
          <p:cNvSpPr/>
          <p:nvPr/>
        </p:nvSpPr>
        <p:spPr>
          <a:xfrm>
            <a:off x="868680" y="3017520"/>
            <a:ext cx="754344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50" spc="-1" strike="noStrike">
                <a:solidFill>
                  <a:srgbClr val="333333"/>
                </a:solidFill>
                <a:latin typeface="Calibri"/>
                <a:ea typeface="Calibri"/>
              </a:rPr>
              <a:t>Lok Sabha seats frozen at 1971 Census populations. Southern states controlled population; northern states grew. UP has 2.4M voters per seat; Sikkim has 0.4M. On April 16, 2026, a bill proposed expanding from 543 to 850 seats. On April 17, the Constitutional Amendment was voted down (298 for, 230 against, needed 352). The underrepresented states form the same geographic belt as the turnout cold spots.</a:t>
            </a:r>
            <a:endParaRPr b="0" lang="en-US" sz="950" spc="-1" strike="noStrike">
              <a:latin typeface="Arial"/>
            </a:endParaRPr>
          </a:p>
        </p:txBody>
      </p:sp>
      <p:sp>
        <p:nvSpPr>
          <p:cNvPr id="58" name="Shape 10"/>
          <p:cNvSpPr/>
          <p:nvPr/>
        </p:nvSpPr>
        <p:spPr>
          <a:xfrm>
            <a:off x="731520" y="3749040"/>
            <a:ext cx="36360" cy="868320"/>
          </a:xfrm>
          <a:prstGeom prst="rect">
            <a:avLst/>
          </a:prstGeom>
          <a:solidFill>
            <a:srgbClr val="ff9933"/>
          </a:solidFill>
          <a:ln w="0">
            <a:noFill/>
          </a:ln>
        </p:spPr>
        <p:style>
          <a:lnRef idx="0"/>
          <a:fillRef idx="0"/>
          <a:effectRef idx="0"/>
          <a:fontRef idx="minor"/>
        </p:style>
      </p:sp>
      <p:sp>
        <p:nvSpPr>
          <p:cNvPr id="59" name="Text 11"/>
          <p:cNvSpPr/>
          <p:nvPr/>
        </p:nvSpPr>
        <p:spPr>
          <a:xfrm>
            <a:off x="868680" y="3749040"/>
            <a:ext cx="365724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ff9933"/>
                </a:solidFill>
                <a:latin typeface="Georgia"/>
                <a:ea typeface="Georgia"/>
              </a:rPr>
              <a:t>The Fiscal Double Whammy</a:t>
            </a:r>
            <a:endParaRPr b="0" lang="en-US" sz="1200" spc="-1" strike="noStrike">
              <a:latin typeface="Arial"/>
            </a:endParaRPr>
          </a:p>
        </p:txBody>
      </p:sp>
      <p:sp>
        <p:nvSpPr>
          <p:cNvPr id="60" name="Text 12"/>
          <p:cNvSpPr/>
          <p:nvPr/>
        </p:nvSpPr>
        <p:spPr>
          <a:xfrm>
            <a:off x="868680" y="3977640"/>
            <a:ext cx="754344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50" spc="-1" strike="noStrike">
                <a:solidFill>
                  <a:srgbClr val="333333"/>
                </a:solidFill>
                <a:latin typeface="Calibri"/>
                <a:ea typeface="Calibri"/>
              </a:rPr>
              <a:t>For every INR 100 Tamil Nadu contributes, only INR 29.7 returns. Bihar receives INR 142.5. The same states that have fewer Lok Sabha seats also get less money back. Three independent gradients (turnout, seats, fiscal) share the same north-south axis. This co-location is invisible in any bar chart, table, or histogram. Only spatial embedding reveals it.</a:t>
            </a:r>
            <a:endParaRPr b="0" lang="en-US" sz="95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Text 0"/>
          <p:cNvSpPr/>
          <p:nvPr/>
        </p:nvSpPr>
        <p:spPr>
          <a:xfrm>
            <a:off x="731520" y="274320"/>
            <a:ext cx="768060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600" spc="-1" strike="noStrike">
                <a:solidFill>
                  <a:srgbClr val="0d2b5c"/>
                </a:solidFill>
                <a:latin typeface="Georgia"/>
                <a:ea typeface="Georgia"/>
              </a:rPr>
              <a:t>April 16-17, 2026: The Chain That Broke</a:t>
            </a:r>
            <a:endParaRPr b="0" lang="en-US" sz="2600" spc="-1" strike="noStrike">
              <a:latin typeface="Arial"/>
            </a:endParaRPr>
          </a:p>
        </p:txBody>
      </p:sp>
      <p:sp>
        <p:nvSpPr>
          <p:cNvPr id="62" name="Shape 1"/>
          <p:cNvSpPr/>
          <p:nvPr/>
        </p:nvSpPr>
        <p:spPr>
          <a:xfrm>
            <a:off x="731520" y="868680"/>
            <a:ext cx="7680600" cy="1279800"/>
          </a:xfrm>
          <a:prstGeom prst="rect">
            <a:avLst/>
          </a:prstGeom>
          <a:solidFill>
            <a:srgbClr val="f0f0f0"/>
          </a:solidFill>
          <a:ln w="0">
            <a:noFill/>
          </a:ln>
        </p:spPr>
        <p:style>
          <a:lnRef idx="0"/>
          <a:fillRef idx="0"/>
          <a:effectRef idx="0"/>
          <a:fontRef idx="minor"/>
        </p:style>
      </p:sp>
      <p:sp>
        <p:nvSpPr>
          <p:cNvPr id="63" name="Text 2"/>
          <p:cNvSpPr/>
          <p:nvPr/>
        </p:nvSpPr>
        <p:spPr>
          <a:xfrm>
            <a:off x="914400" y="914400"/>
            <a:ext cx="182844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0d2b5c"/>
                </a:solidFill>
                <a:latin typeface="Georgia"/>
                <a:ea typeface="Georgia"/>
              </a:rPr>
              <a:t>April 16, 2026</a:t>
            </a:r>
            <a:endParaRPr b="0" lang="en-US" sz="1300" spc="-1" strike="noStrike">
              <a:latin typeface="Arial"/>
            </a:endParaRPr>
          </a:p>
        </p:txBody>
      </p:sp>
      <p:sp>
        <p:nvSpPr>
          <p:cNvPr id="64" name="Text 3"/>
          <p:cNvSpPr/>
          <p:nvPr/>
        </p:nvSpPr>
        <p:spPr>
          <a:xfrm>
            <a:off x="914400" y="1188720"/>
            <a:ext cx="73148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 strike="noStrike">
                <a:solidFill>
                  <a:srgbClr val="333333"/>
                </a:solidFill>
                <a:latin typeface="Calibri"/>
                <a:ea typeface="Calibri"/>
              </a:rPr>
              <a:t>Three bills introduced in Lok Sabha: the Constitution (131st Amendment) Bill, the Delimitation Bill, and the UT Laws Amendment Bill. Together, they proposed expanding from 543 to 850 seats using 2011 Census data, AND activating the 33% women's reservation (Nari Shakti Vandan Adhiniyam, passed in 2023 but tied to delimitation).</a:t>
            </a:r>
            <a:endParaRPr b="0" lang="en-US" sz="1050" spc="-1" strike="noStrike">
              <a:latin typeface="Arial"/>
            </a:endParaRPr>
          </a:p>
        </p:txBody>
      </p:sp>
      <p:sp>
        <p:nvSpPr>
          <p:cNvPr id="65" name="Shape 4"/>
          <p:cNvSpPr/>
          <p:nvPr/>
        </p:nvSpPr>
        <p:spPr>
          <a:xfrm>
            <a:off x="731520" y="2286000"/>
            <a:ext cx="7680600" cy="822600"/>
          </a:xfrm>
          <a:prstGeom prst="rect">
            <a:avLst/>
          </a:prstGeom>
          <a:solidFill>
            <a:srgbClr val="fff5f5"/>
          </a:solidFill>
          <a:ln w="0">
            <a:noFill/>
          </a:ln>
        </p:spPr>
        <p:style>
          <a:lnRef idx="0"/>
          <a:fillRef idx="0"/>
          <a:effectRef idx="0"/>
          <a:fontRef idx="minor"/>
        </p:style>
      </p:sp>
      <p:sp>
        <p:nvSpPr>
          <p:cNvPr id="66" name="Text 5"/>
          <p:cNvSpPr/>
          <p:nvPr/>
        </p:nvSpPr>
        <p:spPr>
          <a:xfrm>
            <a:off x="914400" y="2331720"/>
            <a:ext cx="182844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d7191c"/>
                </a:solidFill>
                <a:latin typeface="Georgia"/>
                <a:ea typeface="Georgia"/>
              </a:rPr>
              <a:t>April 17, 2026</a:t>
            </a:r>
            <a:endParaRPr b="0" lang="en-US" sz="1300" spc="-1" strike="noStrike">
              <a:latin typeface="Arial"/>
            </a:endParaRPr>
          </a:p>
        </p:txBody>
      </p:sp>
      <p:sp>
        <p:nvSpPr>
          <p:cNvPr id="67" name="Text 6"/>
          <p:cNvSpPr/>
          <p:nvPr/>
        </p:nvSpPr>
        <p:spPr>
          <a:xfrm>
            <a:off x="914400" y="2606040"/>
            <a:ext cx="7314840" cy="4111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 strike="noStrike">
                <a:solidFill>
                  <a:srgbClr val="333333"/>
                </a:solidFill>
                <a:latin typeface="Calibri"/>
                <a:ea typeface="Calibri"/>
              </a:rPr>
              <a:t>Constitutional Amendment voted down: 298 for, 230 against. Needed 352 (two-thirds majority). Fell short by 54 votes. First Modi government constitutional amendment to fail. Government withdrew the Delimitation Bill.</a:t>
            </a:r>
            <a:endParaRPr b="0" lang="en-US" sz="1050" spc="-1" strike="noStrike">
              <a:latin typeface="Arial"/>
            </a:endParaRPr>
          </a:p>
        </p:txBody>
      </p:sp>
      <p:sp>
        <p:nvSpPr>
          <p:cNvPr id="68" name="Text 7"/>
          <p:cNvSpPr/>
          <p:nvPr/>
        </p:nvSpPr>
        <p:spPr>
          <a:xfrm>
            <a:off x="731520" y="3291840"/>
            <a:ext cx="768060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400" spc="-1" strike="noStrike">
                <a:solidFill>
                  <a:srgbClr val="b7234c"/>
                </a:solidFill>
                <a:latin typeface="Georgia"/>
                <a:ea typeface="Georgia"/>
              </a:rPr>
              <a:t>The Broken Chain: Why Women's Reservation Is Stuck</a:t>
            </a:r>
            <a:endParaRPr b="0" lang="en-US" sz="1400" spc="-1" strike="noStrike">
              <a:latin typeface="Arial"/>
            </a:endParaRPr>
          </a:p>
        </p:txBody>
      </p:sp>
      <p:sp>
        <p:nvSpPr>
          <p:cNvPr id="69" name="Shape 8"/>
          <p:cNvSpPr/>
          <p:nvPr/>
        </p:nvSpPr>
        <p:spPr>
          <a:xfrm>
            <a:off x="731520" y="3657600"/>
            <a:ext cx="1554120" cy="548280"/>
          </a:xfrm>
          <a:prstGeom prst="rect">
            <a:avLst/>
          </a:prstGeom>
          <a:solidFill>
            <a:srgbClr val="00857c"/>
          </a:solidFill>
          <a:ln w="0">
            <a:noFill/>
          </a:ln>
        </p:spPr>
        <p:style>
          <a:lnRef idx="0"/>
          <a:fillRef idx="0"/>
          <a:effectRef idx="0"/>
          <a:fontRef idx="minor"/>
        </p:style>
      </p:sp>
      <p:sp>
        <p:nvSpPr>
          <p:cNvPr id="70" name="Text 9"/>
          <p:cNvSpPr/>
          <p:nvPr/>
        </p:nvSpPr>
        <p:spPr>
          <a:xfrm>
            <a:off x="731520" y="3703320"/>
            <a:ext cx="155412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900" spc="-1" strike="noStrike">
                <a:solidFill>
                  <a:srgbClr val="ffffff"/>
                </a:solidFill>
                <a:latin typeface="Calibri"/>
                <a:ea typeface="Calibri"/>
              </a:rPr>
              <a:t>Delimitation</a:t>
            </a:r>
            <a:endParaRPr b="0" lang="en-US" sz="900" spc="-1" strike="noStrike">
              <a:latin typeface="Arial"/>
            </a:endParaRPr>
          </a:p>
          <a:p>
            <a:pPr algn="ctr">
              <a:lnSpc>
                <a:spcPct val="100000"/>
              </a:lnSpc>
              <a:buNone/>
              <a:tabLst>
                <a:tab algn="l" pos="0"/>
              </a:tabLst>
            </a:pPr>
            <a:r>
              <a:rPr b="1" lang="en-US" sz="900" spc="-1" strike="noStrike">
                <a:solidFill>
                  <a:srgbClr val="ffffff"/>
                </a:solidFill>
                <a:latin typeface="Calibri"/>
                <a:ea typeface="Calibri"/>
              </a:rPr>
              <a:t>(expand seats)</a:t>
            </a:r>
            <a:endParaRPr b="0" lang="en-US" sz="900" spc="-1" strike="noStrike">
              <a:latin typeface="Arial"/>
            </a:endParaRPr>
          </a:p>
        </p:txBody>
      </p:sp>
      <p:sp>
        <p:nvSpPr>
          <p:cNvPr id="71" name="Text 10"/>
          <p:cNvSpPr/>
          <p:nvPr/>
        </p:nvSpPr>
        <p:spPr>
          <a:xfrm>
            <a:off x="2286000" y="3749040"/>
            <a:ext cx="273960" cy="3654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2000" spc="-1" strike="noStrike">
                <a:solidFill>
                  <a:srgbClr val="d7191c"/>
                </a:solidFill>
                <a:latin typeface="Georgia"/>
                <a:ea typeface="Georgia"/>
              </a:rPr>
              <a:t>→</a:t>
            </a:r>
            <a:endParaRPr b="0" lang="en-US" sz="2000" spc="-1" strike="noStrike">
              <a:latin typeface="Arial"/>
            </a:endParaRPr>
          </a:p>
        </p:txBody>
      </p:sp>
      <p:sp>
        <p:nvSpPr>
          <p:cNvPr id="72" name="Shape 11"/>
          <p:cNvSpPr/>
          <p:nvPr/>
        </p:nvSpPr>
        <p:spPr>
          <a:xfrm>
            <a:off x="2606040" y="3657600"/>
            <a:ext cx="1554120" cy="548280"/>
          </a:xfrm>
          <a:prstGeom prst="rect">
            <a:avLst/>
          </a:prstGeom>
          <a:solidFill>
            <a:srgbClr val="b7234c"/>
          </a:solidFill>
          <a:ln w="0">
            <a:noFill/>
          </a:ln>
        </p:spPr>
        <p:style>
          <a:lnRef idx="0"/>
          <a:fillRef idx="0"/>
          <a:effectRef idx="0"/>
          <a:fontRef idx="minor"/>
        </p:style>
      </p:sp>
      <p:sp>
        <p:nvSpPr>
          <p:cNvPr id="73" name="Text 12"/>
          <p:cNvSpPr/>
          <p:nvPr/>
        </p:nvSpPr>
        <p:spPr>
          <a:xfrm>
            <a:off x="2606040" y="3703320"/>
            <a:ext cx="155412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900" spc="-1" strike="noStrike">
                <a:solidFill>
                  <a:srgbClr val="ffffff"/>
                </a:solidFill>
                <a:latin typeface="Calibri"/>
                <a:ea typeface="Calibri"/>
              </a:rPr>
              <a:t>Women's 33%</a:t>
            </a:r>
            <a:endParaRPr b="0" lang="en-US" sz="900" spc="-1" strike="noStrike">
              <a:latin typeface="Arial"/>
            </a:endParaRPr>
          </a:p>
          <a:p>
            <a:pPr algn="ctr">
              <a:lnSpc>
                <a:spcPct val="100000"/>
              </a:lnSpc>
              <a:buNone/>
              <a:tabLst>
                <a:tab algn="l" pos="0"/>
              </a:tabLst>
            </a:pPr>
            <a:r>
              <a:rPr b="1" lang="en-US" sz="900" spc="-1" strike="noStrike">
                <a:solidFill>
                  <a:srgbClr val="ffffff"/>
                </a:solidFill>
                <a:latin typeface="Calibri"/>
                <a:ea typeface="Calibri"/>
              </a:rPr>
              <a:t>reservation activates</a:t>
            </a:r>
            <a:endParaRPr b="0" lang="en-US" sz="900" spc="-1" strike="noStrike">
              <a:latin typeface="Arial"/>
            </a:endParaRPr>
          </a:p>
        </p:txBody>
      </p:sp>
      <p:sp>
        <p:nvSpPr>
          <p:cNvPr id="74" name="Text 13"/>
          <p:cNvSpPr/>
          <p:nvPr/>
        </p:nvSpPr>
        <p:spPr>
          <a:xfrm>
            <a:off x="4160520" y="3749040"/>
            <a:ext cx="273960" cy="3654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2000" spc="-1" strike="noStrike">
                <a:solidFill>
                  <a:srgbClr val="d7191c"/>
                </a:solidFill>
                <a:latin typeface="Georgia"/>
                <a:ea typeface="Georgia"/>
              </a:rPr>
              <a:t>→</a:t>
            </a:r>
            <a:endParaRPr b="0" lang="en-US" sz="2000" spc="-1" strike="noStrike">
              <a:latin typeface="Arial"/>
            </a:endParaRPr>
          </a:p>
        </p:txBody>
      </p:sp>
      <p:sp>
        <p:nvSpPr>
          <p:cNvPr id="75" name="Shape 14"/>
          <p:cNvSpPr/>
          <p:nvPr/>
        </p:nvSpPr>
        <p:spPr>
          <a:xfrm>
            <a:off x="4480560" y="3657600"/>
            <a:ext cx="1554120" cy="548280"/>
          </a:xfrm>
          <a:prstGeom prst="rect">
            <a:avLst/>
          </a:prstGeom>
          <a:solidFill>
            <a:srgbClr val="c8960c"/>
          </a:solidFill>
          <a:ln w="0">
            <a:noFill/>
          </a:ln>
        </p:spPr>
        <p:style>
          <a:lnRef idx="0"/>
          <a:fillRef idx="0"/>
          <a:effectRef idx="0"/>
          <a:fontRef idx="minor"/>
        </p:style>
      </p:sp>
      <p:sp>
        <p:nvSpPr>
          <p:cNvPr id="76" name="Text 15"/>
          <p:cNvSpPr/>
          <p:nvPr/>
        </p:nvSpPr>
        <p:spPr>
          <a:xfrm>
            <a:off x="4480560" y="3703320"/>
            <a:ext cx="155412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900" spc="-1" strike="noStrike">
                <a:solidFill>
                  <a:srgbClr val="ffffff"/>
                </a:solidFill>
                <a:latin typeface="Calibri"/>
                <a:ea typeface="Calibri"/>
              </a:rPr>
              <a:t>More women</a:t>
            </a:r>
            <a:endParaRPr b="0" lang="en-US" sz="900" spc="-1" strike="noStrike">
              <a:latin typeface="Arial"/>
            </a:endParaRPr>
          </a:p>
          <a:p>
            <a:pPr algn="ctr">
              <a:lnSpc>
                <a:spcPct val="100000"/>
              </a:lnSpc>
              <a:buNone/>
              <a:tabLst>
                <a:tab algn="l" pos="0"/>
              </a:tabLst>
            </a:pPr>
            <a:r>
              <a:rPr b="1" lang="en-US" sz="900" spc="-1" strike="noStrike">
                <a:solidFill>
                  <a:srgbClr val="ffffff"/>
                </a:solidFill>
                <a:latin typeface="Calibri"/>
                <a:ea typeface="Calibri"/>
              </a:rPr>
              <a:t>MPs elected</a:t>
            </a:r>
            <a:endParaRPr b="0" lang="en-US" sz="900" spc="-1" strike="noStrike">
              <a:latin typeface="Arial"/>
            </a:endParaRPr>
          </a:p>
        </p:txBody>
      </p:sp>
      <p:sp>
        <p:nvSpPr>
          <p:cNvPr id="77" name="Text 16"/>
          <p:cNvSpPr/>
          <p:nvPr/>
        </p:nvSpPr>
        <p:spPr>
          <a:xfrm>
            <a:off x="6035040" y="3749040"/>
            <a:ext cx="273960" cy="3654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2000" spc="-1" strike="noStrike">
                <a:solidFill>
                  <a:srgbClr val="d7191c"/>
                </a:solidFill>
                <a:latin typeface="Georgia"/>
                <a:ea typeface="Georgia"/>
              </a:rPr>
              <a:t>→</a:t>
            </a:r>
            <a:endParaRPr b="0" lang="en-US" sz="2000" spc="-1" strike="noStrike">
              <a:latin typeface="Arial"/>
            </a:endParaRPr>
          </a:p>
        </p:txBody>
      </p:sp>
      <p:sp>
        <p:nvSpPr>
          <p:cNvPr id="78" name="Shape 17"/>
          <p:cNvSpPr/>
          <p:nvPr/>
        </p:nvSpPr>
        <p:spPr>
          <a:xfrm>
            <a:off x="6355080" y="3657600"/>
            <a:ext cx="2102760" cy="548280"/>
          </a:xfrm>
          <a:prstGeom prst="rect">
            <a:avLst/>
          </a:prstGeom>
          <a:solidFill>
            <a:srgbClr val="ff9933"/>
          </a:solidFill>
          <a:ln w="0">
            <a:noFill/>
          </a:ln>
        </p:spPr>
        <p:style>
          <a:lnRef idx="0"/>
          <a:fillRef idx="0"/>
          <a:effectRef idx="0"/>
          <a:fontRef idx="minor"/>
        </p:style>
      </p:sp>
      <p:sp>
        <p:nvSpPr>
          <p:cNvPr id="79" name="Text 18"/>
          <p:cNvSpPr/>
          <p:nvPr/>
        </p:nvSpPr>
        <p:spPr>
          <a:xfrm>
            <a:off x="6355080" y="3657600"/>
            <a:ext cx="2102760" cy="5482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850" spc="-1" strike="noStrike">
                <a:solidFill>
                  <a:srgbClr val="ffffff"/>
                </a:solidFill>
                <a:latin typeface="Calibri"/>
                <a:ea typeface="Calibri"/>
              </a:rPr>
              <a:t>Women's safety budget</a:t>
            </a:r>
            <a:endParaRPr b="0" lang="en-US" sz="850" spc="-1" strike="noStrike">
              <a:latin typeface="Arial"/>
            </a:endParaRPr>
          </a:p>
          <a:p>
            <a:pPr algn="ctr">
              <a:lnSpc>
                <a:spcPct val="100000"/>
              </a:lnSpc>
              <a:buNone/>
              <a:tabLst>
                <a:tab algn="l" pos="0"/>
              </a:tabLst>
            </a:pPr>
            <a:r>
              <a:rPr b="1" lang="en-US" sz="850" spc="-1" strike="noStrike">
                <a:solidFill>
                  <a:srgbClr val="ffffff"/>
                </a:solidFill>
                <a:latin typeface="Calibri"/>
                <a:ea typeface="Calibri"/>
              </a:rPr>
              <a:t>increases beyond 20%</a:t>
            </a:r>
            <a:endParaRPr b="0" lang="en-US" sz="850" spc="-1" strike="noStrike">
              <a:latin typeface="Arial"/>
            </a:endParaRPr>
          </a:p>
          <a:p>
            <a:pPr algn="ctr">
              <a:lnSpc>
                <a:spcPct val="100000"/>
              </a:lnSpc>
              <a:buNone/>
              <a:tabLst>
                <a:tab algn="l" pos="0"/>
              </a:tabLst>
            </a:pPr>
            <a:r>
              <a:rPr b="1" lang="en-US" sz="850" spc="-1" strike="noStrike">
                <a:solidFill>
                  <a:srgbClr val="ffffff"/>
                </a:solidFill>
                <a:latin typeface="Calibri"/>
                <a:ea typeface="Calibri"/>
              </a:rPr>
              <a:t>of INR 5,000 crore</a:t>
            </a:r>
            <a:endParaRPr b="0" lang="en-US" sz="850" spc="-1" strike="noStrike">
              <a:latin typeface="Arial"/>
            </a:endParaRPr>
          </a:p>
        </p:txBody>
      </p:sp>
      <p:sp>
        <p:nvSpPr>
          <p:cNvPr id="80" name="Shape 19"/>
          <p:cNvSpPr/>
          <p:nvPr/>
        </p:nvSpPr>
        <p:spPr>
          <a:xfrm>
            <a:off x="731520" y="4343400"/>
            <a:ext cx="7680600" cy="639720"/>
          </a:xfrm>
          <a:prstGeom prst="rect">
            <a:avLst/>
          </a:prstGeom>
          <a:solidFill>
            <a:srgbClr val="fff5f5"/>
          </a:solidFill>
          <a:ln w="0">
            <a:noFill/>
          </a:ln>
        </p:spPr>
        <p:style>
          <a:lnRef idx="0"/>
          <a:fillRef idx="0"/>
          <a:effectRef idx="0"/>
          <a:fontRef idx="minor"/>
        </p:style>
      </p:sp>
      <p:sp>
        <p:nvSpPr>
          <p:cNvPr id="81" name="Text 20"/>
          <p:cNvSpPr/>
          <p:nvPr/>
        </p:nvSpPr>
        <p:spPr>
          <a:xfrm>
            <a:off x="914400" y="4389120"/>
            <a:ext cx="7314840" cy="54828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950" spc="-1" strike="noStrike">
                <a:solidFill>
                  <a:srgbClr val="333333"/>
                </a:solidFill>
                <a:latin typeface="Calibri"/>
                <a:ea typeface="Calibri"/>
              </a:rPr>
              <a:t>The chain broke at step 1. The Nari Shakti Vandan Adhiniyam (2023) is law, but it requires delimitation to activate. Delimitation failed. Women's reservation is unlikely before the 2029 general election. Our spatial analysis (I = 0.113) shows the exclusion is institutional, not regional, which means geographic targeting cannot substitute for the legislative fix that failed on April 17.</a:t>
            </a:r>
            <a:endParaRPr b="0" lang="en-US" sz="95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 name="Text 0"/>
          <p:cNvSpPr/>
          <p:nvPr/>
        </p:nvSpPr>
        <p:spPr>
          <a:xfrm>
            <a:off x="731520" y="228600"/>
            <a:ext cx="7680600" cy="4111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600" spc="-1" strike="noStrike">
                <a:solidFill>
                  <a:srgbClr val="0d2b5c"/>
                </a:solidFill>
                <a:latin typeface="Georgia"/>
                <a:ea typeface="Georgia"/>
              </a:rPr>
              <a:t>Why This Analysis Matters Right Now</a:t>
            </a:r>
            <a:endParaRPr b="0" lang="en-US" sz="2600" spc="-1" strike="noStrike">
              <a:latin typeface="Arial"/>
            </a:endParaRPr>
          </a:p>
        </p:txBody>
      </p:sp>
      <p:sp>
        <p:nvSpPr>
          <p:cNvPr id="83" name="Shape 1"/>
          <p:cNvSpPr/>
          <p:nvPr/>
        </p:nvSpPr>
        <p:spPr>
          <a:xfrm>
            <a:off x="731520" y="777240"/>
            <a:ext cx="7680600" cy="502560"/>
          </a:xfrm>
          <a:prstGeom prst="rect">
            <a:avLst/>
          </a:prstGeom>
          <a:solidFill>
            <a:srgbClr val="f0f0f0"/>
          </a:solidFill>
          <a:ln w="0">
            <a:noFill/>
          </a:ln>
        </p:spPr>
        <p:style>
          <a:lnRef idx="0"/>
          <a:fillRef idx="0"/>
          <a:effectRef idx="0"/>
          <a:fontRef idx="minor"/>
        </p:style>
      </p:sp>
      <p:sp>
        <p:nvSpPr>
          <p:cNvPr id="84" name="Text 2"/>
          <p:cNvSpPr/>
          <p:nvPr/>
        </p:nvSpPr>
        <p:spPr>
          <a:xfrm>
            <a:off x="914400" y="804600"/>
            <a:ext cx="731484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0d2b5c"/>
                </a:solidFill>
                <a:latin typeface="Georgia"/>
                <a:ea typeface="Georgia"/>
              </a:rPr>
              <a:t>April 16, 2026: Three Bills Introduced in Lok Sabha</a:t>
            </a:r>
            <a:endParaRPr b="0" lang="en-US" sz="1200" spc="-1" strike="noStrike">
              <a:latin typeface="Arial"/>
            </a:endParaRPr>
          </a:p>
        </p:txBody>
      </p:sp>
      <p:sp>
        <p:nvSpPr>
          <p:cNvPr id="85" name="Text 3"/>
          <p:cNvSpPr/>
          <p:nvPr/>
        </p:nvSpPr>
        <p:spPr>
          <a:xfrm>
            <a:off x="914400" y="1024200"/>
            <a:ext cx="7314840" cy="182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00" spc="-1" strike="noStrike">
                <a:solidFill>
                  <a:srgbClr val="777777"/>
                </a:solidFill>
                <a:latin typeface="Calibri"/>
                <a:ea typeface="Calibri"/>
              </a:rPr>
              <a:t>Constitution (131st Amendment) Bill  |  Delimitation Bill, 2026  |  Union Territories Laws (Amendment) Bill</a:t>
            </a:r>
            <a:endParaRPr b="0" lang="en-US" sz="1000" spc="-1" strike="noStrike">
              <a:latin typeface="Arial"/>
            </a:endParaRPr>
          </a:p>
        </p:txBody>
      </p:sp>
      <p:sp>
        <p:nvSpPr>
          <p:cNvPr id="86" name="Text 4"/>
          <p:cNvSpPr/>
          <p:nvPr/>
        </p:nvSpPr>
        <p:spPr>
          <a:xfrm>
            <a:off x="731520" y="1417320"/>
            <a:ext cx="768060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00857c"/>
                </a:solidFill>
                <a:latin typeface="Georgia"/>
                <a:ea typeface="Georgia"/>
              </a:rPr>
              <a:t>What the Bills Proposed</a:t>
            </a:r>
            <a:endParaRPr b="0" lang="en-US" sz="1300" spc="-1" strike="noStrike">
              <a:latin typeface="Arial"/>
            </a:endParaRPr>
          </a:p>
        </p:txBody>
      </p:sp>
      <p:sp>
        <p:nvSpPr>
          <p:cNvPr id="87" name="Shape 5"/>
          <p:cNvSpPr/>
          <p:nvPr/>
        </p:nvSpPr>
        <p:spPr>
          <a:xfrm>
            <a:off x="731520" y="1737360"/>
            <a:ext cx="36360" cy="456840"/>
          </a:xfrm>
          <a:prstGeom prst="rect">
            <a:avLst/>
          </a:prstGeom>
          <a:solidFill>
            <a:srgbClr val="c8960c"/>
          </a:solidFill>
          <a:ln w="0">
            <a:noFill/>
          </a:ln>
        </p:spPr>
        <p:style>
          <a:lnRef idx="0"/>
          <a:fillRef idx="0"/>
          <a:effectRef idx="0"/>
          <a:fontRef idx="minor"/>
        </p:style>
      </p:sp>
      <p:sp>
        <p:nvSpPr>
          <p:cNvPr id="88" name="Text 6"/>
          <p:cNvSpPr/>
          <p:nvPr/>
        </p:nvSpPr>
        <p:spPr>
          <a:xfrm>
            <a:off x="868680" y="1737360"/>
            <a:ext cx="2011320" cy="182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1" strike="noStrike">
                <a:solidFill>
                  <a:srgbClr val="c8960c"/>
                </a:solidFill>
                <a:latin typeface="Calibri"/>
                <a:ea typeface="Calibri"/>
              </a:rPr>
              <a:t>End the 1971 freeze</a:t>
            </a:r>
            <a:endParaRPr b="0" lang="en-US" sz="1050" spc="-1" strike="noStrike">
              <a:latin typeface="Arial"/>
            </a:endParaRPr>
          </a:p>
        </p:txBody>
      </p:sp>
      <p:sp>
        <p:nvSpPr>
          <p:cNvPr id="89" name="Text 7"/>
          <p:cNvSpPr/>
          <p:nvPr/>
        </p:nvSpPr>
        <p:spPr>
          <a:xfrm>
            <a:off x="2926080" y="1737360"/>
            <a:ext cx="5486040" cy="45684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00" spc="-1" strike="noStrike">
                <a:solidFill>
                  <a:srgbClr val="333333"/>
                </a:solidFill>
                <a:latin typeface="Calibri"/>
                <a:ea typeface="Calibri"/>
              </a:rPr>
              <a:t>Revert to population-proportional allocation. Use 2011 Census (not 2027). Lok Sabha to expand to ~816 seats (50% increase).</a:t>
            </a:r>
            <a:endParaRPr b="0" lang="en-US" sz="1000" spc="-1" strike="noStrike">
              <a:latin typeface="Arial"/>
            </a:endParaRPr>
          </a:p>
        </p:txBody>
      </p:sp>
      <p:sp>
        <p:nvSpPr>
          <p:cNvPr id="90" name="Shape 8"/>
          <p:cNvSpPr/>
          <p:nvPr/>
        </p:nvSpPr>
        <p:spPr>
          <a:xfrm>
            <a:off x="731520" y="2286000"/>
            <a:ext cx="36360" cy="456840"/>
          </a:xfrm>
          <a:prstGeom prst="rect">
            <a:avLst/>
          </a:prstGeom>
          <a:solidFill>
            <a:srgbClr val="b7234c"/>
          </a:solidFill>
          <a:ln w="0">
            <a:noFill/>
          </a:ln>
        </p:spPr>
        <p:style>
          <a:lnRef idx="0"/>
          <a:fillRef idx="0"/>
          <a:effectRef idx="0"/>
          <a:fontRef idx="minor"/>
        </p:style>
      </p:sp>
      <p:sp>
        <p:nvSpPr>
          <p:cNvPr id="91" name="Text 9"/>
          <p:cNvSpPr/>
          <p:nvPr/>
        </p:nvSpPr>
        <p:spPr>
          <a:xfrm>
            <a:off x="868680" y="2286000"/>
            <a:ext cx="2011320" cy="182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1" strike="noStrike">
                <a:solidFill>
                  <a:srgbClr val="b7234c"/>
                </a:solidFill>
                <a:latin typeface="Calibri"/>
                <a:ea typeface="Calibri"/>
              </a:rPr>
              <a:t>Activate women's reservation</a:t>
            </a:r>
            <a:endParaRPr b="0" lang="en-US" sz="1050" spc="-1" strike="noStrike">
              <a:latin typeface="Arial"/>
            </a:endParaRPr>
          </a:p>
        </p:txBody>
      </p:sp>
      <p:sp>
        <p:nvSpPr>
          <p:cNvPr id="92" name="Text 10"/>
          <p:cNvSpPr/>
          <p:nvPr/>
        </p:nvSpPr>
        <p:spPr>
          <a:xfrm>
            <a:off x="2926080" y="2286000"/>
            <a:ext cx="5486040" cy="45684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00" spc="-1" strike="noStrike">
                <a:solidFill>
                  <a:srgbClr val="333333"/>
                </a:solidFill>
                <a:latin typeface="Calibri"/>
                <a:ea typeface="Calibri"/>
              </a:rPr>
              <a:t>The Nari Shakti Vandan Adhiniyam (106th Amendment, 2023) gave women 33% reservation but tied it to the NEXT census + delimitation. The 131st Amendment removes this precondition.</a:t>
            </a:r>
            <a:endParaRPr b="0" lang="en-US" sz="1000" spc="-1" strike="noStrike">
              <a:latin typeface="Arial"/>
            </a:endParaRPr>
          </a:p>
        </p:txBody>
      </p:sp>
      <p:sp>
        <p:nvSpPr>
          <p:cNvPr id="93" name="Shape 11"/>
          <p:cNvSpPr/>
          <p:nvPr/>
        </p:nvSpPr>
        <p:spPr>
          <a:xfrm>
            <a:off x="731520" y="2834640"/>
            <a:ext cx="36360" cy="456840"/>
          </a:xfrm>
          <a:prstGeom prst="rect">
            <a:avLst/>
          </a:prstGeom>
          <a:solidFill>
            <a:srgbClr val="d7191c"/>
          </a:solidFill>
          <a:ln w="0">
            <a:noFill/>
          </a:ln>
        </p:spPr>
        <p:style>
          <a:lnRef idx="0"/>
          <a:fillRef idx="0"/>
          <a:effectRef idx="0"/>
          <a:fontRef idx="minor"/>
        </p:style>
      </p:sp>
      <p:sp>
        <p:nvSpPr>
          <p:cNvPr id="94" name="Text 12"/>
          <p:cNvSpPr/>
          <p:nvPr/>
        </p:nvSpPr>
        <p:spPr>
          <a:xfrm>
            <a:off x="868680" y="2834640"/>
            <a:ext cx="2011320" cy="182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1" strike="noStrike">
                <a:solidFill>
                  <a:srgbClr val="d7191c"/>
                </a:solidFill>
                <a:latin typeface="Calibri"/>
                <a:ea typeface="Calibri"/>
              </a:rPr>
              <a:t>Shift political power northward</a:t>
            </a:r>
            <a:endParaRPr b="0" lang="en-US" sz="1050" spc="-1" strike="noStrike">
              <a:latin typeface="Arial"/>
            </a:endParaRPr>
          </a:p>
        </p:txBody>
      </p:sp>
      <p:sp>
        <p:nvSpPr>
          <p:cNvPr id="95" name="Text 13"/>
          <p:cNvSpPr/>
          <p:nvPr/>
        </p:nvSpPr>
        <p:spPr>
          <a:xfrm>
            <a:off x="2926080" y="2834640"/>
            <a:ext cx="5486040" cy="45684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00" spc="-1" strike="noStrike">
                <a:solidFill>
                  <a:srgbClr val="333333"/>
                </a:solidFill>
                <a:latin typeface="Calibri"/>
                <a:ea typeface="Calibri"/>
              </a:rPr>
              <a:t>Under population-proportional allocation: UP gains seats, TN drops from 39 to 32, Kerala from 20 to 15. Southern states that controlled population growth lose share.</a:t>
            </a:r>
            <a:endParaRPr b="0" lang="en-US" sz="1000" spc="-1" strike="noStrike">
              <a:latin typeface="Arial"/>
            </a:endParaRPr>
          </a:p>
        </p:txBody>
      </p:sp>
      <p:sp>
        <p:nvSpPr>
          <p:cNvPr id="96" name="Shape 14"/>
          <p:cNvSpPr/>
          <p:nvPr/>
        </p:nvSpPr>
        <p:spPr>
          <a:xfrm>
            <a:off x="731520" y="3429000"/>
            <a:ext cx="7680600" cy="685440"/>
          </a:xfrm>
          <a:prstGeom prst="rect">
            <a:avLst/>
          </a:prstGeom>
          <a:solidFill>
            <a:srgbClr val="fff5f5"/>
          </a:solidFill>
          <a:ln w="0">
            <a:noFill/>
          </a:ln>
        </p:spPr>
        <p:style>
          <a:lnRef idx="0"/>
          <a:fillRef idx="0"/>
          <a:effectRef idx="0"/>
          <a:fontRef idx="minor"/>
        </p:style>
      </p:sp>
      <p:sp>
        <p:nvSpPr>
          <p:cNvPr id="97" name="Text 15"/>
          <p:cNvSpPr/>
          <p:nvPr/>
        </p:nvSpPr>
        <p:spPr>
          <a:xfrm>
            <a:off x="914400" y="3456360"/>
            <a:ext cx="731484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d7191c"/>
                </a:solidFill>
                <a:latin typeface="Georgia"/>
                <a:ea typeface="Georgia"/>
              </a:rPr>
              <a:t>April 17, 2026: The Constitutional Amendment Failed</a:t>
            </a:r>
            <a:endParaRPr b="0" lang="en-US" sz="1300" spc="-1" strike="noStrike">
              <a:latin typeface="Arial"/>
            </a:endParaRPr>
          </a:p>
        </p:txBody>
      </p:sp>
      <p:sp>
        <p:nvSpPr>
          <p:cNvPr id="98" name="Text 16"/>
          <p:cNvSpPr/>
          <p:nvPr/>
        </p:nvSpPr>
        <p:spPr>
          <a:xfrm>
            <a:off x="914400" y="3703320"/>
            <a:ext cx="7314840" cy="3654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 strike="noStrike">
                <a:solidFill>
                  <a:srgbClr val="333333"/>
                </a:solidFill>
                <a:latin typeface="Calibri"/>
                <a:ea typeface="Calibri"/>
              </a:rPr>
              <a:t>298 voted for, 230 against. Needed 352 (two-thirds of 528 present). The first Modi government Constitutional Amendment to fail. Women's reservation remains blocked. Delimitation remains frozen at 1971.</a:t>
            </a:r>
            <a:endParaRPr b="0" lang="en-US" sz="1050" spc="-1" strike="noStrike">
              <a:latin typeface="Arial"/>
            </a:endParaRPr>
          </a:p>
        </p:txBody>
      </p:sp>
      <p:sp>
        <p:nvSpPr>
          <p:cNvPr id="99" name="Shape 17"/>
          <p:cNvSpPr/>
          <p:nvPr/>
        </p:nvSpPr>
        <p:spPr>
          <a:xfrm>
            <a:off x="731520" y="4251960"/>
            <a:ext cx="7680600" cy="776880"/>
          </a:xfrm>
          <a:prstGeom prst="rect">
            <a:avLst/>
          </a:prstGeom>
          <a:solidFill>
            <a:srgbClr val="ebf5f4"/>
          </a:solidFill>
          <a:ln w="0">
            <a:noFill/>
          </a:ln>
        </p:spPr>
        <p:style>
          <a:lnRef idx="0"/>
          <a:fillRef idx="0"/>
          <a:effectRef idx="0"/>
          <a:fontRef idx="minor"/>
        </p:style>
      </p:sp>
      <p:sp>
        <p:nvSpPr>
          <p:cNvPr id="100" name="Text 18"/>
          <p:cNvSpPr/>
          <p:nvPr/>
        </p:nvSpPr>
        <p:spPr>
          <a:xfrm>
            <a:off x="914400" y="4279320"/>
            <a:ext cx="731484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00857c"/>
                </a:solidFill>
                <a:latin typeface="Georgia"/>
                <a:ea typeface="Georgia"/>
              </a:rPr>
              <a:t>What Our Spatial Analysis Addresses</a:t>
            </a:r>
            <a:endParaRPr b="0" lang="en-US" sz="1200" spc="-1" strike="noStrike">
              <a:latin typeface="Arial"/>
            </a:endParaRPr>
          </a:p>
        </p:txBody>
      </p:sp>
      <p:sp>
        <p:nvSpPr>
          <p:cNvPr id="101" name="Text 19"/>
          <p:cNvSpPr/>
          <p:nvPr/>
        </p:nvSpPr>
        <p:spPr>
          <a:xfrm>
            <a:off x="914400" y="4526280"/>
            <a:ext cx="7314840" cy="45684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950" spc="-1" strike="noStrike">
                <a:solidFill>
                  <a:srgbClr val="333333"/>
                </a:solidFill>
                <a:latin typeface="Calibri"/>
                <a:ea typeface="Calibri"/>
              </a:rPr>
              <a:t>The core questions debated in Parliament are spatial questions: Does the freeze create geographic inequity? (Chart 71: yes, Moran's I = 0.52). Is women's exclusion regional or institutional? (Chart 65: institutional, I = 0.113). Do the states that lose seats also lose fiscal returns? (Chart 77: yes, same north-south axis). Which allocation formula reduces the spatial clustering of disadvantage? (Chart 74: adding area + women + fiscal breaks concentration). None of these can be answered with tables or bar charts.</a:t>
            </a:r>
            <a:endParaRPr b="0" lang="en-US" sz="95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2" name="Text 0"/>
          <p:cNvSpPr/>
          <p:nvPr/>
        </p:nvSpPr>
        <p:spPr>
          <a:xfrm>
            <a:off x="731520" y="274320"/>
            <a:ext cx="768060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800" spc="-1" strike="noStrike">
                <a:solidFill>
                  <a:srgbClr val="0d2b5c"/>
                </a:solidFill>
                <a:latin typeface="Georgia"/>
                <a:ea typeface="Georgia"/>
              </a:rPr>
              <a:t>Project Aim and Inputs</a:t>
            </a:r>
            <a:endParaRPr b="0" lang="en-US" sz="2800" spc="-1" strike="noStrike">
              <a:latin typeface="Arial"/>
            </a:endParaRPr>
          </a:p>
        </p:txBody>
      </p:sp>
      <p:sp>
        <p:nvSpPr>
          <p:cNvPr id="103" name="Shape 1"/>
          <p:cNvSpPr/>
          <p:nvPr/>
        </p:nvSpPr>
        <p:spPr>
          <a:xfrm>
            <a:off x="731520" y="822960"/>
            <a:ext cx="7680600" cy="914040"/>
          </a:xfrm>
          <a:prstGeom prst="rect">
            <a:avLst/>
          </a:prstGeom>
          <a:solidFill>
            <a:srgbClr val="f0f0f0"/>
          </a:solidFill>
          <a:ln w="0">
            <a:noFill/>
          </a:ln>
        </p:spPr>
        <p:style>
          <a:lnRef idx="0"/>
          <a:fillRef idx="0"/>
          <a:effectRef idx="0"/>
          <a:fontRef idx="minor"/>
        </p:style>
      </p:sp>
      <p:sp>
        <p:nvSpPr>
          <p:cNvPr id="104" name="Text 2"/>
          <p:cNvSpPr/>
          <p:nvPr/>
        </p:nvSpPr>
        <p:spPr>
          <a:xfrm>
            <a:off x="914400" y="868680"/>
            <a:ext cx="731484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0d2b5c"/>
                </a:solidFill>
                <a:latin typeface="Georgia"/>
                <a:ea typeface="Georgia"/>
              </a:rPr>
              <a:t>Project Statement</a:t>
            </a:r>
            <a:endParaRPr b="0" lang="en-US" sz="1300" spc="-1" strike="noStrike">
              <a:latin typeface="Arial"/>
            </a:endParaRPr>
          </a:p>
        </p:txBody>
      </p:sp>
      <p:sp>
        <p:nvSpPr>
          <p:cNvPr id="105" name="Text 3"/>
          <p:cNvSpPr/>
          <p:nvPr/>
        </p:nvSpPr>
        <p:spPr>
          <a:xfrm>
            <a:off x="914400" y="1143000"/>
            <a:ext cx="7314840" cy="50256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100" spc="-1" strike="noStrike">
                <a:solidFill>
                  <a:srgbClr val="333333"/>
                </a:solidFill>
                <a:latin typeface="Calibri"/>
                <a:ea typeface="Calibri"/>
              </a:rPr>
              <a:t>Spatialize standard statistical charts (histograms, scatterplots) by embedding data in geographic space and applying spatial autocorrelation (Moran's I, LISA). Produce a new class of visualizations answering spatial queries inaccessible to conventional charts. Dataset: 2024 Lok Sabha. Queries must generalize beyond this dataset.</a:t>
            </a:r>
            <a:endParaRPr b="0" lang="en-US" sz="1100" spc="-1" strike="noStrike">
              <a:latin typeface="Arial"/>
            </a:endParaRPr>
          </a:p>
        </p:txBody>
      </p:sp>
      <p:sp>
        <p:nvSpPr>
          <p:cNvPr id="106" name="Text 4"/>
          <p:cNvSpPr/>
          <p:nvPr/>
        </p:nvSpPr>
        <p:spPr>
          <a:xfrm>
            <a:off x="731520" y="1920240"/>
            <a:ext cx="768060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400" spc="-1" strike="noStrike">
                <a:solidFill>
                  <a:srgbClr val="00857c"/>
                </a:solidFill>
                <a:latin typeface="Georgia"/>
                <a:ea typeface="Georgia"/>
              </a:rPr>
              <a:t>Inputs Provided</a:t>
            </a:r>
            <a:endParaRPr b="0" lang="en-US" sz="1400" spc="-1" strike="noStrike">
              <a:latin typeface="Arial"/>
            </a:endParaRPr>
          </a:p>
        </p:txBody>
      </p:sp>
      <p:sp>
        <p:nvSpPr>
          <p:cNvPr id="107" name="Shape 5"/>
          <p:cNvSpPr/>
          <p:nvPr/>
        </p:nvSpPr>
        <p:spPr>
          <a:xfrm>
            <a:off x="731520" y="2286000"/>
            <a:ext cx="36360" cy="548280"/>
          </a:xfrm>
          <a:prstGeom prst="rect">
            <a:avLst/>
          </a:prstGeom>
          <a:solidFill>
            <a:srgbClr val="0d2b5c"/>
          </a:solidFill>
          <a:ln w="0">
            <a:noFill/>
          </a:ln>
        </p:spPr>
        <p:style>
          <a:lnRef idx="0"/>
          <a:fillRef idx="0"/>
          <a:effectRef idx="0"/>
          <a:fontRef idx="minor"/>
        </p:style>
      </p:sp>
      <p:sp>
        <p:nvSpPr>
          <p:cNvPr id="108" name="Text 6"/>
          <p:cNvSpPr/>
          <p:nvPr/>
        </p:nvSpPr>
        <p:spPr>
          <a:xfrm>
            <a:off x="868680" y="2286000"/>
            <a:ext cx="182844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 strike="noStrike">
                <a:solidFill>
                  <a:srgbClr val="0d2b5c"/>
                </a:solidFill>
                <a:latin typeface="Georgia"/>
                <a:ea typeface="Georgia"/>
              </a:rPr>
              <a:t>Base datasets</a:t>
            </a:r>
            <a:endParaRPr b="0" lang="en-US" sz="1100" spc="-1" strike="noStrike">
              <a:latin typeface="Arial"/>
            </a:endParaRPr>
          </a:p>
        </p:txBody>
      </p:sp>
      <p:sp>
        <p:nvSpPr>
          <p:cNvPr id="109" name="Text 7"/>
          <p:cNvSpPr/>
          <p:nvPr/>
        </p:nvSpPr>
        <p:spPr>
          <a:xfrm>
            <a:off x="2743200" y="2286000"/>
            <a:ext cx="5668920" cy="54828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00" spc="-1" strike="noStrike">
                <a:solidFill>
                  <a:srgbClr val="333333"/>
                </a:solidFill>
                <a:latin typeface="Calibri"/>
                <a:ea typeface="Calibri"/>
              </a:rPr>
              <a:t>ECI 2024 (8,902 candidates), ECI 2019 (TCPD), DataMeet GeoJSON (512 matched). 45 derived attributes per constituency.</a:t>
            </a:r>
            <a:endParaRPr b="0" lang="en-US" sz="1000" spc="-1" strike="noStrike">
              <a:latin typeface="Arial"/>
            </a:endParaRPr>
          </a:p>
        </p:txBody>
      </p:sp>
      <p:sp>
        <p:nvSpPr>
          <p:cNvPr id="110" name="Shape 8"/>
          <p:cNvSpPr/>
          <p:nvPr/>
        </p:nvSpPr>
        <p:spPr>
          <a:xfrm>
            <a:off x="731520" y="2944440"/>
            <a:ext cx="36360" cy="548280"/>
          </a:xfrm>
          <a:prstGeom prst="rect">
            <a:avLst/>
          </a:prstGeom>
          <a:solidFill>
            <a:srgbClr val="ff9933"/>
          </a:solidFill>
          <a:ln w="0">
            <a:noFill/>
          </a:ln>
        </p:spPr>
        <p:style>
          <a:lnRef idx="0"/>
          <a:fillRef idx="0"/>
          <a:effectRef idx="0"/>
          <a:fontRef idx="minor"/>
        </p:style>
      </p:sp>
      <p:sp>
        <p:nvSpPr>
          <p:cNvPr id="111" name="Text 9"/>
          <p:cNvSpPr/>
          <p:nvPr/>
        </p:nvSpPr>
        <p:spPr>
          <a:xfrm>
            <a:off x="868680" y="2944440"/>
            <a:ext cx="182844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 strike="noStrike">
                <a:solidFill>
                  <a:srgbClr val="ff9933"/>
                </a:solidFill>
                <a:latin typeface="Georgia"/>
                <a:ea typeface="Georgia"/>
              </a:rPr>
              <a:t>Fiscal maps</a:t>
            </a:r>
            <a:endParaRPr b="0" lang="en-US" sz="1100" spc="-1" strike="noStrike">
              <a:latin typeface="Arial"/>
            </a:endParaRPr>
          </a:p>
        </p:txBody>
      </p:sp>
      <p:sp>
        <p:nvSpPr>
          <p:cNvPr id="112" name="Text 10"/>
          <p:cNvSpPr/>
          <p:nvPr/>
        </p:nvSpPr>
        <p:spPr>
          <a:xfrm>
            <a:off x="2743200" y="2944440"/>
            <a:ext cx="5668920" cy="54828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00" spc="-1" strike="noStrike">
                <a:solidFill>
                  <a:srgbClr val="333333"/>
                </a:solidFill>
                <a:latin typeface="Calibri"/>
                <a:ea typeface="Calibri"/>
              </a:rPr>
              <a:t>15th Finance Commission fiscal return ratios by state. Integrated into spatial analysis: fiscal gradient shares the same north-south axis as turnout clustering (Chart 77: Fiscal Spine).</a:t>
            </a:r>
            <a:endParaRPr b="0" lang="en-US" sz="1000" spc="-1" strike="noStrike">
              <a:latin typeface="Arial"/>
            </a:endParaRPr>
          </a:p>
        </p:txBody>
      </p:sp>
      <p:sp>
        <p:nvSpPr>
          <p:cNvPr id="113" name="Shape 11"/>
          <p:cNvSpPr/>
          <p:nvPr/>
        </p:nvSpPr>
        <p:spPr>
          <a:xfrm>
            <a:off x="731520" y="3602880"/>
            <a:ext cx="36360" cy="548280"/>
          </a:xfrm>
          <a:prstGeom prst="rect">
            <a:avLst/>
          </a:prstGeom>
          <a:solidFill>
            <a:srgbClr val="b7234c"/>
          </a:solidFill>
          <a:ln w="0">
            <a:noFill/>
          </a:ln>
        </p:spPr>
        <p:style>
          <a:lnRef idx="0"/>
          <a:fillRef idx="0"/>
          <a:effectRef idx="0"/>
          <a:fontRef idx="minor"/>
        </p:style>
      </p:sp>
      <p:sp>
        <p:nvSpPr>
          <p:cNvPr id="114" name="Text 12"/>
          <p:cNvSpPr/>
          <p:nvPr/>
        </p:nvSpPr>
        <p:spPr>
          <a:xfrm>
            <a:off x="868680" y="3602880"/>
            <a:ext cx="182844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 strike="noStrike">
                <a:solidFill>
                  <a:srgbClr val="b7234c"/>
                </a:solidFill>
                <a:latin typeface="Georgia"/>
                <a:ea typeface="Georgia"/>
              </a:rPr>
              <a:t>Reservation simulation code</a:t>
            </a:r>
            <a:endParaRPr b="0" lang="en-US" sz="1100" spc="-1" strike="noStrike">
              <a:latin typeface="Arial"/>
            </a:endParaRPr>
          </a:p>
        </p:txBody>
      </p:sp>
      <p:sp>
        <p:nvSpPr>
          <p:cNvPr id="115" name="Text 13"/>
          <p:cNvSpPr/>
          <p:nvPr/>
        </p:nvSpPr>
        <p:spPr>
          <a:xfrm>
            <a:off x="2743200" y="3602880"/>
            <a:ext cx="5668920" cy="54828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00" spc="-1" strike="noStrike">
                <a:solidFill>
                  <a:srgbClr val="333333"/>
                </a:solidFill>
                <a:latin typeface="Calibri"/>
                <a:ea typeface="Calibri"/>
              </a:rPr>
              <a:t>Women's reservation slider (0-100%). Generates seat allocation at each %. Connected to LISA: shows that at any reservation level, women's spatial randomness (I=0.113) persists (Chart 73).</a:t>
            </a:r>
            <a:endParaRPr b="0" lang="en-US" sz="1000" spc="-1" strike="noStrike">
              <a:latin typeface="Arial"/>
            </a:endParaRPr>
          </a:p>
        </p:txBody>
      </p:sp>
      <p:sp>
        <p:nvSpPr>
          <p:cNvPr id="116" name="Shape 14"/>
          <p:cNvSpPr/>
          <p:nvPr/>
        </p:nvSpPr>
        <p:spPr>
          <a:xfrm>
            <a:off x="731520" y="4260960"/>
            <a:ext cx="36360" cy="548280"/>
          </a:xfrm>
          <a:prstGeom prst="rect">
            <a:avLst/>
          </a:prstGeom>
          <a:solidFill>
            <a:srgbClr val="c8960c"/>
          </a:solidFill>
          <a:ln w="0">
            <a:noFill/>
          </a:ln>
        </p:spPr>
        <p:style>
          <a:lnRef idx="0"/>
          <a:fillRef idx="0"/>
          <a:effectRef idx="0"/>
          <a:fontRef idx="minor"/>
        </p:style>
      </p:sp>
      <p:sp>
        <p:nvSpPr>
          <p:cNvPr id="117" name="Text 15"/>
          <p:cNvSpPr/>
          <p:nvPr/>
        </p:nvSpPr>
        <p:spPr>
          <a:xfrm>
            <a:off x="868680" y="4260960"/>
            <a:ext cx="182844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 strike="noStrike">
                <a:solidFill>
                  <a:srgbClr val="c8960c"/>
                </a:solidFill>
                <a:latin typeface="Georgia"/>
                <a:ea typeface="Georgia"/>
              </a:rPr>
              <a:t>Constituency count simulation</a:t>
            </a:r>
            <a:endParaRPr b="0" lang="en-US" sz="1100" spc="-1" strike="noStrike">
              <a:latin typeface="Arial"/>
            </a:endParaRPr>
          </a:p>
        </p:txBody>
      </p:sp>
      <p:sp>
        <p:nvSpPr>
          <p:cNvPr id="118" name="Text 16"/>
          <p:cNvSpPr/>
          <p:nvPr/>
        </p:nvSpPr>
        <p:spPr>
          <a:xfrm>
            <a:off x="2743200" y="4260960"/>
            <a:ext cx="5668920" cy="54828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00" spc="-1" strike="noStrike">
                <a:solidFill>
                  <a:srgbClr val="333333"/>
                </a:solidFill>
                <a:latin typeface="Calibri"/>
                <a:ea typeface="Calibri"/>
              </a:rPr>
              <a:t>Delimitation slider (543-1,000 seats). Webster/Sainte-Lague proportional allocation. Connected to Moran's I: tests which house size / formula reduces spatial clustering of disadvantage (Charts 71, 74).</a:t>
            </a:r>
            <a:endParaRPr b="0" lang="en-US" sz="1000" spc="-1" strike="noStrike">
              <a:latin typeface="Arial"/>
            </a:endParaRPr>
          </a:p>
        </p:txBody>
      </p:sp>
      <p:sp>
        <p:nvSpPr>
          <p:cNvPr id="119" name="Text 17"/>
          <p:cNvSpPr/>
          <p:nvPr/>
        </p:nvSpPr>
        <p:spPr>
          <a:xfrm>
            <a:off x="731520" y="4709160"/>
            <a:ext cx="768060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000" spc="-1" strike="noStrike">
                <a:solidFill>
                  <a:srgbClr val="00857c"/>
                </a:solidFill>
                <a:latin typeface="Georgia"/>
                <a:ea typeface="Georgia"/>
              </a:rPr>
              <a:t>Each input is used in conjunction with spatial autocorrelation, not in isolation.</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0" name="Text 0"/>
          <p:cNvSpPr/>
          <p:nvPr/>
        </p:nvSpPr>
        <p:spPr>
          <a:xfrm>
            <a:off x="731520" y="274320"/>
            <a:ext cx="768060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600" spc="-1" strike="noStrike">
                <a:solidFill>
                  <a:srgbClr val="0d2b5c"/>
                </a:solidFill>
                <a:latin typeface="Georgia"/>
                <a:ea typeface="Georgia"/>
              </a:rPr>
              <a:t>What Spatializing Adds: The Information Gain</a:t>
            </a:r>
            <a:endParaRPr b="0" lang="en-US" sz="2600" spc="-1" strike="noStrike">
              <a:latin typeface="Arial"/>
            </a:endParaRPr>
          </a:p>
        </p:txBody>
      </p:sp>
      <p:sp>
        <p:nvSpPr>
          <p:cNvPr id="121" name="Shape 1"/>
          <p:cNvSpPr/>
          <p:nvPr/>
        </p:nvSpPr>
        <p:spPr>
          <a:xfrm>
            <a:off x="731520" y="914400"/>
            <a:ext cx="3657240" cy="2559960"/>
          </a:xfrm>
          <a:prstGeom prst="rect">
            <a:avLst/>
          </a:prstGeom>
          <a:solidFill>
            <a:srgbClr val="fff5f5"/>
          </a:solidFill>
          <a:ln w="0">
            <a:noFill/>
          </a:ln>
        </p:spPr>
        <p:style>
          <a:lnRef idx="0"/>
          <a:fillRef idx="0"/>
          <a:effectRef idx="0"/>
          <a:fontRef idx="minor"/>
        </p:style>
      </p:sp>
      <p:sp>
        <p:nvSpPr>
          <p:cNvPr id="122" name="Text 2"/>
          <p:cNvSpPr/>
          <p:nvPr/>
        </p:nvSpPr>
        <p:spPr>
          <a:xfrm>
            <a:off x="914400" y="960120"/>
            <a:ext cx="329148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d7191c"/>
                </a:solidFill>
                <a:latin typeface="Georgia"/>
                <a:ea typeface="Georgia"/>
              </a:rPr>
              <a:t>Without Spatial Embedding</a:t>
            </a:r>
            <a:endParaRPr b="0" lang="en-US" sz="1300" spc="-1" strike="noStrike">
              <a:latin typeface="Arial"/>
            </a:endParaRPr>
          </a:p>
        </p:txBody>
      </p:sp>
      <p:sp>
        <p:nvSpPr>
          <p:cNvPr id="123" name="Text 3"/>
          <p:cNvSpPr/>
          <p:nvPr/>
        </p:nvSpPr>
        <p:spPr>
          <a:xfrm>
            <a:off x="914400" y="1280160"/>
            <a:ext cx="3291480" cy="20113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50" spc="-1" strike="noStrike">
                <a:solidFill>
                  <a:srgbClr val="333333"/>
                </a:solidFill>
                <a:latin typeface="Calibri"/>
                <a:ea typeface="Calibri"/>
              </a:rPr>
              <a:t>A histogram says: "turnout is roughly normal."</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A scatterplot says: "r = 0.022, no correlation."</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A bar chart says: "UP needs +37 seats."</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A table says: "121 PCs had zero women."</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A simulator says: "at 33%, 180 seats for women."</a:t>
            </a:r>
            <a:endParaRPr b="0" lang="en-US" sz="1050" spc="-1" strike="noStrike">
              <a:latin typeface="Arial"/>
            </a:endParaRPr>
          </a:p>
          <a:p>
            <a:pPr>
              <a:lnSpc>
                <a:spcPct val="100000"/>
              </a:lnSpc>
              <a:buNone/>
              <a:tabLst>
                <a:tab algn="l" pos="0"/>
              </a:tabLst>
            </a:pP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Each provides a MAGNITUDE.</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None provides a LOCATION.</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None can determine whether values</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cluster geographically or are scattered.</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None can identify spatial outliers.</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None can prove a problem is NOT geographic.</a:t>
            </a:r>
            <a:endParaRPr b="0" lang="en-US" sz="1050" spc="-1" strike="noStrike">
              <a:latin typeface="Arial"/>
            </a:endParaRPr>
          </a:p>
        </p:txBody>
      </p:sp>
      <p:sp>
        <p:nvSpPr>
          <p:cNvPr id="124" name="Shape 4"/>
          <p:cNvSpPr/>
          <p:nvPr/>
        </p:nvSpPr>
        <p:spPr>
          <a:xfrm>
            <a:off x="4754880" y="914400"/>
            <a:ext cx="3657240" cy="2559960"/>
          </a:xfrm>
          <a:prstGeom prst="rect">
            <a:avLst/>
          </a:prstGeom>
          <a:solidFill>
            <a:srgbClr val="ebf5f4"/>
          </a:solidFill>
          <a:ln w="0">
            <a:noFill/>
          </a:ln>
        </p:spPr>
        <p:style>
          <a:lnRef idx="0"/>
          <a:fillRef idx="0"/>
          <a:effectRef idx="0"/>
          <a:fontRef idx="minor"/>
        </p:style>
      </p:sp>
      <p:sp>
        <p:nvSpPr>
          <p:cNvPr id="125" name="Text 5"/>
          <p:cNvSpPr/>
          <p:nvPr/>
        </p:nvSpPr>
        <p:spPr>
          <a:xfrm>
            <a:off x="4937760" y="960120"/>
            <a:ext cx="329148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00857c"/>
                </a:solidFill>
                <a:latin typeface="Georgia"/>
                <a:ea typeface="Georgia"/>
              </a:rPr>
              <a:t>With Spatial Embedding</a:t>
            </a:r>
            <a:endParaRPr b="0" lang="en-US" sz="1300" spc="-1" strike="noStrike">
              <a:latin typeface="Arial"/>
            </a:endParaRPr>
          </a:p>
        </p:txBody>
      </p:sp>
      <p:sp>
        <p:nvSpPr>
          <p:cNvPr id="126" name="Text 6"/>
          <p:cNvSpPr/>
          <p:nvPr/>
        </p:nvSpPr>
        <p:spPr>
          <a:xfrm>
            <a:off x="4937760" y="1280160"/>
            <a:ext cx="3291480" cy="20113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50" spc="-1" strike="noStrike">
                <a:solidFill>
                  <a:srgbClr val="333333"/>
                </a:solidFill>
                <a:latin typeface="Calibri"/>
                <a:ea typeface="Calibri"/>
              </a:rPr>
              <a:t>LISA says: "two contiguous hot-spot belts."</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Moran says: "Bangalore deviates from neighbors."</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The 3D map says: "+37 is the SAME belt as LL."</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The Silence Map says: "I=0.113, institutional."</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The simulator + I says: "which formula</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reduces geographic clustering?"</a:t>
            </a:r>
            <a:endParaRPr b="0" lang="en-US" sz="1050" spc="-1" strike="noStrike">
              <a:latin typeface="Arial"/>
            </a:endParaRPr>
          </a:p>
          <a:p>
            <a:pPr>
              <a:lnSpc>
                <a:spcPct val="100000"/>
              </a:lnSpc>
              <a:buNone/>
              <a:tabLst>
                <a:tab algn="l" pos="0"/>
              </a:tabLst>
            </a:pP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Each provides LOCATION + STRUCTURE.</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Contiguity: are high values connected?</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Clusters: where exactly, with p-values?</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Spatial outliers: anomalous vs neighborhood?</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Absence: does non-clustering prove cause?</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Co-location: do crises share geography?</a:t>
            </a:r>
            <a:endParaRPr b="0" lang="en-US" sz="1050" spc="-1" strike="noStrike">
              <a:latin typeface="Arial"/>
            </a:endParaRPr>
          </a:p>
        </p:txBody>
      </p:sp>
      <p:sp>
        <p:nvSpPr>
          <p:cNvPr id="127" name="Text 7"/>
          <p:cNvSpPr/>
          <p:nvPr/>
        </p:nvSpPr>
        <p:spPr>
          <a:xfrm>
            <a:off x="731520" y="3749040"/>
            <a:ext cx="7680600" cy="6397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100" spc="-1" strike="noStrike">
                <a:solidFill>
                  <a:srgbClr val="00857c"/>
                </a:solidFill>
                <a:latin typeface="Georgia"/>
                <a:ea typeface="Georgia"/>
              </a:rPr>
              <a:t>The simulation code provided (reservation %, constituency count) becomes analytically powerful when combined with spatial autocorrelation. Without Moran's I, the simulator shows numbers. With Moran's I, it shows whether the geographic clustering of disadvantage increases or decreases under each scenario.</a:t>
            </a:r>
            <a:endParaRPr b="0" lang="en-US" sz="11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8" name="Text 0"/>
          <p:cNvSpPr/>
          <p:nvPr/>
        </p:nvSpPr>
        <p:spPr>
          <a:xfrm>
            <a:off x="731520" y="274320"/>
            <a:ext cx="768060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400" spc="-1" strike="noStrike">
                <a:solidFill>
                  <a:srgbClr val="0d2b5c"/>
                </a:solidFill>
                <a:latin typeface="Georgia"/>
                <a:ea typeface="Georgia"/>
              </a:rPr>
              <a:t>From Dataset-Specific to Generalizable Queries</a:t>
            </a:r>
            <a:endParaRPr b="0" lang="en-US" sz="2400" spc="-1" strike="noStrike">
              <a:latin typeface="Arial"/>
            </a:endParaRPr>
          </a:p>
        </p:txBody>
      </p:sp>
      <p:sp>
        <p:nvSpPr>
          <p:cNvPr id="129" name="Text 1"/>
          <p:cNvSpPr/>
          <p:nvPr/>
        </p:nvSpPr>
        <p:spPr>
          <a:xfrm>
            <a:off x="731520" y="822960"/>
            <a:ext cx="7680600" cy="3196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400" spc="-1" strike="noStrike">
                <a:solidFill>
                  <a:srgbClr val="00857c"/>
                </a:solidFill>
                <a:latin typeface="Georgia"/>
                <a:ea typeface="Georgia"/>
              </a:rPr>
              <a:t>The Lok Sabha dataset is the APPLICATION. The query classes are the CONTRIBUTION.</a:t>
            </a:r>
            <a:endParaRPr b="0" lang="en-US" sz="1400" spc="-1" strike="noStrike">
              <a:latin typeface="Arial"/>
            </a:endParaRPr>
          </a:p>
        </p:txBody>
      </p:sp>
      <p:sp>
        <p:nvSpPr>
          <p:cNvPr id="130" name="Text 2"/>
          <p:cNvSpPr/>
          <p:nvPr/>
        </p:nvSpPr>
        <p:spPr>
          <a:xfrm>
            <a:off x="731520" y="1280160"/>
            <a:ext cx="768060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300" spc="-1" strike="noStrike">
                <a:solidFill>
                  <a:srgbClr val="333333"/>
                </a:solidFill>
                <a:latin typeface="Calibri"/>
                <a:ea typeface="Calibri"/>
              </a:rPr>
              <a:t>Each query answered on election data has a domain-independent form that applies to any variable measured at geographic units:</a:t>
            </a:r>
            <a:endParaRPr b="0" lang="en-US" sz="1300" spc="-1" strike="noStrike">
              <a:latin typeface="Arial"/>
            </a:endParaRPr>
          </a:p>
        </p:txBody>
      </p:sp>
      <p:sp>
        <p:nvSpPr>
          <p:cNvPr id="131" name="Shape 3"/>
          <p:cNvSpPr/>
          <p:nvPr/>
        </p:nvSpPr>
        <p:spPr>
          <a:xfrm>
            <a:off x="731520" y="1691640"/>
            <a:ext cx="36360" cy="548280"/>
          </a:xfrm>
          <a:prstGeom prst="rect">
            <a:avLst/>
          </a:prstGeom>
          <a:solidFill>
            <a:srgbClr val="d7191c"/>
          </a:solidFill>
          <a:ln w="0">
            <a:noFill/>
          </a:ln>
        </p:spPr>
        <p:style>
          <a:lnRef idx="0"/>
          <a:fillRef idx="0"/>
          <a:effectRef idx="0"/>
          <a:fontRef idx="minor"/>
        </p:style>
      </p:sp>
      <p:sp>
        <p:nvSpPr>
          <p:cNvPr id="132" name="Text 4"/>
          <p:cNvSpPr/>
          <p:nvPr/>
        </p:nvSpPr>
        <p:spPr>
          <a:xfrm>
            <a:off x="868680" y="1691640"/>
            <a:ext cx="3840120" cy="182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50" spc="-1" strike="noStrike">
                <a:solidFill>
                  <a:srgbClr val="333333"/>
                </a:solidFill>
                <a:latin typeface="Calibri"/>
                <a:ea typeface="Calibri"/>
              </a:rPr>
              <a:t>"Does voter turnout cluster geographically?"</a:t>
            </a:r>
            <a:endParaRPr b="0" lang="en-US" sz="950" spc="-1" strike="noStrike">
              <a:latin typeface="Arial"/>
            </a:endParaRPr>
          </a:p>
        </p:txBody>
      </p:sp>
      <p:sp>
        <p:nvSpPr>
          <p:cNvPr id="133" name="Text 5"/>
          <p:cNvSpPr/>
          <p:nvPr/>
        </p:nvSpPr>
        <p:spPr>
          <a:xfrm>
            <a:off x="4846320" y="1691640"/>
            <a:ext cx="3657240" cy="182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50" spc="-1" strike="noStrike">
                <a:solidFill>
                  <a:srgbClr val="d7191c"/>
                </a:solidFill>
                <a:latin typeface="Calibri"/>
                <a:ea typeface="Calibri"/>
              </a:rPr>
              <a:t>"Does variable X exhibit spatial autocorrelation?"</a:t>
            </a:r>
            <a:endParaRPr b="0" lang="en-US" sz="950" spc="-1" strike="noStrike">
              <a:latin typeface="Arial"/>
            </a:endParaRPr>
          </a:p>
        </p:txBody>
      </p:sp>
      <p:sp>
        <p:nvSpPr>
          <p:cNvPr id="134" name="Text 6"/>
          <p:cNvSpPr/>
          <p:nvPr/>
        </p:nvSpPr>
        <p:spPr>
          <a:xfrm>
            <a:off x="868680" y="1920240"/>
            <a:ext cx="75434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900" spc="-1" strike="noStrike">
                <a:solidFill>
                  <a:srgbClr val="777777"/>
                </a:solidFill>
                <a:latin typeface="Calibri"/>
                <a:ea typeface="Calibri"/>
              </a:rPr>
              <a:t>Crime rates by district, house prices by zip code, COVID cases by county</a:t>
            </a:r>
            <a:endParaRPr b="0" lang="en-US" sz="900" spc="-1" strike="noStrike">
              <a:latin typeface="Arial"/>
            </a:endParaRPr>
          </a:p>
        </p:txBody>
      </p:sp>
      <p:sp>
        <p:nvSpPr>
          <p:cNvPr id="135" name="Shape 7"/>
          <p:cNvSpPr/>
          <p:nvPr/>
        </p:nvSpPr>
        <p:spPr>
          <a:xfrm>
            <a:off x="731520" y="2331720"/>
            <a:ext cx="36360" cy="548280"/>
          </a:xfrm>
          <a:prstGeom prst="rect">
            <a:avLst/>
          </a:prstGeom>
          <a:solidFill>
            <a:srgbClr val="c8960c"/>
          </a:solidFill>
          <a:ln w="0">
            <a:noFill/>
          </a:ln>
        </p:spPr>
        <p:style>
          <a:lnRef idx="0"/>
          <a:fillRef idx="0"/>
          <a:effectRef idx="0"/>
          <a:fontRef idx="minor"/>
        </p:style>
      </p:sp>
      <p:sp>
        <p:nvSpPr>
          <p:cNvPr id="136" name="Text 8"/>
          <p:cNvSpPr/>
          <p:nvPr/>
        </p:nvSpPr>
        <p:spPr>
          <a:xfrm>
            <a:off x="868680" y="2331720"/>
            <a:ext cx="3840120" cy="182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50" spc="-1" strike="noStrike">
                <a:solidFill>
                  <a:srgbClr val="333333"/>
                </a:solidFill>
                <a:latin typeface="Calibri"/>
                <a:ea typeface="Calibri"/>
              </a:rPr>
              <a:t>"Is Bangalore's low turnout anomalous for Karnataka or for India?"</a:t>
            </a:r>
            <a:endParaRPr b="0" lang="en-US" sz="950" spc="-1" strike="noStrike">
              <a:latin typeface="Arial"/>
            </a:endParaRPr>
          </a:p>
        </p:txBody>
      </p:sp>
      <p:sp>
        <p:nvSpPr>
          <p:cNvPr id="137" name="Text 9"/>
          <p:cNvSpPr/>
          <p:nvPr/>
        </p:nvSpPr>
        <p:spPr>
          <a:xfrm>
            <a:off x="4846320" y="2331720"/>
            <a:ext cx="3657240" cy="182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50" spc="-1" strike="noStrike">
                <a:solidFill>
                  <a:srgbClr val="c8960c"/>
                </a:solidFill>
                <a:latin typeface="Calibri"/>
                <a:ea typeface="Calibri"/>
              </a:rPr>
              <a:t>"Is observation X anomalous relative to its neighborhood or the global mean?"</a:t>
            </a:r>
            <a:endParaRPr b="0" lang="en-US" sz="950" spc="-1" strike="noStrike">
              <a:latin typeface="Arial"/>
            </a:endParaRPr>
          </a:p>
        </p:txBody>
      </p:sp>
      <p:sp>
        <p:nvSpPr>
          <p:cNvPr id="138" name="Text 10"/>
          <p:cNvSpPr/>
          <p:nvPr/>
        </p:nvSpPr>
        <p:spPr>
          <a:xfrm>
            <a:off x="868680" y="2560320"/>
            <a:ext cx="75434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900" spc="-1" strike="noStrike">
                <a:solidFill>
                  <a:srgbClr val="777777"/>
                </a:solidFill>
                <a:latin typeface="Calibri"/>
                <a:ea typeface="Calibri"/>
              </a:rPr>
              <a:t>Hospital wait times, school test scores, pollution readings at sensor stations</a:t>
            </a:r>
            <a:endParaRPr b="0" lang="en-US" sz="900" spc="-1" strike="noStrike">
              <a:latin typeface="Arial"/>
            </a:endParaRPr>
          </a:p>
        </p:txBody>
      </p:sp>
      <p:sp>
        <p:nvSpPr>
          <p:cNvPr id="139" name="Shape 11"/>
          <p:cNvSpPr/>
          <p:nvPr/>
        </p:nvSpPr>
        <p:spPr>
          <a:xfrm>
            <a:off x="731520" y="2971800"/>
            <a:ext cx="36360" cy="548280"/>
          </a:xfrm>
          <a:prstGeom prst="rect">
            <a:avLst/>
          </a:prstGeom>
          <a:solidFill>
            <a:srgbClr val="b7234c"/>
          </a:solidFill>
          <a:ln w="0">
            <a:noFill/>
          </a:ln>
        </p:spPr>
        <p:style>
          <a:lnRef idx="0"/>
          <a:fillRef idx="0"/>
          <a:effectRef idx="0"/>
          <a:fontRef idx="minor"/>
        </p:style>
      </p:sp>
      <p:sp>
        <p:nvSpPr>
          <p:cNvPr id="140" name="Text 12"/>
          <p:cNvSpPr/>
          <p:nvPr/>
        </p:nvSpPr>
        <p:spPr>
          <a:xfrm>
            <a:off x="868680" y="2971800"/>
            <a:ext cx="3840120" cy="182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50" spc="-1" strike="noStrike">
                <a:solidFill>
                  <a:srgbClr val="333333"/>
                </a:solidFill>
                <a:latin typeface="Calibri"/>
                <a:ea typeface="Calibri"/>
              </a:rPr>
              <a:t>"Is women's exclusion regional or institutional?"</a:t>
            </a:r>
            <a:endParaRPr b="0" lang="en-US" sz="950" spc="-1" strike="noStrike">
              <a:latin typeface="Arial"/>
            </a:endParaRPr>
          </a:p>
        </p:txBody>
      </p:sp>
      <p:sp>
        <p:nvSpPr>
          <p:cNvPr id="141" name="Text 13"/>
          <p:cNvSpPr/>
          <p:nvPr/>
        </p:nvSpPr>
        <p:spPr>
          <a:xfrm>
            <a:off x="4846320" y="2971800"/>
            <a:ext cx="3657240" cy="182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50" spc="-1" strike="noStrike">
                <a:solidFill>
                  <a:srgbClr val="b7234c"/>
                </a:solidFill>
                <a:latin typeface="Calibri"/>
                <a:ea typeface="Calibri"/>
              </a:rPr>
              <a:t>"Does absence of spatial structure constitute evidence for a non-geographic cause?"</a:t>
            </a:r>
            <a:endParaRPr b="0" lang="en-US" sz="950" spc="-1" strike="noStrike">
              <a:latin typeface="Arial"/>
            </a:endParaRPr>
          </a:p>
        </p:txBody>
      </p:sp>
      <p:sp>
        <p:nvSpPr>
          <p:cNvPr id="142" name="Text 14"/>
          <p:cNvSpPr/>
          <p:nvPr/>
        </p:nvSpPr>
        <p:spPr>
          <a:xfrm>
            <a:off x="868680" y="3200400"/>
            <a:ext cx="75434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900" spc="-1" strike="noStrike">
                <a:solidFill>
                  <a:srgbClr val="777777"/>
                </a:solidFill>
                <a:latin typeface="Calibri"/>
                <a:ea typeface="Calibri"/>
              </a:rPr>
              <a:t>Service delivery failures, regulatory violations, equipment breakdowns across plants</a:t>
            </a:r>
            <a:endParaRPr b="0" lang="en-US" sz="900" spc="-1" strike="noStrike">
              <a:latin typeface="Arial"/>
            </a:endParaRPr>
          </a:p>
        </p:txBody>
      </p:sp>
      <p:sp>
        <p:nvSpPr>
          <p:cNvPr id="143" name="Shape 15"/>
          <p:cNvSpPr/>
          <p:nvPr/>
        </p:nvSpPr>
        <p:spPr>
          <a:xfrm>
            <a:off x="731520" y="3611880"/>
            <a:ext cx="36360" cy="548280"/>
          </a:xfrm>
          <a:prstGeom prst="rect">
            <a:avLst/>
          </a:prstGeom>
          <a:solidFill>
            <a:srgbClr val="0d2b5c"/>
          </a:solidFill>
          <a:ln w="0">
            <a:noFill/>
          </a:ln>
        </p:spPr>
        <p:style>
          <a:lnRef idx="0"/>
          <a:fillRef idx="0"/>
          <a:effectRef idx="0"/>
          <a:fontRef idx="minor"/>
        </p:style>
      </p:sp>
      <p:sp>
        <p:nvSpPr>
          <p:cNvPr id="144" name="Text 16"/>
          <p:cNvSpPr/>
          <p:nvPr/>
        </p:nvSpPr>
        <p:spPr>
          <a:xfrm>
            <a:off x="868680" y="3611880"/>
            <a:ext cx="3840120" cy="182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50" spc="-1" strike="noStrike">
                <a:solidFill>
                  <a:srgbClr val="333333"/>
                </a:solidFill>
                <a:latin typeface="Calibri"/>
                <a:ea typeface="Calibri"/>
              </a:rPr>
              <a:t>"Does northern UP differ from southern UP?"</a:t>
            </a:r>
            <a:endParaRPr b="0" lang="en-US" sz="950" spc="-1" strike="noStrike">
              <a:latin typeface="Arial"/>
            </a:endParaRPr>
          </a:p>
        </p:txBody>
      </p:sp>
      <p:sp>
        <p:nvSpPr>
          <p:cNvPr id="145" name="Text 17"/>
          <p:cNvSpPr/>
          <p:nvPr/>
        </p:nvSpPr>
        <p:spPr>
          <a:xfrm>
            <a:off x="4846320" y="3611880"/>
            <a:ext cx="3657240" cy="182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50" spc="-1" strike="noStrike">
                <a:solidFill>
                  <a:srgbClr val="0d2b5c"/>
                </a:solidFill>
                <a:latin typeface="Calibri"/>
                <a:ea typeface="Calibri"/>
              </a:rPr>
              <a:t>"Do aggregate statistics mask within-unit geographic variation?"</a:t>
            </a:r>
            <a:endParaRPr b="0" lang="en-US" sz="950" spc="-1" strike="noStrike">
              <a:latin typeface="Arial"/>
            </a:endParaRPr>
          </a:p>
        </p:txBody>
      </p:sp>
      <p:sp>
        <p:nvSpPr>
          <p:cNvPr id="146" name="Text 18"/>
          <p:cNvSpPr/>
          <p:nvPr/>
        </p:nvSpPr>
        <p:spPr>
          <a:xfrm>
            <a:off x="868680" y="3840480"/>
            <a:ext cx="75434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900" spc="-1" strike="noStrike">
                <a:solidFill>
                  <a:srgbClr val="777777"/>
                </a:solidFill>
                <a:latin typeface="Calibri"/>
                <a:ea typeface="Calibri"/>
              </a:rPr>
              <a:t>Regional sales within a national market, infection rates within a state, crop yield within a district</a:t>
            </a:r>
            <a:endParaRPr b="0" lang="en-US" sz="900" spc="-1" strike="noStrike">
              <a:latin typeface="Arial"/>
            </a:endParaRPr>
          </a:p>
        </p:txBody>
      </p:sp>
      <p:sp>
        <p:nvSpPr>
          <p:cNvPr id="147" name="Shape 19"/>
          <p:cNvSpPr/>
          <p:nvPr/>
        </p:nvSpPr>
        <p:spPr>
          <a:xfrm>
            <a:off x="731520" y="4251960"/>
            <a:ext cx="36360" cy="548280"/>
          </a:xfrm>
          <a:prstGeom prst="rect">
            <a:avLst/>
          </a:prstGeom>
          <a:solidFill>
            <a:srgbClr val="ff9933"/>
          </a:solidFill>
          <a:ln w="0">
            <a:noFill/>
          </a:ln>
        </p:spPr>
        <p:style>
          <a:lnRef idx="0"/>
          <a:fillRef idx="0"/>
          <a:effectRef idx="0"/>
          <a:fontRef idx="minor"/>
        </p:style>
      </p:sp>
      <p:sp>
        <p:nvSpPr>
          <p:cNvPr id="148" name="Text 20"/>
          <p:cNvSpPr/>
          <p:nvPr/>
        </p:nvSpPr>
        <p:spPr>
          <a:xfrm>
            <a:off x="868680" y="4251960"/>
            <a:ext cx="3840120" cy="182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50" spc="-1" strike="noStrike">
                <a:solidFill>
                  <a:srgbClr val="333333"/>
                </a:solidFill>
                <a:latin typeface="Calibri"/>
                <a:ea typeface="Calibri"/>
              </a:rPr>
              <a:t>"Do turnout, seats, and fiscal returns share the same belt?"</a:t>
            </a:r>
            <a:endParaRPr b="0" lang="en-US" sz="950" spc="-1" strike="noStrike">
              <a:latin typeface="Arial"/>
            </a:endParaRPr>
          </a:p>
        </p:txBody>
      </p:sp>
      <p:sp>
        <p:nvSpPr>
          <p:cNvPr id="149" name="Text 21"/>
          <p:cNvSpPr/>
          <p:nvPr/>
        </p:nvSpPr>
        <p:spPr>
          <a:xfrm>
            <a:off x="4846320" y="4251960"/>
            <a:ext cx="3657240" cy="182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50" spc="-1" strike="noStrike">
                <a:solidFill>
                  <a:srgbClr val="ff9933"/>
                </a:solidFill>
                <a:latin typeface="Calibri"/>
                <a:ea typeface="Calibri"/>
              </a:rPr>
              <a:t>"Do multiple disadvantages co-locate in the same geography?"</a:t>
            </a:r>
            <a:endParaRPr b="0" lang="en-US" sz="950" spc="-1" strike="noStrike">
              <a:latin typeface="Arial"/>
            </a:endParaRPr>
          </a:p>
        </p:txBody>
      </p:sp>
      <p:sp>
        <p:nvSpPr>
          <p:cNvPr id="150" name="Text 22"/>
          <p:cNvSpPr/>
          <p:nvPr/>
        </p:nvSpPr>
        <p:spPr>
          <a:xfrm>
            <a:off x="868680" y="4480560"/>
            <a:ext cx="75434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900" spc="-1" strike="noStrike">
                <a:solidFill>
                  <a:srgbClr val="777777"/>
                </a:solidFill>
                <a:latin typeface="Calibri"/>
                <a:ea typeface="Calibri"/>
              </a:rPr>
              <a:t>Poverty + poor health + low education in the same districts, multiple infrastructure deficits in the same regions</a:t>
            </a:r>
            <a:endParaRPr b="0" lang="en-US" sz="900" spc="-1" strike="noStrike">
              <a:latin typeface="Arial"/>
            </a:endParaRPr>
          </a:p>
        </p:txBody>
      </p:sp>
      <p:sp>
        <p:nvSpPr>
          <p:cNvPr id="151" name="Text 23"/>
          <p:cNvSpPr/>
          <p:nvPr/>
        </p:nvSpPr>
        <p:spPr>
          <a:xfrm>
            <a:off x="731520" y="4709160"/>
            <a:ext cx="768060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000" spc="-1" strike="noStrike">
                <a:solidFill>
                  <a:srgbClr val="00857c"/>
                </a:solidFill>
                <a:latin typeface="Georgia"/>
                <a:ea typeface="Georgia"/>
              </a:rPr>
              <a:t>The visualization engine processes any CSV with a geographic identifier (lat/lon or polygon ID), computes spatial weights, runs Moran's I and LISA, and produces the spatialized chart. The algorithm is dataset-agnostic.</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2" name="Text 0"/>
          <p:cNvSpPr/>
          <p:nvPr/>
        </p:nvSpPr>
        <p:spPr>
          <a:xfrm>
            <a:off x="731520" y="365760"/>
            <a:ext cx="7680600" cy="5482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3200" spc="-1" strike="noStrike">
                <a:solidFill>
                  <a:srgbClr val="0d2b5c"/>
                </a:solidFill>
                <a:latin typeface="Georgia"/>
                <a:ea typeface="Georgia"/>
              </a:rPr>
              <a:t>The Problem</a:t>
            </a:r>
            <a:endParaRPr b="0" lang="en-US" sz="3200" spc="-1" strike="noStrike">
              <a:latin typeface="Arial"/>
            </a:endParaRPr>
          </a:p>
        </p:txBody>
      </p:sp>
      <p:sp>
        <p:nvSpPr>
          <p:cNvPr id="153" name="Text 1"/>
          <p:cNvSpPr/>
          <p:nvPr/>
        </p:nvSpPr>
        <p:spPr>
          <a:xfrm>
            <a:off x="731520" y="1097280"/>
            <a:ext cx="768060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600" spc="-1" strike="noStrike">
                <a:solidFill>
                  <a:srgbClr val="333333"/>
                </a:solidFill>
                <a:latin typeface="Calibri"/>
                <a:ea typeface="Calibri"/>
              </a:rPr>
              <a:t>Standard statistical charts (histograms, scatterplots, bar charts) encode VALUE but discard LOCATION.</a:t>
            </a:r>
            <a:endParaRPr b="0" lang="en-US" sz="1600" spc="-1" strike="noStrike">
              <a:latin typeface="Arial"/>
            </a:endParaRPr>
          </a:p>
        </p:txBody>
      </p:sp>
      <p:sp>
        <p:nvSpPr>
          <p:cNvPr id="154" name="Text 2"/>
          <p:cNvSpPr/>
          <p:nvPr/>
        </p:nvSpPr>
        <p:spPr>
          <a:xfrm>
            <a:off x="731520" y="1737360"/>
            <a:ext cx="7680600" cy="20113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400" spc="-1" strike="noStrike">
                <a:solidFill>
                  <a:srgbClr val="333333"/>
                </a:solidFill>
                <a:latin typeface="Calibri"/>
                <a:ea typeface="Calibri"/>
              </a:rPr>
              <a:t>Two constituencies recording identical voter turnout appear equivalent in a sorted bar chart. But if one sits in the Hindi heartland surrounded by low-turnout seats, and the other is an urban anomaly embedded in high-turnout South India, their positions in the electoral geography are fundamentally different.</a:t>
            </a:r>
            <a:endParaRPr b="0" lang="en-US" sz="1400" spc="-1" strike="noStrike">
              <a:latin typeface="Arial"/>
            </a:endParaRPr>
          </a:p>
          <a:p>
            <a:pPr>
              <a:lnSpc>
                <a:spcPct val="100000"/>
              </a:lnSpc>
              <a:buNone/>
              <a:tabLst>
                <a:tab algn="l" pos="0"/>
              </a:tabLst>
            </a:pPr>
            <a:endParaRPr b="0" lang="en-US" sz="1400" spc="-1" strike="noStrike">
              <a:latin typeface="Arial"/>
            </a:endParaRPr>
          </a:p>
          <a:p>
            <a:pPr>
              <a:lnSpc>
                <a:spcPct val="100000"/>
              </a:lnSpc>
              <a:buNone/>
              <a:tabLst>
                <a:tab algn="l" pos="0"/>
              </a:tabLst>
            </a:pPr>
            <a:r>
              <a:rPr b="0" lang="en-US" sz="1400" spc="-1" strike="noStrike">
                <a:solidFill>
                  <a:srgbClr val="333333"/>
                </a:solidFill>
                <a:latin typeface="Calibri"/>
                <a:ea typeface="Calibri"/>
              </a:rPr>
              <a:t>One is typical of its neighborhood. The other is a spatial outlier.</a:t>
            </a:r>
            <a:endParaRPr b="0" lang="en-US" sz="1400" spc="-1" strike="noStrike">
              <a:latin typeface="Arial"/>
            </a:endParaRPr>
          </a:p>
          <a:p>
            <a:pPr>
              <a:lnSpc>
                <a:spcPct val="100000"/>
              </a:lnSpc>
              <a:buNone/>
              <a:tabLst>
                <a:tab algn="l" pos="0"/>
              </a:tabLst>
            </a:pPr>
            <a:endParaRPr b="0" lang="en-US" sz="1400" spc="-1" strike="noStrike">
              <a:latin typeface="Arial"/>
            </a:endParaRPr>
          </a:p>
          <a:p>
            <a:pPr>
              <a:lnSpc>
                <a:spcPct val="100000"/>
              </a:lnSpc>
              <a:buNone/>
              <a:tabLst>
                <a:tab algn="l" pos="0"/>
              </a:tabLst>
            </a:pPr>
            <a:r>
              <a:rPr b="0" lang="en-US" sz="1400" spc="-1" strike="noStrike">
                <a:solidFill>
                  <a:srgbClr val="333333"/>
                </a:solidFill>
                <a:latin typeface="Calibri"/>
                <a:ea typeface="Calibri"/>
              </a:rPr>
              <a:t>No aspatial chart type can distinguish between these cases, because the concept of a spatial outlier requires a formal neighborhood definition.</a:t>
            </a:r>
            <a:endParaRPr b="0" lang="en-US" sz="1400" spc="-1" strike="noStrike">
              <a:latin typeface="Arial"/>
            </a:endParaRPr>
          </a:p>
        </p:txBody>
      </p:sp>
      <p:sp>
        <p:nvSpPr>
          <p:cNvPr id="155" name="Shape 3"/>
          <p:cNvSpPr/>
          <p:nvPr/>
        </p:nvSpPr>
        <p:spPr>
          <a:xfrm>
            <a:off x="731520" y="3931920"/>
            <a:ext cx="7680600" cy="731160"/>
          </a:xfrm>
          <a:prstGeom prst="rect">
            <a:avLst/>
          </a:prstGeom>
          <a:solidFill>
            <a:srgbClr val="ebf5f4"/>
          </a:solidFill>
          <a:ln w="0">
            <a:noFill/>
          </a:ln>
        </p:spPr>
        <p:style>
          <a:lnRef idx="0"/>
          <a:fillRef idx="0"/>
          <a:effectRef idx="0"/>
          <a:fontRef idx="minor"/>
        </p:style>
      </p:sp>
      <p:sp>
        <p:nvSpPr>
          <p:cNvPr id="156" name="Text 4"/>
          <p:cNvSpPr/>
          <p:nvPr/>
        </p:nvSpPr>
        <p:spPr>
          <a:xfrm>
            <a:off x="914400" y="4023360"/>
            <a:ext cx="7314840" cy="5482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300" spc="-1" strike="noStrike">
                <a:solidFill>
                  <a:srgbClr val="00857c"/>
                </a:solidFill>
                <a:latin typeface="Georgia"/>
                <a:ea typeface="Georgia"/>
              </a:rPr>
              <a:t>This project spatializes two core chart types: the histogram and the scatterplot. Each spatialization produces a new class of queries that have no aspatial equivalent.</a:t>
            </a:r>
            <a:endParaRPr b="0" lang="en-US" sz="13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7" name="Text 0"/>
          <p:cNvSpPr/>
          <p:nvPr/>
        </p:nvSpPr>
        <p:spPr>
          <a:xfrm>
            <a:off x="731520" y="365760"/>
            <a:ext cx="7680600" cy="5482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600" spc="-1" strike="noStrike">
                <a:solidFill>
                  <a:srgbClr val="0d2b5c"/>
                </a:solidFill>
                <a:latin typeface="Georgia"/>
                <a:ea typeface="Georgia"/>
              </a:rPr>
              <a:t>Two Spatializations, Five Generalizable Query Classes</a:t>
            </a:r>
            <a:endParaRPr b="0" lang="en-US" sz="2600" spc="-1" strike="noStrike">
              <a:latin typeface="Arial"/>
            </a:endParaRPr>
          </a:p>
        </p:txBody>
      </p:sp>
      <p:sp>
        <p:nvSpPr>
          <p:cNvPr id="158" name="Shape 1"/>
          <p:cNvSpPr/>
          <p:nvPr/>
        </p:nvSpPr>
        <p:spPr>
          <a:xfrm>
            <a:off x="457200" y="1097280"/>
            <a:ext cx="3931560" cy="3474360"/>
          </a:xfrm>
          <a:prstGeom prst="rect">
            <a:avLst/>
          </a:prstGeom>
          <a:solidFill>
            <a:srgbClr val="f0f0f0"/>
          </a:solidFill>
          <a:ln w="0">
            <a:noFill/>
          </a:ln>
        </p:spPr>
        <p:style>
          <a:lnRef idx="0"/>
          <a:fillRef idx="0"/>
          <a:effectRef idx="0"/>
          <a:fontRef idx="minor"/>
        </p:style>
      </p:sp>
      <p:sp>
        <p:nvSpPr>
          <p:cNvPr id="159" name="Text 2"/>
          <p:cNvSpPr/>
          <p:nvPr/>
        </p:nvSpPr>
        <p:spPr>
          <a:xfrm>
            <a:off x="640080" y="1188720"/>
            <a:ext cx="356580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400" spc="-1" strike="noStrike">
                <a:solidFill>
                  <a:srgbClr val="0d2b5c"/>
                </a:solidFill>
                <a:latin typeface="Georgia"/>
                <a:ea typeface="Georgia"/>
              </a:rPr>
              <a:t>Spatialization 1: Histogram to LISA</a:t>
            </a:r>
            <a:endParaRPr b="0" lang="en-US" sz="1400" spc="-1" strike="noStrike">
              <a:latin typeface="Arial"/>
            </a:endParaRPr>
          </a:p>
        </p:txBody>
      </p:sp>
      <p:sp>
        <p:nvSpPr>
          <p:cNvPr id="160" name="Text 3"/>
          <p:cNvSpPr/>
          <p:nvPr/>
        </p:nvSpPr>
        <p:spPr>
          <a:xfrm>
            <a:off x="640080" y="1554480"/>
            <a:ext cx="3565800" cy="73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200" spc="-1" strike="noStrike">
                <a:solidFill>
                  <a:srgbClr val="333333"/>
                </a:solidFill>
                <a:latin typeface="Calibri"/>
                <a:ea typeface="Calibri"/>
              </a:rPr>
              <a:t>Histogram: frequency of values</a:t>
            </a:r>
            <a:endParaRPr b="0" lang="en-US" sz="1200" spc="-1" strike="noStrike">
              <a:latin typeface="Arial"/>
            </a:endParaRPr>
          </a:p>
          <a:p>
            <a:pPr>
              <a:lnSpc>
                <a:spcPct val="100000"/>
              </a:lnSpc>
              <a:buNone/>
              <a:tabLst>
                <a:tab algn="l" pos="0"/>
              </a:tabLst>
            </a:pPr>
            <a:r>
              <a:rPr b="0" lang="en-US" sz="1200" spc="-1" strike="noStrike">
                <a:solidFill>
                  <a:srgbClr val="333333"/>
                </a:solidFill>
                <a:latin typeface="Calibri"/>
                <a:ea typeface="Calibri"/>
              </a:rPr>
              <a:t>LISA: WHERE those values cluster</a:t>
            </a:r>
            <a:endParaRPr b="0" lang="en-US" sz="1200" spc="-1" strike="noStrike">
              <a:latin typeface="Arial"/>
            </a:endParaRPr>
          </a:p>
          <a:p>
            <a:pPr>
              <a:lnSpc>
                <a:spcPct val="100000"/>
              </a:lnSpc>
              <a:buNone/>
              <a:tabLst>
                <a:tab algn="l" pos="0"/>
              </a:tabLst>
            </a:pPr>
            <a:endParaRPr b="0" lang="en-US" sz="1200" spc="-1" strike="noStrike">
              <a:latin typeface="Arial"/>
            </a:endParaRPr>
          </a:p>
          <a:p>
            <a:pPr>
              <a:lnSpc>
                <a:spcPct val="100000"/>
              </a:lnSpc>
              <a:buNone/>
              <a:tabLst>
                <a:tab algn="l" pos="0"/>
              </a:tabLst>
            </a:pPr>
            <a:r>
              <a:rPr b="0" lang="en-US" sz="1200" spc="-1" strike="noStrike">
                <a:solidFill>
                  <a:srgbClr val="333333"/>
                </a:solidFill>
                <a:latin typeface="Calibri"/>
                <a:ea typeface="Calibri"/>
              </a:rPr>
              <a:t>Query Classes Unlocked:</a:t>
            </a:r>
            <a:endParaRPr b="0" lang="en-US" sz="1200" spc="-1" strike="noStrike">
              <a:latin typeface="Arial"/>
            </a:endParaRPr>
          </a:p>
        </p:txBody>
      </p:sp>
      <p:sp>
        <p:nvSpPr>
          <p:cNvPr id="161" name="Shape 4"/>
          <p:cNvSpPr/>
          <p:nvPr/>
        </p:nvSpPr>
        <p:spPr>
          <a:xfrm>
            <a:off x="640080" y="2468880"/>
            <a:ext cx="36360" cy="502560"/>
          </a:xfrm>
          <a:prstGeom prst="rect">
            <a:avLst/>
          </a:prstGeom>
          <a:solidFill>
            <a:srgbClr val="d7191c"/>
          </a:solidFill>
          <a:ln w="0">
            <a:noFill/>
          </a:ln>
        </p:spPr>
        <p:style>
          <a:lnRef idx="0"/>
          <a:fillRef idx="0"/>
          <a:effectRef idx="0"/>
          <a:fontRef idx="minor"/>
        </p:style>
      </p:sp>
      <p:sp>
        <p:nvSpPr>
          <p:cNvPr id="162" name="Text 5"/>
          <p:cNvSpPr/>
          <p:nvPr/>
        </p:nvSpPr>
        <p:spPr>
          <a:xfrm>
            <a:off x="777240" y="2468880"/>
            <a:ext cx="338292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d7191c"/>
                </a:solidFill>
                <a:latin typeface="Calibri"/>
                <a:ea typeface="Calibri"/>
              </a:rPr>
              <a:t>Contiguity</a:t>
            </a:r>
            <a:endParaRPr b="0" lang="en-US" sz="1200" spc="-1" strike="noStrike">
              <a:latin typeface="Arial"/>
            </a:endParaRPr>
          </a:p>
        </p:txBody>
      </p:sp>
      <p:sp>
        <p:nvSpPr>
          <p:cNvPr id="163" name="Text 6"/>
          <p:cNvSpPr/>
          <p:nvPr/>
        </p:nvSpPr>
        <p:spPr>
          <a:xfrm>
            <a:off x="777240" y="2697480"/>
            <a:ext cx="338292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 strike="noStrike">
                <a:solidFill>
                  <a:srgbClr val="777777"/>
                </a:solidFill>
                <a:latin typeface="Calibri"/>
                <a:ea typeface="Calibri"/>
              </a:rPr>
              <a:t>Do high values form a connected region?</a:t>
            </a:r>
            <a:endParaRPr b="0" lang="en-US" sz="1050" spc="-1" strike="noStrike">
              <a:latin typeface="Arial"/>
            </a:endParaRPr>
          </a:p>
        </p:txBody>
      </p:sp>
      <p:sp>
        <p:nvSpPr>
          <p:cNvPr id="164" name="Shape 7"/>
          <p:cNvSpPr/>
          <p:nvPr/>
        </p:nvSpPr>
        <p:spPr>
          <a:xfrm>
            <a:off x="640080" y="3108960"/>
            <a:ext cx="36360" cy="502560"/>
          </a:xfrm>
          <a:prstGeom prst="rect">
            <a:avLst/>
          </a:prstGeom>
          <a:solidFill>
            <a:srgbClr val="00857c"/>
          </a:solidFill>
          <a:ln w="0">
            <a:noFill/>
          </a:ln>
        </p:spPr>
        <p:style>
          <a:lnRef idx="0"/>
          <a:fillRef idx="0"/>
          <a:effectRef idx="0"/>
          <a:fontRef idx="minor"/>
        </p:style>
      </p:sp>
      <p:sp>
        <p:nvSpPr>
          <p:cNvPr id="165" name="Text 8"/>
          <p:cNvSpPr/>
          <p:nvPr/>
        </p:nvSpPr>
        <p:spPr>
          <a:xfrm>
            <a:off x="777240" y="3108960"/>
            <a:ext cx="338292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00857c"/>
                </a:solidFill>
                <a:latin typeface="Calibri"/>
                <a:ea typeface="Calibri"/>
              </a:rPr>
              <a:t>Cluster Detection</a:t>
            </a:r>
            <a:endParaRPr b="0" lang="en-US" sz="1200" spc="-1" strike="noStrike">
              <a:latin typeface="Arial"/>
            </a:endParaRPr>
          </a:p>
        </p:txBody>
      </p:sp>
      <p:sp>
        <p:nvSpPr>
          <p:cNvPr id="166" name="Text 9"/>
          <p:cNvSpPr/>
          <p:nvPr/>
        </p:nvSpPr>
        <p:spPr>
          <a:xfrm>
            <a:off x="777240" y="3337560"/>
            <a:ext cx="338292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 strike="noStrike">
                <a:solidFill>
                  <a:srgbClr val="777777"/>
                </a:solidFill>
                <a:latin typeface="Calibri"/>
                <a:ea typeface="Calibri"/>
              </a:rPr>
              <a:t>Where exactly are the significant clusters?</a:t>
            </a:r>
            <a:endParaRPr b="0" lang="en-US" sz="1050" spc="-1" strike="noStrike">
              <a:latin typeface="Arial"/>
            </a:endParaRPr>
          </a:p>
        </p:txBody>
      </p:sp>
      <p:sp>
        <p:nvSpPr>
          <p:cNvPr id="167" name="Shape 10"/>
          <p:cNvSpPr/>
          <p:nvPr/>
        </p:nvSpPr>
        <p:spPr>
          <a:xfrm>
            <a:off x="640080" y="3749040"/>
            <a:ext cx="36360" cy="502560"/>
          </a:xfrm>
          <a:prstGeom prst="rect">
            <a:avLst/>
          </a:prstGeom>
          <a:solidFill>
            <a:srgbClr val="b7234c"/>
          </a:solidFill>
          <a:ln w="0">
            <a:noFill/>
          </a:ln>
        </p:spPr>
        <p:style>
          <a:lnRef idx="0"/>
          <a:fillRef idx="0"/>
          <a:effectRef idx="0"/>
          <a:fontRef idx="minor"/>
        </p:style>
      </p:sp>
      <p:sp>
        <p:nvSpPr>
          <p:cNvPr id="168" name="Text 11"/>
          <p:cNvSpPr/>
          <p:nvPr/>
        </p:nvSpPr>
        <p:spPr>
          <a:xfrm>
            <a:off x="777240" y="3749040"/>
            <a:ext cx="338292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b7234c"/>
                </a:solidFill>
                <a:latin typeface="Calibri"/>
                <a:ea typeface="Calibri"/>
              </a:rPr>
              <a:t>Absence as Evidence</a:t>
            </a:r>
            <a:endParaRPr b="0" lang="en-US" sz="1200" spc="-1" strike="noStrike">
              <a:latin typeface="Arial"/>
            </a:endParaRPr>
          </a:p>
        </p:txBody>
      </p:sp>
      <p:sp>
        <p:nvSpPr>
          <p:cNvPr id="169" name="Text 12"/>
          <p:cNvSpPr/>
          <p:nvPr/>
        </p:nvSpPr>
        <p:spPr>
          <a:xfrm>
            <a:off x="777240" y="3977640"/>
            <a:ext cx="338292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 strike="noStrike">
                <a:solidFill>
                  <a:srgbClr val="777777"/>
                </a:solidFill>
                <a:latin typeface="Calibri"/>
                <a:ea typeface="Calibri"/>
              </a:rPr>
              <a:t>Does LACK of clustering prove institutional cause?</a:t>
            </a:r>
            <a:endParaRPr b="0" lang="en-US" sz="1050" spc="-1" strike="noStrike">
              <a:latin typeface="Arial"/>
            </a:endParaRPr>
          </a:p>
        </p:txBody>
      </p:sp>
      <p:sp>
        <p:nvSpPr>
          <p:cNvPr id="170" name="Shape 13"/>
          <p:cNvSpPr/>
          <p:nvPr/>
        </p:nvSpPr>
        <p:spPr>
          <a:xfrm>
            <a:off x="4754880" y="1097280"/>
            <a:ext cx="3931560" cy="3474360"/>
          </a:xfrm>
          <a:prstGeom prst="rect">
            <a:avLst/>
          </a:prstGeom>
          <a:solidFill>
            <a:srgbClr val="f0f0f0"/>
          </a:solidFill>
          <a:ln w="0">
            <a:noFill/>
          </a:ln>
        </p:spPr>
        <p:style>
          <a:lnRef idx="0"/>
          <a:fillRef idx="0"/>
          <a:effectRef idx="0"/>
          <a:fontRef idx="minor"/>
        </p:style>
      </p:sp>
      <p:sp>
        <p:nvSpPr>
          <p:cNvPr id="171" name="Text 14"/>
          <p:cNvSpPr/>
          <p:nvPr/>
        </p:nvSpPr>
        <p:spPr>
          <a:xfrm>
            <a:off x="4937760" y="1188720"/>
            <a:ext cx="356580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400" spc="-1" strike="noStrike">
                <a:solidFill>
                  <a:srgbClr val="0d2b5c"/>
                </a:solidFill>
                <a:latin typeface="Georgia"/>
                <a:ea typeface="Georgia"/>
              </a:rPr>
              <a:t>Spatialization 2: Scatter to Moran</a:t>
            </a:r>
            <a:endParaRPr b="0" lang="en-US" sz="1400" spc="-1" strike="noStrike">
              <a:latin typeface="Arial"/>
            </a:endParaRPr>
          </a:p>
        </p:txBody>
      </p:sp>
      <p:sp>
        <p:nvSpPr>
          <p:cNvPr id="172" name="Text 15"/>
          <p:cNvSpPr/>
          <p:nvPr/>
        </p:nvSpPr>
        <p:spPr>
          <a:xfrm>
            <a:off x="4937760" y="1554480"/>
            <a:ext cx="3565800" cy="73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200" spc="-1" strike="noStrike">
                <a:solidFill>
                  <a:srgbClr val="333333"/>
                </a:solidFill>
                <a:latin typeface="Calibri"/>
                <a:ea typeface="Calibri"/>
              </a:rPr>
              <a:t>Scatterplot: X vs Y correlation</a:t>
            </a:r>
            <a:endParaRPr b="0" lang="en-US" sz="1200" spc="-1" strike="noStrike">
              <a:latin typeface="Arial"/>
            </a:endParaRPr>
          </a:p>
          <a:p>
            <a:pPr>
              <a:lnSpc>
                <a:spcPct val="100000"/>
              </a:lnSpc>
              <a:buNone/>
              <a:tabLst>
                <a:tab algn="l" pos="0"/>
              </a:tabLst>
            </a:pPr>
            <a:r>
              <a:rPr b="0" lang="en-US" sz="1200" spc="-1" strike="noStrike">
                <a:solidFill>
                  <a:srgbClr val="333333"/>
                </a:solidFill>
                <a:latin typeface="Calibri"/>
                <a:ea typeface="Calibri"/>
              </a:rPr>
              <a:t>Moran: X vs neighbors' mean of X</a:t>
            </a:r>
            <a:endParaRPr b="0" lang="en-US" sz="1200" spc="-1" strike="noStrike">
              <a:latin typeface="Arial"/>
            </a:endParaRPr>
          </a:p>
          <a:p>
            <a:pPr>
              <a:lnSpc>
                <a:spcPct val="100000"/>
              </a:lnSpc>
              <a:buNone/>
              <a:tabLst>
                <a:tab algn="l" pos="0"/>
              </a:tabLst>
            </a:pPr>
            <a:endParaRPr b="0" lang="en-US" sz="1200" spc="-1" strike="noStrike">
              <a:latin typeface="Arial"/>
            </a:endParaRPr>
          </a:p>
          <a:p>
            <a:pPr>
              <a:lnSpc>
                <a:spcPct val="100000"/>
              </a:lnSpc>
              <a:buNone/>
              <a:tabLst>
                <a:tab algn="l" pos="0"/>
              </a:tabLst>
            </a:pPr>
            <a:r>
              <a:rPr b="0" lang="en-US" sz="1200" spc="-1" strike="noStrike">
                <a:solidFill>
                  <a:srgbClr val="333333"/>
                </a:solidFill>
                <a:latin typeface="Calibri"/>
                <a:ea typeface="Calibri"/>
              </a:rPr>
              <a:t>Query Classes Unlocked:</a:t>
            </a:r>
            <a:endParaRPr b="0" lang="en-US" sz="1200" spc="-1" strike="noStrike">
              <a:latin typeface="Arial"/>
            </a:endParaRPr>
          </a:p>
        </p:txBody>
      </p:sp>
      <p:sp>
        <p:nvSpPr>
          <p:cNvPr id="173" name="Shape 16"/>
          <p:cNvSpPr/>
          <p:nvPr/>
        </p:nvSpPr>
        <p:spPr>
          <a:xfrm>
            <a:off x="4937760" y="2468880"/>
            <a:ext cx="36360" cy="502560"/>
          </a:xfrm>
          <a:prstGeom prst="rect">
            <a:avLst/>
          </a:prstGeom>
          <a:solidFill>
            <a:srgbClr val="c8960c"/>
          </a:solidFill>
          <a:ln w="0">
            <a:noFill/>
          </a:ln>
        </p:spPr>
        <p:style>
          <a:lnRef idx="0"/>
          <a:fillRef idx="0"/>
          <a:effectRef idx="0"/>
          <a:fontRef idx="minor"/>
        </p:style>
      </p:sp>
      <p:sp>
        <p:nvSpPr>
          <p:cNvPr id="174" name="Text 17"/>
          <p:cNvSpPr/>
          <p:nvPr/>
        </p:nvSpPr>
        <p:spPr>
          <a:xfrm>
            <a:off x="5074920" y="2468880"/>
            <a:ext cx="338292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c8960c"/>
                </a:solidFill>
                <a:latin typeface="Calibri"/>
                <a:ea typeface="Calibri"/>
              </a:rPr>
              <a:t>Spatial Outlier</a:t>
            </a:r>
            <a:endParaRPr b="0" lang="en-US" sz="1200" spc="-1" strike="noStrike">
              <a:latin typeface="Arial"/>
            </a:endParaRPr>
          </a:p>
        </p:txBody>
      </p:sp>
      <p:sp>
        <p:nvSpPr>
          <p:cNvPr id="175" name="Text 18"/>
          <p:cNvSpPr/>
          <p:nvPr/>
        </p:nvSpPr>
        <p:spPr>
          <a:xfrm>
            <a:off x="5074920" y="2697480"/>
            <a:ext cx="338292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 strike="noStrike">
                <a:solidFill>
                  <a:srgbClr val="777777"/>
                </a:solidFill>
                <a:latin typeface="Calibri"/>
                <a:ea typeface="Calibri"/>
              </a:rPr>
              <a:t>Anomalous vs global mean, or vs neighborhood?</a:t>
            </a:r>
            <a:endParaRPr b="0" lang="en-US" sz="1050" spc="-1" strike="noStrike">
              <a:latin typeface="Arial"/>
            </a:endParaRPr>
          </a:p>
        </p:txBody>
      </p:sp>
      <p:sp>
        <p:nvSpPr>
          <p:cNvPr id="176" name="Shape 19"/>
          <p:cNvSpPr/>
          <p:nvPr/>
        </p:nvSpPr>
        <p:spPr>
          <a:xfrm>
            <a:off x="4937760" y="3108960"/>
            <a:ext cx="36360" cy="502560"/>
          </a:xfrm>
          <a:prstGeom prst="rect">
            <a:avLst/>
          </a:prstGeom>
          <a:solidFill>
            <a:srgbClr val="0d2b5c"/>
          </a:solidFill>
          <a:ln w="0">
            <a:noFill/>
          </a:ln>
        </p:spPr>
        <p:style>
          <a:lnRef idx="0"/>
          <a:fillRef idx="0"/>
          <a:effectRef idx="0"/>
          <a:fontRef idx="minor"/>
        </p:style>
      </p:sp>
      <p:sp>
        <p:nvSpPr>
          <p:cNvPr id="177" name="Text 20"/>
          <p:cNvSpPr/>
          <p:nvPr/>
        </p:nvSpPr>
        <p:spPr>
          <a:xfrm>
            <a:off x="5074920" y="3108960"/>
            <a:ext cx="338292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0d2b5c"/>
                </a:solidFill>
                <a:latin typeface="Calibri"/>
                <a:ea typeface="Calibri"/>
              </a:rPr>
              <a:t>Spatio-Temporal</a:t>
            </a:r>
            <a:endParaRPr b="0" lang="en-US" sz="1200" spc="-1" strike="noStrike">
              <a:latin typeface="Arial"/>
            </a:endParaRPr>
          </a:p>
        </p:txBody>
      </p:sp>
      <p:sp>
        <p:nvSpPr>
          <p:cNvPr id="178" name="Text 21"/>
          <p:cNvSpPr/>
          <p:nvPr/>
        </p:nvSpPr>
        <p:spPr>
          <a:xfrm>
            <a:off x="5074920" y="3337560"/>
            <a:ext cx="338292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 strike="noStrike">
                <a:solidFill>
                  <a:srgbClr val="777777"/>
                </a:solidFill>
                <a:latin typeface="Calibri"/>
                <a:ea typeface="Calibri"/>
              </a:rPr>
              <a:t>Do aggregates mask within-unit variation?</a:t>
            </a:r>
            <a:endParaRPr b="0" lang="en-US" sz="1050" spc="-1" strike="noStrike">
              <a:latin typeface="Arial"/>
            </a:endParaRPr>
          </a:p>
        </p:txBody>
      </p:sp>
      <p:sp>
        <p:nvSpPr>
          <p:cNvPr id="179" name="Text 22"/>
          <p:cNvSpPr/>
          <p:nvPr/>
        </p:nvSpPr>
        <p:spPr>
          <a:xfrm>
            <a:off x="731520" y="4663440"/>
            <a:ext cx="768060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000" spc="-1" strike="noStrike">
                <a:solidFill>
                  <a:srgbClr val="00857c"/>
                </a:solidFill>
                <a:latin typeface="Georgia"/>
                <a:ea typeface="Georgia"/>
              </a:rPr>
              <a:t>These five query classes apply to ANY variable measured at geographic units: crime by district, house prices by zip code, disease incidence by county, crop yield by region.</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0" name="Text 0"/>
          <p:cNvSpPr/>
          <p:nvPr/>
        </p:nvSpPr>
        <p:spPr>
          <a:xfrm>
            <a:off x="457200" y="274320"/>
            <a:ext cx="82292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200" spc="-1" strike="noStrike">
                <a:solidFill>
                  <a:srgbClr val="0d2b5c"/>
                </a:solidFill>
                <a:latin typeface="Georgia"/>
                <a:ea typeface="Georgia"/>
              </a:rPr>
              <a:t>Validation: Data to Algorithm to Code to Results to Inferences</a:t>
            </a:r>
            <a:endParaRPr b="0" lang="en-US" sz="2200" spc="-1" strike="noStrike">
              <a:latin typeface="Arial"/>
            </a:endParaRPr>
          </a:p>
        </p:txBody>
      </p:sp>
      <p:sp>
        <p:nvSpPr>
          <p:cNvPr id="181" name="Shape 1"/>
          <p:cNvSpPr/>
          <p:nvPr/>
        </p:nvSpPr>
        <p:spPr>
          <a:xfrm>
            <a:off x="457200" y="914400"/>
            <a:ext cx="36360" cy="411120"/>
          </a:xfrm>
          <a:prstGeom prst="rect">
            <a:avLst/>
          </a:prstGeom>
          <a:solidFill>
            <a:srgbClr val="0d2b5c"/>
          </a:solidFill>
          <a:ln w="0">
            <a:noFill/>
          </a:ln>
        </p:spPr>
        <p:style>
          <a:lnRef idx="0"/>
          <a:fillRef idx="0"/>
          <a:effectRef idx="0"/>
          <a:fontRef idx="minor"/>
        </p:style>
      </p:sp>
      <p:sp>
        <p:nvSpPr>
          <p:cNvPr id="182" name="Text 2"/>
          <p:cNvSpPr/>
          <p:nvPr/>
        </p:nvSpPr>
        <p:spPr>
          <a:xfrm>
            <a:off x="594360" y="914400"/>
            <a:ext cx="1279800" cy="182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0d2b5c"/>
                </a:solidFill>
                <a:latin typeface="Georgia"/>
                <a:ea typeface="Georgia"/>
              </a:rPr>
              <a:t>1. Data</a:t>
            </a:r>
            <a:endParaRPr b="0" lang="en-US" sz="1000" spc="-1" strike="noStrike">
              <a:latin typeface="Arial"/>
            </a:endParaRPr>
          </a:p>
        </p:txBody>
      </p:sp>
      <p:sp>
        <p:nvSpPr>
          <p:cNvPr id="183" name="Text 3"/>
          <p:cNvSpPr/>
          <p:nvPr/>
        </p:nvSpPr>
        <p:spPr>
          <a:xfrm>
            <a:off x="1920240" y="914400"/>
            <a:ext cx="3108600" cy="4111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900" spc="-1" strike="noStrike">
                <a:solidFill>
                  <a:srgbClr val="333333"/>
                </a:solidFill>
                <a:latin typeface="Calibri"/>
                <a:ea typeface="Calibri"/>
              </a:rPr>
              <a:t>ECI 2024 CSV (8,902 rows) + DataMeet GeoJSON (512 matched) + 15th FC fiscal + Census 2011 = 45 attributes per PC</a:t>
            </a:r>
            <a:endParaRPr b="0" lang="en-US" sz="900" spc="-1" strike="noStrike">
              <a:latin typeface="Arial"/>
            </a:endParaRPr>
          </a:p>
        </p:txBody>
      </p:sp>
      <p:sp>
        <p:nvSpPr>
          <p:cNvPr id="184" name="Shape 4"/>
          <p:cNvSpPr/>
          <p:nvPr/>
        </p:nvSpPr>
        <p:spPr>
          <a:xfrm>
            <a:off x="457200" y="1417320"/>
            <a:ext cx="36360" cy="411120"/>
          </a:xfrm>
          <a:prstGeom prst="rect">
            <a:avLst/>
          </a:prstGeom>
          <a:solidFill>
            <a:srgbClr val="00857c"/>
          </a:solidFill>
          <a:ln w="0">
            <a:noFill/>
          </a:ln>
        </p:spPr>
        <p:style>
          <a:lnRef idx="0"/>
          <a:fillRef idx="0"/>
          <a:effectRef idx="0"/>
          <a:fontRef idx="minor"/>
        </p:style>
      </p:sp>
      <p:sp>
        <p:nvSpPr>
          <p:cNvPr id="185" name="Text 5"/>
          <p:cNvSpPr/>
          <p:nvPr/>
        </p:nvSpPr>
        <p:spPr>
          <a:xfrm>
            <a:off x="594360" y="1417320"/>
            <a:ext cx="1279800" cy="182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00857c"/>
                </a:solidFill>
                <a:latin typeface="Georgia"/>
                <a:ea typeface="Georgia"/>
              </a:rPr>
              <a:t>2. Weights</a:t>
            </a:r>
            <a:endParaRPr b="0" lang="en-US" sz="1000" spc="-1" strike="noStrike">
              <a:latin typeface="Arial"/>
            </a:endParaRPr>
          </a:p>
        </p:txBody>
      </p:sp>
      <p:sp>
        <p:nvSpPr>
          <p:cNvPr id="186" name="Text 6"/>
          <p:cNvSpPr/>
          <p:nvPr/>
        </p:nvSpPr>
        <p:spPr>
          <a:xfrm>
            <a:off x="1920240" y="1417320"/>
            <a:ext cx="3108600" cy="4111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900" spc="-1" strike="noStrike">
                <a:solidFill>
                  <a:srgbClr val="333333"/>
                </a:solidFill>
                <a:latin typeface="Calibri"/>
                <a:ea typeface="Calibri"/>
              </a:rPr>
              <a:t>W = KNN(k=8, row-standardized). 512x512 matrix. Each PC linked to 8 nearest geographic neighbors.</a:t>
            </a:r>
            <a:endParaRPr b="0" lang="en-US" sz="900" spc="-1" strike="noStrike">
              <a:latin typeface="Arial"/>
            </a:endParaRPr>
          </a:p>
        </p:txBody>
      </p:sp>
      <p:sp>
        <p:nvSpPr>
          <p:cNvPr id="187" name="Shape 7"/>
          <p:cNvSpPr/>
          <p:nvPr/>
        </p:nvSpPr>
        <p:spPr>
          <a:xfrm>
            <a:off x="457200" y="1920240"/>
            <a:ext cx="36360" cy="411120"/>
          </a:xfrm>
          <a:prstGeom prst="rect">
            <a:avLst/>
          </a:prstGeom>
          <a:solidFill>
            <a:srgbClr val="d7191c"/>
          </a:solidFill>
          <a:ln w="0">
            <a:noFill/>
          </a:ln>
        </p:spPr>
        <p:style>
          <a:lnRef idx="0"/>
          <a:fillRef idx="0"/>
          <a:effectRef idx="0"/>
          <a:fontRef idx="minor"/>
        </p:style>
      </p:sp>
      <p:sp>
        <p:nvSpPr>
          <p:cNvPr id="188" name="Text 8"/>
          <p:cNvSpPr/>
          <p:nvPr/>
        </p:nvSpPr>
        <p:spPr>
          <a:xfrm>
            <a:off x="594360" y="1920240"/>
            <a:ext cx="1279800" cy="182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d7191c"/>
                </a:solidFill>
                <a:latin typeface="Georgia"/>
                <a:ea typeface="Georgia"/>
              </a:rPr>
              <a:t>3. Algorithm</a:t>
            </a:r>
            <a:endParaRPr b="0" lang="en-US" sz="1000" spc="-1" strike="noStrike">
              <a:latin typeface="Arial"/>
            </a:endParaRPr>
          </a:p>
        </p:txBody>
      </p:sp>
      <p:sp>
        <p:nvSpPr>
          <p:cNvPr id="189" name="Text 9"/>
          <p:cNvSpPr/>
          <p:nvPr/>
        </p:nvSpPr>
        <p:spPr>
          <a:xfrm>
            <a:off x="1920240" y="1920240"/>
            <a:ext cx="3108600" cy="4111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900" spc="-1" strike="noStrike">
                <a:solidFill>
                  <a:srgbClr val="333333"/>
                </a:solidFill>
                <a:latin typeface="Calibri"/>
                <a:ea typeface="Calibri"/>
              </a:rPr>
              <a:t>Global I = [n/S0] * [sum(w_ij * z_i * z_j) / sum(z_i^2)]</a:t>
            </a:r>
            <a:endParaRPr b="0" lang="en-US" sz="900" spc="-1" strike="noStrike">
              <a:latin typeface="Arial"/>
            </a:endParaRPr>
          </a:p>
          <a:p>
            <a:pPr>
              <a:lnSpc>
                <a:spcPct val="100000"/>
              </a:lnSpc>
              <a:buNone/>
              <a:tabLst>
                <a:tab algn="l" pos="0"/>
              </a:tabLst>
            </a:pPr>
            <a:r>
              <a:rPr b="0" lang="en-US" sz="900" spc="-1" strike="noStrike">
                <a:solidFill>
                  <a:srgbClr val="333333"/>
                </a:solidFill>
                <a:latin typeface="Calibri"/>
                <a:ea typeface="Calibri"/>
              </a:rPr>
              <a:t>Local I_i = z_i * sum(w_ij * z_j). 999 permutations, alpha=0.05.</a:t>
            </a:r>
            <a:endParaRPr b="0" lang="en-US" sz="900" spc="-1" strike="noStrike">
              <a:latin typeface="Arial"/>
            </a:endParaRPr>
          </a:p>
        </p:txBody>
      </p:sp>
      <p:sp>
        <p:nvSpPr>
          <p:cNvPr id="190" name="Shape 10"/>
          <p:cNvSpPr/>
          <p:nvPr/>
        </p:nvSpPr>
        <p:spPr>
          <a:xfrm>
            <a:off x="457200" y="2423160"/>
            <a:ext cx="36360" cy="411120"/>
          </a:xfrm>
          <a:prstGeom prst="rect">
            <a:avLst/>
          </a:prstGeom>
          <a:solidFill>
            <a:srgbClr val="c8960c"/>
          </a:solidFill>
          <a:ln w="0">
            <a:noFill/>
          </a:ln>
        </p:spPr>
        <p:style>
          <a:lnRef idx="0"/>
          <a:fillRef idx="0"/>
          <a:effectRef idx="0"/>
          <a:fontRef idx="minor"/>
        </p:style>
      </p:sp>
      <p:sp>
        <p:nvSpPr>
          <p:cNvPr id="191" name="Text 11"/>
          <p:cNvSpPr/>
          <p:nvPr/>
        </p:nvSpPr>
        <p:spPr>
          <a:xfrm>
            <a:off x="594360" y="2423160"/>
            <a:ext cx="1279800" cy="182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c8960c"/>
                </a:solidFill>
                <a:latin typeface="Georgia"/>
                <a:ea typeface="Georgia"/>
              </a:rPr>
              <a:t>4. Results</a:t>
            </a:r>
            <a:endParaRPr b="0" lang="en-US" sz="1000" spc="-1" strike="noStrike">
              <a:latin typeface="Arial"/>
            </a:endParaRPr>
          </a:p>
        </p:txBody>
      </p:sp>
      <p:sp>
        <p:nvSpPr>
          <p:cNvPr id="192" name="Text 12"/>
          <p:cNvSpPr/>
          <p:nvPr/>
        </p:nvSpPr>
        <p:spPr>
          <a:xfrm>
            <a:off x="1920240" y="2423160"/>
            <a:ext cx="3108600" cy="4111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900" spc="-1" strike="noStrike">
                <a:solidFill>
                  <a:srgbClr val="333333"/>
                </a:solidFill>
                <a:latin typeface="Calibri"/>
                <a:ea typeface="Calibri"/>
              </a:rPr>
              <a:t>Turnout I=0.614 (p&lt;0.001): strong clustering. Margin I=0.277: weak. Women I=0.113: near-random. Alliance I=0.369: moderate.</a:t>
            </a:r>
            <a:endParaRPr b="0" lang="en-US" sz="900" spc="-1" strike="noStrike">
              <a:latin typeface="Arial"/>
            </a:endParaRPr>
          </a:p>
        </p:txBody>
      </p:sp>
      <p:sp>
        <p:nvSpPr>
          <p:cNvPr id="193" name="Shape 13"/>
          <p:cNvSpPr/>
          <p:nvPr/>
        </p:nvSpPr>
        <p:spPr>
          <a:xfrm>
            <a:off x="457200" y="2926080"/>
            <a:ext cx="36360" cy="411120"/>
          </a:xfrm>
          <a:prstGeom prst="rect">
            <a:avLst/>
          </a:prstGeom>
          <a:solidFill>
            <a:srgbClr val="b7234c"/>
          </a:solidFill>
          <a:ln w="0">
            <a:noFill/>
          </a:ln>
        </p:spPr>
        <p:style>
          <a:lnRef idx="0"/>
          <a:fillRef idx="0"/>
          <a:effectRef idx="0"/>
          <a:fontRef idx="minor"/>
        </p:style>
      </p:sp>
      <p:sp>
        <p:nvSpPr>
          <p:cNvPr id="194" name="Text 14"/>
          <p:cNvSpPr/>
          <p:nvPr/>
        </p:nvSpPr>
        <p:spPr>
          <a:xfrm>
            <a:off x="594360" y="2926080"/>
            <a:ext cx="1279800" cy="182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b7234c"/>
                </a:solidFill>
                <a:latin typeface="Georgia"/>
                <a:ea typeface="Georgia"/>
              </a:rPr>
              <a:t>5. Inference</a:t>
            </a:r>
            <a:endParaRPr b="0" lang="en-US" sz="1000" spc="-1" strike="noStrike">
              <a:latin typeface="Arial"/>
            </a:endParaRPr>
          </a:p>
        </p:txBody>
      </p:sp>
      <p:sp>
        <p:nvSpPr>
          <p:cNvPr id="195" name="Text 15"/>
          <p:cNvSpPr/>
          <p:nvPr/>
        </p:nvSpPr>
        <p:spPr>
          <a:xfrm>
            <a:off x="1920240" y="2926080"/>
            <a:ext cx="3108600" cy="4111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900" spc="-1" strike="noStrike">
                <a:solidFill>
                  <a:srgbClr val="333333"/>
                </a:solidFill>
                <a:latin typeface="Calibri"/>
                <a:ea typeface="Calibri"/>
              </a:rPr>
              <a:t>Participation is 2.2x more geographically structured than competition. Women's exclusion is institutional, not regional. Three crises co-locate.</a:t>
            </a:r>
            <a:endParaRPr b="0" lang="en-US" sz="900" spc="-1" strike="noStrike">
              <a:latin typeface="Arial"/>
            </a:endParaRPr>
          </a:p>
        </p:txBody>
      </p:sp>
      <p:sp>
        <p:nvSpPr>
          <p:cNvPr id="196" name="Shape 16"/>
          <p:cNvSpPr/>
          <p:nvPr/>
        </p:nvSpPr>
        <p:spPr>
          <a:xfrm>
            <a:off x="5212080" y="868680"/>
            <a:ext cx="3474360" cy="3931560"/>
          </a:xfrm>
          <a:prstGeom prst="rect">
            <a:avLst/>
          </a:prstGeom>
          <a:solidFill>
            <a:srgbClr val="1e1e1e"/>
          </a:solidFill>
          <a:ln w="0">
            <a:noFill/>
          </a:ln>
        </p:spPr>
        <p:style>
          <a:lnRef idx="0"/>
          <a:fillRef idx="0"/>
          <a:effectRef idx="0"/>
          <a:fontRef idx="minor"/>
        </p:style>
      </p:sp>
      <p:sp>
        <p:nvSpPr>
          <p:cNvPr id="197" name="Text 17"/>
          <p:cNvSpPr/>
          <p:nvPr/>
        </p:nvSpPr>
        <p:spPr>
          <a:xfrm>
            <a:off x="5394960" y="914400"/>
            <a:ext cx="3108600" cy="182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00" spc="-1" strike="noStrike">
                <a:solidFill>
                  <a:srgbClr val="00857c"/>
                </a:solidFill>
                <a:latin typeface="Consolas"/>
                <a:ea typeface="Consolas"/>
              </a:rPr>
              <a:t>Python / PySAL</a:t>
            </a:r>
            <a:endParaRPr b="0" lang="en-US" sz="900" spc="-1" strike="noStrike">
              <a:latin typeface="Arial"/>
            </a:endParaRPr>
          </a:p>
        </p:txBody>
      </p:sp>
      <p:sp>
        <p:nvSpPr>
          <p:cNvPr id="198" name="Text 18"/>
          <p:cNvSpPr/>
          <p:nvPr/>
        </p:nvSpPr>
        <p:spPr>
          <a:xfrm>
            <a:off x="5394960" y="1143000"/>
            <a:ext cx="3108600" cy="347436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750" spc="-1" strike="noStrike">
                <a:solidFill>
                  <a:srgbClr val="d4d4d4"/>
                </a:solidFill>
                <a:latin typeface="Consolas"/>
                <a:ea typeface="Consolas"/>
              </a:rPr>
              <a:t>from libpysal.weights import KNN</a:t>
            </a:r>
            <a:endParaRPr b="0" lang="en-US" sz="750" spc="-1" strike="noStrike">
              <a:latin typeface="Arial"/>
            </a:endParaRPr>
          </a:p>
          <a:p>
            <a:pPr>
              <a:lnSpc>
                <a:spcPct val="100000"/>
              </a:lnSpc>
              <a:buNone/>
              <a:tabLst>
                <a:tab algn="l" pos="0"/>
              </a:tabLst>
            </a:pPr>
            <a:r>
              <a:rPr b="0" lang="en-US" sz="750" spc="-1" strike="noStrike">
                <a:solidFill>
                  <a:srgbClr val="d4d4d4"/>
                </a:solidFill>
                <a:latin typeface="Consolas"/>
                <a:ea typeface="Consolas"/>
              </a:rPr>
              <a:t>from esda.moran import Moran, Moran_Local</a:t>
            </a:r>
            <a:endParaRPr b="0" lang="en-US" sz="750" spc="-1" strike="noStrike">
              <a:latin typeface="Arial"/>
            </a:endParaRPr>
          </a:p>
          <a:p>
            <a:pPr>
              <a:lnSpc>
                <a:spcPct val="100000"/>
              </a:lnSpc>
              <a:buNone/>
              <a:tabLst>
                <a:tab algn="l" pos="0"/>
              </a:tabLst>
            </a:pPr>
            <a:r>
              <a:rPr b="0" lang="en-US" sz="750" spc="-1" strike="noStrike">
                <a:solidFill>
                  <a:srgbClr val="d4d4d4"/>
                </a:solidFill>
                <a:latin typeface="Consolas"/>
                <a:ea typeface="Consolas"/>
              </a:rPr>
              <a:t>import geopandas as gpd</a:t>
            </a:r>
            <a:endParaRPr b="0" lang="en-US" sz="750" spc="-1" strike="noStrike">
              <a:latin typeface="Arial"/>
            </a:endParaRPr>
          </a:p>
          <a:p>
            <a:pPr>
              <a:lnSpc>
                <a:spcPct val="100000"/>
              </a:lnSpc>
              <a:buNone/>
              <a:tabLst>
                <a:tab algn="l" pos="0"/>
              </a:tabLst>
            </a:pPr>
            <a:endParaRPr b="0" lang="en-US" sz="750" spc="-1" strike="noStrike">
              <a:latin typeface="Arial"/>
            </a:endParaRPr>
          </a:p>
          <a:p>
            <a:pPr>
              <a:lnSpc>
                <a:spcPct val="100000"/>
              </a:lnSpc>
              <a:buNone/>
              <a:tabLst>
                <a:tab algn="l" pos="0"/>
              </a:tabLst>
            </a:pPr>
            <a:r>
              <a:rPr b="0" lang="en-US" sz="750" spc="-1" strike="noStrike">
                <a:solidFill>
                  <a:srgbClr val="d4d4d4"/>
                </a:solidFill>
                <a:latin typeface="Consolas"/>
                <a:ea typeface="Consolas"/>
              </a:rPr>
              <a:t># 1. Load data</a:t>
            </a:r>
            <a:endParaRPr b="0" lang="en-US" sz="750" spc="-1" strike="noStrike">
              <a:latin typeface="Arial"/>
            </a:endParaRPr>
          </a:p>
          <a:p>
            <a:pPr>
              <a:lnSpc>
                <a:spcPct val="100000"/>
              </a:lnSpc>
              <a:buNone/>
              <a:tabLst>
                <a:tab algn="l" pos="0"/>
              </a:tabLst>
            </a:pPr>
            <a:r>
              <a:rPr b="0" lang="en-US" sz="750" spc="-1" strike="noStrike">
                <a:solidFill>
                  <a:srgbClr val="d4d4d4"/>
                </a:solidFill>
                <a:latin typeface="Consolas"/>
                <a:ea typeface="Consolas"/>
              </a:rPr>
              <a:t>gdf = gpd.read_file('constituencies.geojson')</a:t>
            </a:r>
            <a:endParaRPr b="0" lang="en-US" sz="750" spc="-1" strike="noStrike">
              <a:latin typeface="Arial"/>
            </a:endParaRPr>
          </a:p>
          <a:p>
            <a:pPr>
              <a:lnSpc>
                <a:spcPct val="100000"/>
              </a:lnSpc>
              <a:buNone/>
              <a:tabLst>
                <a:tab algn="l" pos="0"/>
              </a:tabLst>
            </a:pPr>
            <a:r>
              <a:rPr b="0" lang="en-US" sz="750" spc="-1" strike="noStrike">
                <a:solidFill>
                  <a:srgbClr val="d4d4d4"/>
                </a:solidFill>
                <a:latin typeface="Consolas"/>
                <a:ea typeface="Consolas"/>
              </a:rPr>
              <a:t>gdf = gdf.merge(election_df, on='PC_ID')</a:t>
            </a:r>
            <a:endParaRPr b="0" lang="en-US" sz="750" spc="-1" strike="noStrike">
              <a:latin typeface="Arial"/>
            </a:endParaRPr>
          </a:p>
          <a:p>
            <a:pPr>
              <a:lnSpc>
                <a:spcPct val="100000"/>
              </a:lnSpc>
              <a:buNone/>
              <a:tabLst>
                <a:tab algn="l" pos="0"/>
              </a:tabLst>
            </a:pPr>
            <a:endParaRPr b="0" lang="en-US" sz="750" spc="-1" strike="noStrike">
              <a:latin typeface="Arial"/>
            </a:endParaRPr>
          </a:p>
          <a:p>
            <a:pPr>
              <a:lnSpc>
                <a:spcPct val="100000"/>
              </a:lnSpc>
              <a:buNone/>
              <a:tabLst>
                <a:tab algn="l" pos="0"/>
              </a:tabLst>
            </a:pPr>
            <a:r>
              <a:rPr b="0" lang="en-US" sz="750" spc="-1" strike="noStrike">
                <a:solidFill>
                  <a:srgbClr val="d4d4d4"/>
                </a:solidFill>
                <a:latin typeface="Consolas"/>
                <a:ea typeface="Consolas"/>
              </a:rPr>
              <a:t># 2. Spatial weights</a:t>
            </a:r>
            <a:endParaRPr b="0" lang="en-US" sz="750" spc="-1" strike="noStrike">
              <a:latin typeface="Arial"/>
            </a:endParaRPr>
          </a:p>
          <a:p>
            <a:pPr>
              <a:lnSpc>
                <a:spcPct val="100000"/>
              </a:lnSpc>
              <a:buNone/>
              <a:tabLst>
                <a:tab algn="l" pos="0"/>
              </a:tabLst>
            </a:pPr>
            <a:r>
              <a:rPr b="0" lang="en-US" sz="750" spc="-1" strike="noStrike">
                <a:solidFill>
                  <a:srgbClr val="d4d4d4"/>
                </a:solidFill>
                <a:latin typeface="Consolas"/>
                <a:ea typeface="Consolas"/>
              </a:rPr>
              <a:t>w = KNN.from_dataframe(gdf, k=8)</a:t>
            </a:r>
            <a:endParaRPr b="0" lang="en-US" sz="750" spc="-1" strike="noStrike">
              <a:latin typeface="Arial"/>
            </a:endParaRPr>
          </a:p>
          <a:p>
            <a:pPr>
              <a:lnSpc>
                <a:spcPct val="100000"/>
              </a:lnSpc>
              <a:buNone/>
              <a:tabLst>
                <a:tab algn="l" pos="0"/>
              </a:tabLst>
            </a:pPr>
            <a:r>
              <a:rPr b="0" lang="en-US" sz="750" spc="-1" strike="noStrike">
                <a:solidFill>
                  <a:srgbClr val="d4d4d4"/>
                </a:solidFill>
                <a:latin typeface="Consolas"/>
                <a:ea typeface="Consolas"/>
              </a:rPr>
              <a:t>w.transform = 'r'  # row-standardize</a:t>
            </a:r>
            <a:endParaRPr b="0" lang="en-US" sz="750" spc="-1" strike="noStrike">
              <a:latin typeface="Arial"/>
            </a:endParaRPr>
          </a:p>
          <a:p>
            <a:pPr>
              <a:lnSpc>
                <a:spcPct val="100000"/>
              </a:lnSpc>
              <a:buNone/>
              <a:tabLst>
                <a:tab algn="l" pos="0"/>
              </a:tabLst>
            </a:pPr>
            <a:endParaRPr b="0" lang="en-US" sz="750" spc="-1" strike="noStrike">
              <a:latin typeface="Arial"/>
            </a:endParaRPr>
          </a:p>
          <a:p>
            <a:pPr>
              <a:lnSpc>
                <a:spcPct val="100000"/>
              </a:lnSpc>
              <a:buNone/>
              <a:tabLst>
                <a:tab algn="l" pos="0"/>
              </a:tabLst>
            </a:pPr>
            <a:r>
              <a:rPr b="0" lang="en-US" sz="750" spc="-1" strike="noStrike">
                <a:solidFill>
                  <a:srgbClr val="d4d4d4"/>
                </a:solidFill>
                <a:latin typeface="Consolas"/>
                <a:ea typeface="Consolas"/>
              </a:rPr>
              <a:t># 3. Global Moran's I</a:t>
            </a:r>
            <a:endParaRPr b="0" lang="en-US" sz="750" spc="-1" strike="noStrike">
              <a:latin typeface="Arial"/>
            </a:endParaRPr>
          </a:p>
          <a:p>
            <a:pPr>
              <a:lnSpc>
                <a:spcPct val="100000"/>
              </a:lnSpc>
              <a:buNone/>
              <a:tabLst>
                <a:tab algn="l" pos="0"/>
              </a:tabLst>
            </a:pPr>
            <a:r>
              <a:rPr b="0" lang="en-US" sz="750" spc="-1" strike="noStrike">
                <a:solidFill>
                  <a:srgbClr val="d4d4d4"/>
                </a:solidFill>
                <a:latin typeface="Consolas"/>
                <a:ea typeface="Consolas"/>
              </a:rPr>
              <a:t>mi = Moran(gdf['Turnout'], w,</a:t>
            </a:r>
            <a:endParaRPr b="0" lang="en-US" sz="750" spc="-1" strike="noStrike">
              <a:latin typeface="Arial"/>
            </a:endParaRPr>
          </a:p>
          <a:p>
            <a:pPr>
              <a:lnSpc>
                <a:spcPct val="100000"/>
              </a:lnSpc>
              <a:buNone/>
              <a:tabLst>
                <a:tab algn="l" pos="0"/>
              </a:tabLst>
            </a:pPr>
            <a:r>
              <a:rPr b="0" lang="en-US" sz="750" spc="-1" strike="noStrike">
                <a:solidFill>
                  <a:srgbClr val="d4d4d4"/>
                </a:solidFill>
                <a:latin typeface="Consolas"/>
                <a:ea typeface="Consolas"/>
              </a:rPr>
              <a:t>           </a:t>
            </a:r>
            <a:r>
              <a:rPr b="0" lang="en-US" sz="750" spc="-1" strike="noStrike">
                <a:solidFill>
                  <a:srgbClr val="d4d4d4"/>
                </a:solidFill>
                <a:latin typeface="Consolas"/>
                <a:ea typeface="Consolas"/>
              </a:rPr>
              <a:t>permutations=999)</a:t>
            </a:r>
            <a:endParaRPr b="0" lang="en-US" sz="750" spc="-1" strike="noStrike">
              <a:latin typeface="Arial"/>
            </a:endParaRPr>
          </a:p>
          <a:p>
            <a:pPr>
              <a:lnSpc>
                <a:spcPct val="100000"/>
              </a:lnSpc>
              <a:buNone/>
              <a:tabLst>
                <a:tab algn="l" pos="0"/>
              </a:tabLst>
            </a:pPr>
            <a:r>
              <a:rPr b="0" lang="en-US" sz="750" spc="-1" strike="noStrike">
                <a:solidFill>
                  <a:srgbClr val="d4d4d4"/>
                </a:solidFill>
                <a:latin typeface="Consolas"/>
                <a:ea typeface="Consolas"/>
              </a:rPr>
              <a:t>print(f'I={mi.I:.3f}, p={mi.p_sim:.4f}')</a:t>
            </a:r>
            <a:endParaRPr b="0" lang="en-US" sz="750" spc="-1" strike="noStrike">
              <a:latin typeface="Arial"/>
            </a:endParaRPr>
          </a:p>
          <a:p>
            <a:pPr>
              <a:lnSpc>
                <a:spcPct val="100000"/>
              </a:lnSpc>
              <a:buNone/>
              <a:tabLst>
                <a:tab algn="l" pos="0"/>
              </a:tabLst>
            </a:pPr>
            <a:r>
              <a:rPr b="0" lang="en-US" sz="750" spc="-1" strike="noStrike">
                <a:solidFill>
                  <a:srgbClr val="d4d4d4"/>
                </a:solidFill>
                <a:latin typeface="Consolas"/>
                <a:ea typeface="Consolas"/>
              </a:rPr>
              <a:t># I=0.614, p=0.001</a:t>
            </a:r>
            <a:endParaRPr b="0" lang="en-US" sz="750" spc="-1" strike="noStrike">
              <a:latin typeface="Arial"/>
            </a:endParaRPr>
          </a:p>
          <a:p>
            <a:pPr>
              <a:lnSpc>
                <a:spcPct val="100000"/>
              </a:lnSpc>
              <a:buNone/>
              <a:tabLst>
                <a:tab algn="l" pos="0"/>
              </a:tabLst>
            </a:pPr>
            <a:endParaRPr b="0" lang="en-US" sz="750" spc="-1" strike="noStrike">
              <a:latin typeface="Arial"/>
            </a:endParaRPr>
          </a:p>
          <a:p>
            <a:pPr>
              <a:lnSpc>
                <a:spcPct val="100000"/>
              </a:lnSpc>
              <a:buNone/>
              <a:tabLst>
                <a:tab algn="l" pos="0"/>
              </a:tabLst>
            </a:pPr>
            <a:r>
              <a:rPr b="0" lang="en-US" sz="750" spc="-1" strike="noStrike">
                <a:solidFill>
                  <a:srgbClr val="d4d4d4"/>
                </a:solidFill>
                <a:latin typeface="Consolas"/>
                <a:ea typeface="Consolas"/>
              </a:rPr>
              <a:t># 4. LISA (local decomposition)</a:t>
            </a:r>
            <a:endParaRPr b="0" lang="en-US" sz="750" spc="-1" strike="noStrike">
              <a:latin typeface="Arial"/>
            </a:endParaRPr>
          </a:p>
          <a:p>
            <a:pPr>
              <a:lnSpc>
                <a:spcPct val="100000"/>
              </a:lnSpc>
              <a:buNone/>
              <a:tabLst>
                <a:tab algn="l" pos="0"/>
              </a:tabLst>
            </a:pPr>
            <a:r>
              <a:rPr b="0" lang="en-US" sz="750" spc="-1" strike="noStrike">
                <a:solidFill>
                  <a:srgbClr val="d4d4d4"/>
                </a:solidFill>
                <a:latin typeface="Consolas"/>
                <a:ea typeface="Consolas"/>
              </a:rPr>
              <a:t>lisa = Moran_Local(gdf['Turnout'], w,</a:t>
            </a:r>
            <a:endParaRPr b="0" lang="en-US" sz="750" spc="-1" strike="noStrike">
              <a:latin typeface="Arial"/>
            </a:endParaRPr>
          </a:p>
          <a:p>
            <a:pPr>
              <a:lnSpc>
                <a:spcPct val="100000"/>
              </a:lnSpc>
              <a:buNone/>
              <a:tabLst>
                <a:tab algn="l" pos="0"/>
              </a:tabLst>
            </a:pPr>
            <a:r>
              <a:rPr b="0" lang="en-US" sz="750" spc="-1" strike="noStrike">
                <a:solidFill>
                  <a:srgbClr val="d4d4d4"/>
                </a:solidFill>
                <a:latin typeface="Consolas"/>
                <a:ea typeface="Consolas"/>
              </a:rPr>
              <a:t>                   </a:t>
            </a:r>
            <a:r>
              <a:rPr b="0" lang="en-US" sz="750" spc="-1" strike="noStrike">
                <a:solidFill>
                  <a:srgbClr val="d4d4d4"/>
                </a:solidFill>
                <a:latin typeface="Consolas"/>
                <a:ea typeface="Consolas"/>
              </a:rPr>
              <a:t>permutations=999)</a:t>
            </a:r>
            <a:endParaRPr b="0" lang="en-US" sz="750" spc="-1" strike="noStrike">
              <a:latin typeface="Arial"/>
            </a:endParaRPr>
          </a:p>
          <a:p>
            <a:pPr>
              <a:lnSpc>
                <a:spcPct val="100000"/>
              </a:lnSpc>
              <a:buNone/>
              <a:tabLst>
                <a:tab algn="l" pos="0"/>
              </a:tabLst>
            </a:pPr>
            <a:r>
              <a:rPr b="0" lang="en-US" sz="750" spc="-1" strike="noStrike">
                <a:solidFill>
                  <a:srgbClr val="d4d4d4"/>
                </a:solidFill>
                <a:latin typeface="Consolas"/>
                <a:ea typeface="Consolas"/>
              </a:rPr>
              <a:t>gdf['cluster'] = lisa.q  # 1=HH,2=LH,3=LL,4=HL</a:t>
            </a:r>
            <a:endParaRPr b="0" lang="en-US" sz="750" spc="-1" strike="noStrike">
              <a:latin typeface="Arial"/>
            </a:endParaRPr>
          </a:p>
          <a:p>
            <a:pPr>
              <a:lnSpc>
                <a:spcPct val="100000"/>
              </a:lnSpc>
              <a:buNone/>
              <a:tabLst>
                <a:tab algn="l" pos="0"/>
              </a:tabLst>
            </a:pPr>
            <a:r>
              <a:rPr b="0" lang="en-US" sz="750" spc="-1" strike="noStrike">
                <a:solidFill>
                  <a:srgbClr val="d4d4d4"/>
                </a:solidFill>
                <a:latin typeface="Consolas"/>
                <a:ea typeface="Consolas"/>
              </a:rPr>
              <a:t>gdf['significant'] = lisa.p_sim &lt; 0.05</a:t>
            </a:r>
            <a:endParaRPr b="0" lang="en-US" sz="750" spc="-1" strike="noStrike">
              <a:latin typeface="Arial"/>
            </a:endParaRPr>
          </a:p>
          <a:p>
            <a:pPr>
              <a:lnSpc>
                <a:spcPct val="100000"/>
              </a:lnSpc>
              <a:buNone/>
              <a:tabLst>
                <a:tab algn="l" pos="0"/>
              </a:tabLst>
            </a:pPr>
            <a:endParaRPr b="0" lang="en-US" sz="750" spc="-1" strike="noStrike">
              <a:latin typeface="Arial"/>
            </a:endParaRPr>
          </a:p>
          <a:p>
            <a:pPr>
              <a:lnSpc>
                <a:spcPct val="100000"/>
              </a:lnSpc>
              <a:buNone/>
              <a:tabLst>
                <a:tab algn="l" pos="0"/>
              </a:tabLst>
            </a:pPr>
            <a:r>
              <a:rPr b="0" lang="en-US" sz="750" spc="-1" strike="noStrike">
                <a:solidFill>
                  <a:srgbClr val="d4d4d4"/>
                </a:solidFill>
                <a:latin typeface="Consolas"/>
                <a:ea typeface="Consolas"/>
              </a:rPr>
              <a:t># 5. Apply to ANY variable</a:t>
            </a:r>
            <a:endParaRPr b="0" lang="en-US" sz="750" spc="-1" strike="noStrike">
              <a:latin typeface="Arial"/>
            </a:endParaRPr>
          </a:p>
          <a:p>
            <a:pPr>
              <a:lnSpc>
                <a:spcPct val="100000"/>
              </a:lnSpc>
              <a:buNone/>
              <a:tabLst>
                <a:tab algn="l" pos="0"/>
              </a:tabLst>
            </a:pPr>
            <a:r>
              <a:rPr b="0" lang="en-US" sz="750" spc="-1" strike="noStrike">
                <a:solidFill>
                  <a:srgbClr val="d4d4d4"/>
                </a:solidFill>
                <a:latin typeface="Consolas"/>
                <a:ea typeface="Consolas"/>
              </a:rPr>
              <a:t>mi_margin = Moran(gdf['Margin'], w)</a:t>
            </a:r>
            <a:endParaRPr b="0" lang="en-US" sz="750" spc="-1" strike="noStrike">
              <a:latin typeface="Arial"/>
            </a:endParaRPr>
          </a:p>
          <a:p>
            <a:pPr>
              <a:lnSpc>
                <a:spcPct val="100000"/>
              </a:lnSpc>
              <a:buNone/>
              <a:tabLst>
                <a:tab algn="l" pos="0"/>
              </a:tabLst>
            </a:pPr>
            <a:r>
              <a:rPr b="0" lang="en-US" sz="750" spc="-1" strike="noStrike">
                <a:solidFill>
                  <a:srgbClr val="d4d4d4"/>
                </a:solidFill>
                <a:latin typeface="Consolas"/>
                <a:ea typeface="Consolas"/>
              </a:rPr>
              <a:t># I=0.277 -- 2.2x less structured</a:t>
            </a:r>
            <a:endParaRPr b="0" lang="en-US" sz="750" spc="-1" strike="noStrike">
              <a:latin typeface="Arial"/>
            </a:endParaRPr>
          </a:p>
          <a:p>
            <a:pPr>
              <a:lnSpc>
                <a:spcPct val="100000"/>
              </a:lnSpc>
              <a:buNone/>
              <a:tabLst>
                <a:tab algn="l" pos="0"/>
              </a:tabLst>
            </a:pPr>
            <a:r>
              <a:rPr b="0" lang="en-US" sz="750" spc="-1" strike="noStrike">
                <a:solidFill>
                  <a:srgbClr val="d4d4d4"/>
                </a:solidFill>
                <a:latin typeface="Consolas"/>
                <a:ea typeface="Consolas"/>
              </a:rPr>
              <a:t>mi_women = Moran(gdf['women_pct'], w)</a:t>
            </a:r>
            <a:endParaRPr b="0" lang="en-US" sz="750" spc="-1" strike="noStrike">
              <a:latin typeface="Arial"/>
            </a:endParaRPr>
          </a:p>
          <a:p>
            <a:pPr>
              <a:lnSpc>
                <a:spcPct val="100000"/>
              </a:lnSpc>
              <a:buNone/>
              <a:tabLst>
                <a:tab algn="l" pos="0"/>
              </a:tabLst>
            </a:pPr>
            <a:r>
              <a:rPr b="0" lang="en-US" sz="750" spc="-1" strike="noStrike">
                <a:solidFill>
                  <a:srgbClr val="d4d4d4"/>
                </a:solidFill>
                <a:latin typeface="Consolas"/>
                <a:ea typeface="Consolas"/>
              </a:rPr>
              <a:t># I=0.113 -- near-random</a:t>
            </a:r>
            <a:endParaRPr b="0" lang="en-US" sz="75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857c"/>
        </a:solidFill>
      </p:bgPr>
    </p:bg>
    <p:spTree>
      <p:nvGrpSpPr>
        <p:cNvPr id="1" name=""/>
        <p:cNvGrpSpPr/>
        <p:nvPr/>
      </p:nvGrpSpPr>
      <p:grpSpPr>
        <a:xfrm>
          <a:off x="0" y="0"/>
          <a:ext cx="0" cy="0"/>
          <a:chOff x="0" y="0"/>
          <a:chExt cx="0" cy="0"/>
        </a:xfrm>
      </p:grpSpPr>
      <p:sp>
        <p:nvSpPr>
          <p:cNvPr id="199" name="Text 0"/>
          <p:cNvSpPr/>
          <p:nvPr/>
        </p:nvSpPr>
        <p:spPr>
          <a:xfrm>
            <a:off x="731520" y="914400"/>
            <a:ext cx="768060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800" spc="-1" strike="noStrike">
                <a:solidFill>
                  <a:srgbClr val="ffffff"/>
                </a:solidFill>
                <a:latin typeface="Calibri"/>
                <a:ea typeface="Calibri"/>
              </a:rPr>
              <a:t>Spatialization 1</a:t>
            </a:r>
            <a:endParaRPr b="0" lang="en-US" sz="1800" spc="-1" strike="noStrike">
              <a:latin typeface="Arial"/>
            </a:endParaRPr>
          </a:p>
        </p:txBody>
      </p:sp>
      <p:sp>
        <p:nvSpPr>
          <p:cNvPr id="200" name="Text 1"/>
          <p:cNvSpPr/>
          <p:nvPr/>
        </p:nvSpPr>
        <p:spPr>
          <a:xfrm>
            <a:off x="731520" y="1463040"/>
            <a:ext cx="7680600" cy="10969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4000" spc="-1" strike="noStrike">
                <a:solidFill>
                  <a:srgbClr val="ffffff"/>
                </a:solidFill>
                <a:latin typeface="Georgia"/>
                <a:ea typeface="Georgia"/>
              </a:rPr>
              <a:t>Histogram to LISA</a:t>
            </a:r>
            <a:endParaRPr b="0" lang="en-US" sz="4000" spc="-1" strike="noStrike">
              <a:latin typeface="Arial"/>
            </a:endParaRPr>
          </a:p>
          <a:p>
            <a:pPr>
              <a:lnSpc>
                <a:spcPct val="100000"/>
              </a:lnSpc>
              <a:buNone/>
              <a:tabLst>
                <a:tab algn="l" pos="0"/>
              </a:tabLst>
            </a:pPr>
            <a:r>
              <a:rPr b="1" lang="en-US" sz="4000" spc="-1" strike="noStrike">
                <a:solidFill>
                  <a:srgbClr val="ffffff"/>
                </a:solidFill>
                <a:latin typeface="Georgia"/>
                <a:ea typeface="Georgia"/>
              </a:rPr>
              <a:t>Cluster Map</a:t>
            </a:r>
            <a:endParaRPr b="0" lang="en-US" sz="4000" spc="-1" strike="noStrike">
              <a:latin typeface="Arial"/>
            </a:endParaRPr>
          </a:p>
        </p:txBody>
      </p:sp>
      <p:sp>
        <p:nvSpPr>
          <p:cNvPr id="201" name="Text 2"/>
          <p:cNvSpPr/>
          <p:nvPr/>
        </p:nvSpPr>
        <p:spPr>
          <a:xfrm>
            <a:off x="731520" y="2926080"/>
            <a:ext cx="7680600" cy="6397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500" spc="-1" strike="noStrike">
                <a:solidFill>
                  <a:srgbClr val="ffffff"/>
                </a:solidFill>
                <a:latin typeface="Calibri"/>
                <a:ea typeface="Calibri"/>
              </a:rPr>
              <a:t>Generalizable Query: "Does variable X exhibit statistically significant</a:t>
            </a:r>
            <a:endParaRPr b="0" lang="en-US" sz="1500" spc="-1" strike="noStrike">
              <a:latin typeface="Arial"/>
            </a:endParaRPr>
          </a:p>
          <a:p>
            <a:pPr>
              <a:lnSpc>
                <a:spcPct val="100000"/>
              </a:lnSpc>
              <a:buNone/>
              <a:tabLst>
                <a:tab algn="l" pos="0"/>
              </a:tabLst>
            </a:pPr>
            <a:r>
              <a:rPr b="0" i="1" lang="en-US" sz="1500" spc="-1" strike="noStrike">
                <a:solidFill>
                  <a:srgbClr val="ffffff"/>
                </a:solidFill>
                <a:latin typeface="Calibri"/>
                <a:ea typeface="Calibri"/>
              </a:rPr>
              <a:t>spatial autocorrelation, and if so, where are the clusters?"</a:t>
            </a:r>
            <a:endParaRPr b="0" lang="en-US" sz="15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2" name="Text 0"/>
          <p:cNvSpPr/>
          <p:nvPr/>
        </p:nvSpPr>
        <p:spPr>
          <a:xfrm>
            <a:off x="457200" y="182880"/>
            <a:ext cx="82292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200" spc="-1" strike="noStrike">
                <a:solidFill>
                  <a:srgbClr val="0d2b5c"/>
                </a:solidFill>
                <a:latin typeface="Georgia"/>
                <a:ea typeface="Georgia"/>
              </a:rPr>
              <a:t>The Aspatial Version: A Histogram of Voter Turnout</a:t>
            </a:r>
            <a:endParaRPr b="0" lang="en-US" sz="2200" spc="-1" strike="noStrike">
              <a:latin typeface="Arial"/>
            </a:endParaRPr>
          </a:p>
        </p:txBody>
      </p:sp>
      <p:pic>
        <p:nvPicPr>
          <p:cNvPr id="203" name="Image 0" descr="/home/claude/chart_images/01_turnout_histogram.png"/>
          <p:cNvPicPr/>
          <p:nvPr/>
        </p:nvPicPr>
        <p:blipFill>
          <a:blip r:embed="rId1"/>
          <a:stretch/>
        </p:blipFill>
        <p:spPr>
          <a:xfrm>
            <a:off x="274320" y="640080"/>
            <a:ext cx="5943240" cy="3840120"/>
          </a:xfrm>
          <a:prstGeom prst="rect">
            <a:avLst/>
          </a:prstGeom>
          <a:ln w="0">
            <a:noFill/>
          </a:ln>
        </p:spPr>
      </p:pic>
      <p:sp>
        <p:nvSpPr>
          <p:cNvPr id="204" name="Shape 1"/>
          <p:cNvSpPr/>
          <p:nvPr/>
        </p:nvSpPr>
        <p:spPr>
          <a:xfrm>
            <a:off x="6400800" y="914400"/>
            <a:ext cx="2285640" cy="3200040"/>
          </a:xfrm>
          <a:prstGeom prst="rect">
            <a:avLst/>
          </a:prstGeom>
          <a:solidFill>
            <a:srgbClr val="f0f0f0"/>
          </a:solidFill>
          <a:ln w="0">
            <a:noFill/>
          </a:ln>
        </p:spPr>
        <p:style>
          <a:lnRef idx="0"/>
          <a:fillRef idx="0"/>
          <a:effectRef idx="0"/>
          <a:fontRef idx="minor"/>
        </p:style>
      </p:sp>
      <p:sp>
        <p:nvSpPr>
          <p:cNvPr id="205" name="Text 2"/>
          <p:cNvSpPr/>
          <p:nvPr/>
        </p:nvSpPr>
        <p:spPr>
          <a:xfrm>
            <a:off x="6537960" y="960120"/>
            <a:ext cx="201132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0d2b5c"/>
                </a:solidFill>
                <a:latin typeface="Georgia"/>
                <a:ea typeface="Georgia"/>
              </a:rPr>
              <a:t>What it shows</a:t>
            </a:r>
            <a:endParaRPr b="0" lang="en-US" sz="1200" spc="-1" strike="noStrike">
              <a:latin typeface="Arial"/>
            </a:endParaRPr>
          </a:p>
        </p:txBody>
      </p:sp>
      <p:sp>
        <p:nvSpPr>
          <p:cNvPr id="206" name="Text 3"/>
          <p:cNvSpPr/>
          <p:nvPr/>
        </p:nvSpPr>
        <p:spPr>
          <a:xfrm>
            <a:off x="6537960" y="1234440"/>
            <a:ext cx="2011320" cy="182844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50" spc="-1" strike="noStrike">
                <a:solidFill>
                  <a:srgbClr val="333333"/>
                </a:solidFill>
                <a:latin typeface="Calibri"/>
                <a:ea typeface="Calibri"/>
              </a:rPr>
              <a:t>n = 548 PCs</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Mean: 66.7%</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Std: 10.0</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Roughly normal</a:t>
            </a:r>
            <a:endParaRPr b="0" lang="en-US" sz="1050" spc="-1" strike="noStrike">
              <a:latin typeface="Arial"/>
            </a:endParaRPr>
          </a:p>
          <a:p>
            <a:pPr>
              <a:lnSpc>
                <a:spcPct val="100000"/>
              </a:lnSpc>
              <a:buNone/>
              <a:tabLst>
                <a:tab algn="l" pos="0"/>
              </a:tabLst>
            </a:pP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No constituency names.</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No state labels.</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No geographic info.</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Just a frequency count.</a:t>
            </a:r>
            <a:endParaRPr b="0" lang="en-US" sz="1050" spc="-1" strike="noStrike">
              <a:latin typeface="Arial"/>
            </a:endParaRPr>
          </a:p>
        </p:txBody>
      </p:sp>
      <p:sp>
        <p:nvSpPr>
          <p:cNvPr id="207" name="Text 4"/>
          <p:cNvSpPr/>
          <p:nvPr/>
        </p:nvSpPr>
        <p:spPr>
          <a:xfrm>
            <a:off x="6537960" y="3200400"/>
            <a:ext cx="2011320" cy="182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d7191c"/>
                </a:solidFill>
                <a:latin typeface="Georgia"/>
                <a:ea typeface="Georgia"/>
              </a:rPr>
              <a:t>Cannot answer:</a:t>
            </a:r>
            <a:endParaRPr b="0" lang="en-US" sz="1000" spc="-1" strike="noStrike">
              <a:latin typeface="Arial"/>
            </a:endParaRPr>
          </a:p>
        </p:txBody>
      </p:sp>
      <p:sp>
        <p:nvSpPr>
          <p:cNvPr id="208" name="Text 5"/>
          <p:cNvSpPr/>
          <p:nvPr/>
        </p:nvSpPr>
        <p:spPr>
          <a:xfrm>
            <a:off x="6537960" y="3429000"/>
            <a:ext cx="2011320" cy="6397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950" spc="-1" strike="noStrike">
                <a:solidFill>
                  <a:srgbClr val="d7191c"/>
                </a:solidFill>
                <a:latin typeface="Calibri"/>
                <a:ea typeface="Calibri"/>
              </a:rPr>
              <a:t>WHERE are the patterns?</a:t>
            </a:r>
            <a:endParaRPr b="0" lang="en-US" sz="950" spc="-1" strike="noStrike">
              <a:latin typeface="Arial"/>
            </a:endParaRPr>
          </a:p>
          <a:p>
            <a:pPr>
              <a:lnSpc>
                <a:spcPct val="100000"/>
              </a:lnSpc>
              <a:buNone/>
              <a:tabLst>
                <a:tab algn="l" pos="0"/>
              </a:tabLst>
            </a:pPr>
            <a:endParaRPr b="0" lang="en-US" sz="950" spc="-1" strike="noStrike">
              <a:latin typeface="Arial"/>
            </a:endParaRPr>
          </a:p>
          <a:p>
            <a:pPr>
              <a:lnSpc>
                <a:spcPct val="100000"/>
              </a:lnSpc>
              <a:buNone/>
              <a:tabLst>
                <a:tab algn="l" pos="0"/>
              </a:tabLst>
            </a:pPr>
            <a:r>
              <a:rPr b="0" i="1" lang="en-US" sz="950" spc="-1" strike="noStrike">
                <a:solidFill>
                  <a:srgbClr val="d7191c"/>
                </a:solidFill>
                <a:latin typeface="Calibri"/>
                <a:ea typeface="Calibri"/>
              </a:rPr>
              <a:t>This limitation applies to</a:t>
            </a:r>
            <a:endParaRPr b="0" lang="en-US" sz="950" spc="-1" strike="noStrike">
              <a:latin typeface="Arial"/>
            </a:endParaRPr>
          </a:p>
          <a:p>
            <a:pPr>
              <a:lnSpc>
                <a:spcPct val="100000"/>
              </a:lnSpc>
              <a:buNone/>
              <a:tabLst>
                <a:tab algn="l" pos="0"/>
              </a:tabLst>
            </a:pPr>
            <a:r>
              <a:rPr b="0" i="1" lang="en-US" sz="950" spc="-1" strike="noStrike">
                <a:solidFill>
                  <a:srgbClr val="d7191c"/>
                </a:solidFill>
                <a:latin typeface="Calibri"/>
                <a:ea typeface="Calibri"/>
              </a:rPr>
              <a:t>ANY histogram of ANY</a:t>
            </a:r>
            <a:endParaRPr b="0" lang="en-US" sz="950" spc="-1" strike="noStrike">
              <a:latin typeface="Arial"/>
            </a:endParaRPr>
          </a:p>
          <a:p>
            <a:pPr>
              <a:lnSpc>
                <a:spcPct val="100000"/>
              </a:lnSpc>
              <a:buNone/>
              <a:tabLst>
                <a:tab algn="l" pos="0"/>
              </a:tabLst>
            </a:pPr>
            <a:r>
              <a:rPr b="0" i="1" lang="en-US" sz="950" spc="-1" strike="noStrike">
                <a:solidFill>
                  <a:srgbClr val="d7191c"/>
                </a:solidFill>
                <a:latin typeface="Calibri"/>
                <a:ea typeface="Calibri"/>
              </a:rPr>
              <a:t>spatially-indexed variable.</a:t>
            </a:r>
            <a:endParaRPr b="0" lang="en-US" sz="95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9" name="Text 0"/>
          <p:cNvSpPr/>
          <p:nvPr/>
        </p:nvSpPr>
        <p:spPr>
          <a:xfrm>
            <a:off x="457200" y="137160"/>
            <a:ext cx="8229240" cy="4111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200" spc="-1" strike="noStrike">
                <a:solidFill>
                  <a:srgbClr val="0d2b5c"/>
                </a:solidFill>
                <a:latin typeface="Georgia"/>
                <a:ea typeface="Georgia"/>
              </a:rPr>
              <a:t>The Spatialized Version: LISA Cluster Map</a:t>
            </a:r>
            <a:endParaRPr b="0" lang="en-US" sz="2200" spc="-1" strike="noStrike">
              <a:latin typeface="Arial"/>
            </a:endParaRPr>
          </a:p>
        </p:txBody>
      </p:sp>
      <p:sp>
        <p:nvSpPr>
          <p:cNvPr id="210" name="Text 1"/>
          <p:cNvSpPr/>
          <p:nvPr/>
        </p:nvSpPr>
        <p:spPr>
          <a:xfrm>
            <a:off x="457200" y="530280"/>
            <a:ext cx="8229240" cy="182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00" spc="-1" strike="noStrike">
                <a:solidFill>
                  <a:srgbClr val="777777"/>
                </a:solidFill>
                <a:latin typeface="Calibri"/>
                <a:ea typeface="Calibri"/>
              </a:rPr>
              <a:t>Chart 37  |  Moran's I = 0.614, p &lt; 0.001  |  KNN k=8, 999 permutations</a:t>
            </a:r>
            <a:endParaRPr b="0" lang="en-US" sz="900" spc="-1" strike="noStrike">
              <a:latin typeface="Arial"/>
            </a:endParaRPr>
          </a:p>
        </p:txBody>
      </p:sp>
      <p:pic>
        <p:nvPicPr>
          <p:cNvPr id="211" name="Image 0" descr="/home/claude/screenshots/37.png"/>
          <p:cNvPicPr/>
          <p:nvPr/>
        </p:nvPicPr>
        <p:blipFill>
          <a:blip r:embed="rId1"/>
          <a:stretch/>
        </p:blipFill>
        <p:spPr>
          <a:xfrm>
            <a:off x="1143360" y="897480"/>
            <a:ext cx="6629040" cy="3217320"/>
          </a:xfrm>
          <a:prstGeom prst="rect">
            <a:avLst/>
          </a:prstGeom>
          <a:ln w="0">
            <a:noFill/>
          </a:ln>
        </p:spPr>
      </p:pic>
      <p:sp>
        <p:nvSpPr>
          <p:cNvPr id="212" name="Shape 2"/>
          <p:cNvSpPr/>
          <p:nvPr/>
        </p:nvSpPr>
        <p:spPr>
          <a:xfrm>
            <a:off x="274320" y="4160520"/>
            <a:ext cx="8412120" cy="868320"/>
          </a:xfrm>
          <a:prstGeom prst="rect">
            <a:avLst/>
          </a:prstGeom>
          <a:solidFill>
            <a:srgbClr val="ebf5f4"/>
          </a:solidFill>
          <a:ln w="0">
            <a:noFill/>
          </a:ln>
        </p:spPr>
        <p:style>
          <a:lnRef idx="0"/>
          <a:fillRef idx="0"/>
          <a:effectRef idx="0"/>
          <a:fontRef idx="minor"/>
        </p:style>
      </p:sp>
      <p:sp>
        <p:nvSpPr>
          <p:cNvPr id="213" name="Text 3"/>
          <p:cNvSpPr/>
          <p:nvPr/>
        </p:nvSpPr>
        <p:spPr>
          <a:xfrm>
            <a:off x="457200" y="4178880"/>
            <a:ext cx="804636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00" spc="-1" strike="noStrike">
                <a:solidFill>
                  <a:srgbClr val="333333"/>
                </a:solidFill>
                <a:latin typeface="Calibri"/>
                <a:ea typeface="Calibri"/>
              </a:rPr>
              <a:t>Specific: "Does voter turnout cluster geographically?" Answer: Yes. I=0.614. Two contiguous hot-spot belts separated by a cold-spot belt.</a:t>
            </a:r>
            <a:endParaRPr b="0" lang="en-US" sz="900" spc="-1" strike="noStrike">
              <a:latin typeface="Arial"/>
            </a:endParaRPr>
          </a:p>
        </p:txBody>
      </p:sp>
      <p:sp>
        <p:nvSpPr>
          <p:cNvPr id="214" name="Text 4"/>
          <p:cNvSpPr/>
          <p:nvPr/>
        </p:nvSpPr>
        <p:spPr>
          <a:xfrm>
            <a:off x="457200" y="4407480"/>
            <a:ext cx="804636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00" spc="-1" strike="noStrike">
                <a:solidFill>
                  <a:srgbClr val="00857c"/>
                </a:solidFill>
                <a:latin typeface="Calibri"/>
                <a:ea typeface="Calibri"/>
              </a:rPr>
              <a:t>Generalizable: "Does variable X exhibit statistically significant spatial autocorrelation, and where are the clusters?"</a:t>
            </a:r>
            <a:endParaRPr b="0" lang="en-US" sz="900" spc="-1" strike="noStrike">
              <a:latin typeface="Arial"/>
            </a:endParaRPr>
          </a:p>
        </p:txBody>
      </p:sp>
      <p:sp>
        <p:nvSpPr>
          <p:cNvPr id="215" name="Text 5"/>
          <p:cNvSpPr/>
          <p:nvPr/>
        </p:nvSpPr>
        <p:spPr>
          <a:xfrm>
            <a:off x="457200" y="4636080"/>
            <a:ext cx="8046360" cy="3196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850" spc="-1" strike="noStrike">
                <a:solidFill>
                  <a:srgbClr val="777777"/>
                </a:solidFill>
                <a:latin typeface="Calibri"/>
                <a:ea typeface="Calibri"/>
              </a:rPr>
              <a:t>Examples: Crime rates by district (do burglaries cluster?), house prices by zip code (where are the hot spots?), COVID cases by county (is there a contiguous outbreak zone?), crop yield by block (where are the low-productivity belts?)</a:t>
            </a:r>
            <a:endParaRPr b="0" lang="en-US" sz="85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6" name="Text 0"/>
          <p:cNvSpPr/>
          <p:nvPr/>
        </p:nvSpPr>
        <p:spPr>
          <a:xfrm>
            <a:off x="731520" y="365760"/>
            <a:ext cx="768060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600" spc="-1" strike="noStrike">
                <a:solidFill>
                  <a:srgbClr val="0d2b5c"/>
                </a:solidFill>
                <a:latin typeface="Georgia"/>
                <a:ea typeface="Georgia"/>
              </a:rPr>
              <a:t>What the Spatialized Histogram Reveals</a:t>
            </a:r>
            <a:endParaRPr b="0" lang="en-US" sz="2600" spc="-1" strike="noStrike">
              <a:latin typeface="Arial"/>
            </a:endParaRPr>
          </a:p>
        </p:txBody>
      </p:sp>
      <p:sp>
        <p:nvSpPr>
          <p:cNvPr id="217" name="Text 1"/>
          <p:cNvSpPr/>
          <p:nvPr/>
        </p:nvSpPr>
        <p:spPr>
          <a:xfrm>
            <a:off x="731520" y="914400"/>
            <a:ext cx="768060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600" spc="-1" strike="noStrike">
                <a:solidFill>
                  <a:srgbClr val="00857c"/>
                </a:solidFill>
                <a:latin typeface="Georgia"/>
                <a:ea typeface="Georgia"/>
              </a:rPr>
              <a:t>Moran's I = 0.614 (p &lt; 0.001)    |    291 of 512 PCs (57%) in LISA clusters</a:t>
            </a:r>
            <a:endParaRPr b="0" lang="en-US" sz="1600" spc="-1" strike="noStrike">
              <a:latin typeface="Arial"/>
            </a:endParaRPr>
          </a:p>
        </p:txBody>
      </p:sp>
      <p:sp>
        <p:nvSpPr>
          <p:cNvPr id="218" name="Shape 2"/>
          <p:cNvSpPr/>
          <p:nvPr/>
        </p:nvSpPr>
        <p:spPr>
          <a:xfrm>
            <a:off x="731520" y="1371600"/>
            <a:ext cx="36360" cy="1005480"/>
          </a:xfrm>
          <a:prstGeom prst="rect">
            <a:avLst/>
          </a:prstGeom>
          <a:solidFill>
            <a:srgbClr val="d7191c"/>
          </a:solidFill>
          <a:ln w="0">
            <a:noFill/>
          </a:ln>
        </p:spPr>
        <p:style>
          <a:lnRef idx="0"/>
          <a:fillRef idx="0"/>
          <a:effectRef idx="0"/>
          <a:fontRef idx="minor"/>
        </p:style>
      </p:sp>
      <p:sp>
        <p:nvSpPr>
          <p:cNvPr id="219" name="Text 3"/>
          <p:cNvSpPr/>
          <p:nvPr/>
        </p:nvSpPr>
        <p:spPr>
          <a:xfrm>
            <a:off x="914400" y="1371600"/>
            <a:ext cx="749772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d7191c"/>
                </a:solidFill>
                <a:latin typeface="Georgia"/>
                <a:ea typeface="Georgia"/>
              </a:rPr>
              <a:t>1. CONTIGUITY (Query Class 1)</a:t>
            </a:r>
            <a:endParaRPr b="0" lang="en-US" sz="1200" spc="-1" strike="noStrike">
              <a:latin typeface="Arial"/>
            </a:endParaRPr>
          </a:p>
        </p:txBody>
      </p:sp>
      <p:sp>
        <p:nvSpPr>
          <p:cNvPr id="220" name="Text 4"/>
          <p:cNvSpPr/>
          <p:nvPr/>
        </p:nvSpPr>
        <p:spPr>
          <a:xfrm>
            <a:off x="914400" y="1645920"/>
            <a:ext cx="7497720" cy="68544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50" spc="-1" strike="noStrike">
                <a:solidFill>
                  <a:srgbClr val="333333"/>
                </a:solidFill>
                <a:latin typeface="Calibri"/>
                <a:ea typeface="Calibri"/>
              </a:rPr>
              <a:t>The 135 hot-spot PCs form two CONTIGUOUS geographic zones, not random scattered points. Contiguity determines whether spatial spillover is possible: mobilization in one South Indian PC propagates to neighbors because drivers (literacy, civic infrastructure) are shared across adjacent constituencies. A histogram shows 135 bars at the right end. It cannot show they are geographic neighbors.</a:t>
            </a:r>
            <a:endParaRPr b="0" lang="en-US" sz="1050" spc="-1" strike="noStrike">
              <a:latin typeface="Arial"/>
            </a:endParaRPr>
          </a:p>
        </p:txBody>
      </p:sp>
      <p:sp>
        <p:nvSpPr>
          <p:cNvPr id="221" name="Shape 5"/>
          <p:cNvSpPr/>
          <p:nvPr/>
        </p:nvSpPr>
        <p:spPr>
          <a:xfrm>
            <a:off x="731520" y="2514600"/>
            <a:ext cx="36360" cy="1005480"/>
          </a:xfrm>
          <a:prstGeom prst="rect">
            <a:avLst/>
          </a:prstGeom>
          <a:solidFill>
            <a:srgbClr val="00857c"/>
          </a:solidFill>
          <a:ln w="0">
            <a:noFill/>
          </a:ln>
        </p:spPr>
        <p:style>
          <a:lnRef idx="0"/>
          <a:fillRef idx="0"/>
          <a:effectRef idx="0"/>
          <a:fontRef idx="minor"/>
        </p:style>
      </p:sp>
      <p:sp>
        <p:nvSpPr>
          <p:cNvPr id="222" name="Text 6"/>
          <p:cNvSpPr/>
          <p:nvPr/>
        </p:nvSpPr>
        <p:spPr>
          <a:xfrm>
            <a:off x="914400" y="2514600"/>
            <a:ext cx="749772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00857c"/>
                </a:solidFill>
                <a:latin typeface="Georgia"/>
                <a:ea typeface="Georgia"/>
              </a:rPr>
              <a:t>2. CLUSTER DETECTION (Query Class 2)</a:t>
            </a:r>
            <a:endParaRPr b="0" lang="en-US" sz="1200" spc="-1" strike="noStrike">
              <a:latin typeface="Arial"/>
            </a:endParaRPr>
          </a:p>
        </p:txBody>
      </p:sp>
      <p:sp>
        <p:nvSpPr>
          <p:cNvPr id="223" name="Text 7"/>
          <p:cNvSpPr/>
          <p:nvPr/>
        </p:nvSpPr>
        <p:spPr>
          <a:xfrm>
            <a:off x="914400" y="2788920"/>
            <a:ext cx="7497720" cy="68544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50" spc="-1" strike="noStrike">
                <a:solidFill>
                  <a:srgbClr val="333333"/>
                </a:solidFill>
                <a:latin typeface="Calibri"/>
                <a:ea typeface="Calibri"/>
              </a:rPr>
              <a:t>LISA identifies 135 specific hot spots and 156 specific cold spots, each with a p-value. "135 HH in two specific regions" is an actionable policy target. "Roughly normal" is not. The 156 LL cold spots can be targeted for turnout mobilization with a clear geographic scope.</a:t>
            </a:r>
            <a:endParaRPr b="0" lang="en-US" sz="1050" spc="-1" strike="noStrike">
              <a:latin typeface="Arial"/>
            </a:endParaRPr>
          </a:p>
        </p:txBody>
      </p:sp>
      <p:sp>
        <p:nvSpPr>
          <p:cNvPr id="224" name="Shape 8"/>
          <p:cNvSpPr/>
          <p:nvPr/>
        </p:nvSpPr>
        <p:spPr>
          <a:xfrm>
            <a:off x="731520" y="3657600"/>
            <a:ext cx="36360" cy="1005480"/>
          </a:xfrm>
          <a:prstGeom prst="rect">
            <a:avLst/>
          </a:prstGeom>
          <a:solidFill>
            <a:srgbClr val="b7234c"/>
          </a:solidFill>
          <a:ln w="0">
            <a:noFill/>
          </a:ln>
        </p:spPr>
        <p:style>
          <a:lnRef idx="0"/>
          <a:fillRef idx="0"/>
          <a:effectRef idx="0"/>
          <a:fontRef idx="minor"/>
        </p:style>
      </p:sp>
      <p:sp>
        <p:nvSpPr>
          <p:cNvPr id="225" name="Text 9"/>
          <p:cNvSpPr/>
          <p:nvPr/>
        </p:nvSpPr>
        <p:spPr>
          <a:xfrm>
            <a:off x="914400" y="3657600"/>
            <a:ext cx="749772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b7234c"/>
                </a:solidFill>
                <a:latin typeface="Georgia"/>
                <a:ea typeface="Georgia"/>
              </a:rPr>
              <a:t>3. ABSENCE AS EVIDENCE (Query Class 5)</a:t>
            </a:r>
            <a:endParaRPr b="0" lang="en-US" sz="1200" spc="-1" strike="noStrike">
              <a:latin typeface="Arial"/>
            </a:endParaRPr>
          </a:p>
        </p:txBody>
      </p:sp>
      <p:sp>
        <p:nvSpPr>
          <p:cNvPr id="226" name="Text 10"/>
          <p:cNvSpPr/>
          <p:nvPr/>
        </p:nvSpPr>
        <p:spPr>
          <a:xfrm>
            <a:off x="914400" y="3931920"/>
            <a:ext cx="7497720" cy="68544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50" spc="-1" strike="noStrike">
                <a:solidFill>
                  <a:srgbClr val="333333"/>
                </a:solidFill>
                <a:latin typeface="Calibri"/>
                <a:ea typeface="Calibri"/>
              </a:rPr>
              <a:t>When the same spatialization is applied to women's candidature, I = 0.113 (near-random). The ABSENCE of clustering proves the barrier is institutional, not regional. No aspatial statistic can prove that a problem is NOT geographic. Only the spatialized histogram can.</a:t>
            </a:r>
            <a:endParaRPr b="0" lang="en-US" sz="105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7" name="Text 0"/>
          <p:cNvSpPr/>
          <p:nvPr/>
        </p:nvSpPr>
        <p:spPr>
          <a:xfrm>
            <a:off x="457200" y="137160"/>
            <a:ext cx="8229240" cy="4111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000" spc="-1" strike="noStrike">
                <a:solidFill>
                  <a:srgbClr val="0d2b5c"/>
                </a:solidFill>
                <a:latin typeface="Georgia"/>
                <a:ea typeface="Georgia"/>
              </a:rPr>
              <a:t>Application: Absence as Evidence (Women's Exclusion)</a:t>
            </a:r>
            <a:endParaRPr b="0" lang="en-US" sz="2000" spc="-1" strike="noStrike">
              <a:latin typeface="Arial"/>
            </a:endParaRPr>
          </a:p>
        </p:txBody>
      </p:sp>
      <p:sp>
        <p:nvSpPr>
          <p:cNvPr id="228" name="Text 1"/>
          <p:cNvSpPr/>
          <p:nvPr/>
        </p:nvSpPr>
        <p:spPr>
          <a:xfrm>
            <a:off x="457200" y="530280"/>
            <a:ext cx="8229240" cy="182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00" spc="-1" strike="noStrike">
                <a:solidFill>
                  <a:srgbClr val="777777"/>
                </a:solidFill>
                <a:latin typeface="Calibri"/>
                <a:ea typeface="Calibri"/>
              </a:rPr>
              <a:t>Chart 65  |  Same algorithm, different variable  |  I = 0.113 (near-random)  |  Query Class 5</a:t>
            </a:r>
            <a:endParaRPr b="0" lang="en-US" sz="900" spc="-1" strike="noStrike">
              <a:latin typeface="Arial"/>
            </a:endParaRPr>
          </a:p>
        </p:txBody>
      </p:sp>
      <p:pic>
        <p:nvPicPr>
          <p:cNvPr id="229" name="Image 0" descr="/home/claude/screenshots/65.png"/>
          <p:cNvPicPr/>
          <p:nvPr/>
        </p:nvPicPr>
        <p:blipFill>
          <a:blip r:embed="rId1"/>
          <a:stretch/>
        </p:blipFill>
        <p:spPr>
          <a:xfrm>
            <a:off x="2057400" y="914400"/>
            <a:ext cx="4572000" cy="2941560"/>
          </a:xfrm>
          <a:prstGeom prst="rect">
            <a:avLst/>
          </a:prstGeom>
          <a:ln w="0">
            <a:noFill/>
          </a:ln>
        </p:spPr>
      </p:pic>
      <p:sp>
        <p:nvSpPr>
          <p:cNvPr id="230" name="Shape 2"/>
          <p:cNvSpPr/>
          <p:nvPr/>
        </p:nvSpPr>
        <p:spPr>
          <a:xfrm>
            <a:off x="274320" y="4160520"/>
            <a:ext cx="8412120" cy="868320"/>
          </a:xfrm>
          <a:prstGeom prst="rect">
            <a:avLst/>
          </a:prstGeom>
          <a:solidFill>
            <a:srgbClr val="fdf0f4"/>
          </a:solidFill>
          <a:ln w="0">
            <a:noFill/>
          </a:ln>
        </p:spPr>
        <p:style>
          <a:lnRef idx="0"/>
          <a:fillRef idx="0"/>
          <a:effectRef idx="0"/>
          <a:fontRef idx="minor"/>
        </p:style>
      </p:sp>
      <p:sp>
        <p:nvSpPr>
          <p:cNvPr id="231" name="Text 3"/>
          <p:cNvSpPr/>
          <p:nvPr/>
        </p:nvSpPr>
        <p:spPr>
          <a:xfrm>
            <a:off x="457200" y="4178880"/>
            <a:ext cx="804636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00" spc="-1" strike="noStrike">
                <a:solidFill>
                  <a:srgbClr val="333333"/>
                </a:solidFill>
                <a:latin typeface="Calibri"/>
                <a:ea typeface="Calibri"/>
              </a:rPr>
              <a:t>Specific: "Is women's exclusion regional or institutional?" Answer: I=0.113 (near-random). Institutional. 121 zero-women PCs span every region.</a:t>
            </a:r>
            <a:endParaRPr b="0" lang="en-US" sz="900" spc="-1" strike="noStrike">
              <a:latin typeface="Arial"/>
            </a:endParaRPr>
          </a:p>
        </p:txBody>
      </p:sp>
      <p:sp>
        <p:nvSpPr>
          <p:cNvPr id="232" name="Text 4"/>
          <p:cNvSpPr/>
          <p:nvPr/>
        </p:nvSpPr>
        <p:spPr>
          <a:xfrm>
            <a:off x="457200" y="4407480"/>
            <a:ext cx="804636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00" spc="-1" strike="noStrike">
                <a:solidFill>
                  <a:srgbClr val="b7234c"/>
                </a:solidFill>
                <a:latin typeface="Calibri"/>
                <a:ea typeface="Calibri"/>
              </a:rPr>
              <a:t>Generalizable: "Does the absence of spatial structure in variable X constitute evidence for a non-geographic cause?"</a:t>
            </a:r>
            <a:endParaRPr b="0" lang="en-US" sz="900" spc="-1" strike="noStrike">
              <a:latin typeface="Arial"/>
            </a:endParaRPr>
          </a:p>
        </p:txBody>
      </p:sp>
      <p:sp>
        <p:nvSpPr>
          <p:cNvPr id="233" name="Text 5"/>
          <p:cNvSpPr/>
          <p:nvPr/>
        </p:nvSpPr>
        <p:spPr>
          <a:xfrm>
            <a:off x="457200" y="4636080"/>
            <a:ext cx="8046360" cy="3196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850" spc="-1" strike="noStrike">
                <a:solidFill>
                  <a:srgbClr val="777777"/>
                </a:solidFill>
                <a:latin typeface="Calibri"/>
                <a:ea typeface="Calibri"/>
              </a:rPr>
              <a:t>Examples: Service delivery failures across bank branches (systemic or regional?), equipment breakdowns across plants (manufacturing defect or local conditions?), regulatory violations across firms (industry-wide practice or regional enforcement gaps?)</a:t>
            </a:r>
            <a:endParaRPr b="0" lang="en-US" sz="85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2b5c"/>
        </a:solidFill>
      </p:bgPr>
    </p:bg>
    <p:spTree>
      <p:nvGrpSpPr>
        <p:cNvPr id="1" name=""/>
        <p:cNvGrpSpPr/>
        <p:nvPr/>
      </p:nvGrpSpPr>
      <p:grpSpPr>
        <a:xfrm>
          <a:off x="0" y="0"/>
          <a:ext cx="0" cy="0"/>
          <a:chOff x="0" y="0"/>
          <a:chExt cx="0" cy="0"/>
        </a:xfrm>
      </p:grpSpPr>
      <p:sp>
        <p:nvSpPr>
          <p:cNvPr id="234" name="Text 0"/>
          <p:cNvSpPr/>
          <p:nvPr/>
        </p:nvSpPr>
        <p:spPr>
          <a:xfrm>
            <a:off x="731520" y="914400"/>
            <a:ext cx="768060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800" spc="-1" strike="noStrike">
                <a:solidFill>
                  <a:srgbClr val="bbbbbb"/>
                </a:solidFill>
                <a:latin typeface="Calibri"/>
                <a:ea typeface="Calibri"/>
              </a:rPr>
              <a:t>Spatialization 2</a:t>
            </a:r>
            <a:endParaRPr b="0" lang="en-US" sz="1800" spc="-1" strike="noStrike">
              <a:latin typeface="Arial"/>
            </a:endParaRPr>
          </a:p>
        </p:txBody>
      </p:sp>
      <p:sp>
        <p:nvSpPr>
          <p:cNvPr id="235" name="Text 1"/>
          <p:cNvSpPr/>
          <p:nvPr/>
        </p:nvSpPr>
        <p:spPr>
          <a:xfrm>
            <a:off x="731520" y="1463040"/>
            <a:ext cx="7680600" cy="10969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4000" spc="-1" strike="noStrike">
                <a:solidFill>
                  <a:srgbClr val="ffffff"/>
                </a:solidFill>
                <a:latin typeface="Georgia"/>
                <a:ea typeface="Georgia"/>
              </a:rPr>
              <a:t>Scatterplot to Moran</a:t>
            </a:r>
            <a:endParaRPr b="0" lang="en-US" sz="4000" spc="-1" strike="noStrike">
              <a:latin typeface="Arial"/>
            </a:endParaRPr>
          </a:p>
          <a:p>
            <a:pPr>
              <a:lnSpc>
                <a:spcPct val="100000"/>
              </a:lnSpc>
              <a:buNone/>
              <a:tabLst>
                <a:tab algn="l" pos="0"/>
              </a:tabLst>
            </a:pPr>
            <a:r>
              <a:rPr b="1" lang="en-US" sz="4000" spc="-1" strike="noStrike">
                <a:solidFill>
                  <a:srgbClr val="ffffff"/>
                </a:solidFill>
                <a:latin typeface="Georgia"/>
                <a:ea typeface="Georgia"/>
              </a:rPr>
              <a:t>Scatterplot</a:t>
            </a:r>
            <a:endParaRPr b="0" lang="en-US" sz="4000" spc="-1" strike="noStrike">
              <a:latin typeface="Arial"/>
            </a:endParaRPr>
          </a:p>
        </p:txBody>
      </p:sp>
      <p:sp>
        <p:nvSpPr>
          <p:cNvPr id="236" name="Text 2"/>
          <p:cNvSpPr/>
          <p:nvPr/>
        </p:nvSpPr>
        <p:spPr>
          <a:xfrm>
            <a:off x="731520" y="2926080"/>
            <a:ext cx="7680600" cy="6397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500" spc="-1" strike="noStrike">
                <a:solidFill>
                  <a:srgbClr val="00857c"/>
                </a:solidFill>
                <a:latin typeface="Calibri"/>
                <a:ea typeface="Calibri"/>
              </a:rPr>
              <a:t>Generalizable Query: "Is observation X anomalous relative to the</a:t>
            </a:r>
            <a:endParaRPr b="0" lang="en-US" sz="1500" spc="-1" strike="noStrike">
              <a:latin typeface="Arial"/>
            </a:endParaRPr>
          </a:p>
          <a:p>
            <a:pPr>
              <a:lnSpc>
                <a:spcPct val="100000"/>
              </a:lnSpc>
              <a:buNone/>
              <a:tabLst>
                <a:tab algn="l" pos="0"/>
              </a:tabLst>
            </a:pPr>
            <a:r>
              <a:rPr b="0" i="1" lang="en-US" sz="1500" spc="-1" strike="noStrike">
                <a:solidFill>
                  <a:srgbClr val="00857c"/>
                </a:solidFill>
                <a:latin typeface="Calibri"/>
                <a:ea typeface="Calibri"/>
              </a:rPr>
              <a:t>global distribution, or relative to its geographic neighborhood?"</a:t>
            </a:r>
            <a:endParaRPr b="0" lang="en-US" sz="15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7" name="Text 0"/>
          <p:cNvSpPr/>
          <p:nvPr/>
        </p:nvSpPr>
        <p:spPr>
          <a:xfrm>
            <a:off x="457200" y="182880"/>
            <a:ext cx="82292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200" spc="-1" strike="noStrike">
                <a:solidFill>
                  <a:srgbClr val="0d2b5c"/>
                </a:solidFill>
                <a:latin typeface="Georgia"/>
                <a:ea typeface="Georgia"/>
              </a:rPr>
              <a:t>The Aspatial Version: Turnout vs Margin Scatterplot</a:t>
            </a:r>
            <a:endParaRPr b="0" lang="en-US" sz="2200" spc="-1" strike="noStrike">
              <a:latin typeface="Arial"/>
            </a:endParaRPr>
          </a:p>
        </p:txBody>
      </p:sp>
      <p:pic>
        <p:nvPicPr>
          <p:cNvPr id="238" name="Image 0" descr="/home/claude/chart_images/08_turnout_vs_margin.png"/>
          <p:cNvPicPr/>
          <p:nvPr/>
        </p:nvPicPr>
        <p:blipFill>
          <a:blip r:embed="rId1"/>
          <a:stretch/>
        </p:blipFill>
        <p:spPr>
          <a:xfrm>
            <a:off x="274320" y="640080"/>
            <a:ext cx="5943240" cy="3840120"/>
          </a:xfrm>
          <a:prstGeom prst="rect">
            <a:avLst/>
          </a:prstGeom>
          <a:ln w="0">
            <a:noFill/>
          </a:ln>
        </p:spPr>
      </p:pic>
      <p:sp>
        <p:nvSpPr>
          <p:cNvPr id="239" name="Shape 1"/>
          <p:cNvSpPr/>
          <p:nvPr/>
        </p:nvSpPr>
        <p:spPr>
          <a:xfrm>
            <a:off x="6400800" y="914400"/>
            <a:ext cx="2285640" cy="3200040"/>
          </a:xfrm>
          <a:prstGeom prst="rect">
            <a:avLst/>
          </a:prstGeom>
          <a:solidFill>
            <a:srgbClr val="f0f0f0"/>
          </a:solidFill>
          <a:ln w="0">
            <a:noFill/>
          </a:ln>
        </p:spPr>
        <p:style>
          <a:lnRef idx="0"/>
          <a:fillRef idx="0"/>
          <a:effectRef idx="0"/>
          <a:fontRef idx="minor"/>
        </p:style>
      </p:sp>
      <p:sp>
        <p:nvSpPr>
          <p:cNvPr id="240" name="Text 2"/>
          <p:cNvSpPr/>
          <p:nvPr/>
        </p:nvSpPr>
        <p:spPr>
          <a:xfrm>
            <a:off x="6537960" y="960120"/>
            <a:ext cx="201132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0d2b5c"/>
                </a:solidFill>
                <a:latin typeface="Georgia"/>
                <a:ea typeface="Georgia"/>
              </a:rPr>
              <a:t>What it shows</a:t>
            </a:r>
            <a:endParaRPr b="0" lang="en-US" sz="1200" spc="-1" strike="noStrike">
              <a:latin typeface="Arial"/>
            </a:endParaRPr>
          </a:p>
        </p:txBody>
      </p:sp>
      <p:sp>
        <p:nvSpPr>
          <p:cNvPr id="241" name="Text 3"/>
          <p:cNvSpPr/>
          <p:nvPr/>
        </p:nvSpPr>
        <p:spPr>
          <a:xfrm>
            <a:off x="6537960" y="1234440"/>
            <a:ext cx="2011320" cy="228564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50" spc="-1" strike="noStrike">
                <a:solidFill>
                  <a:srgbClr val="333333"/>
                </a:solidFill>
                <a:latin typeface="Calibri"/>
                <a:ea typeface="Calibri"/>
              </a:rPr>
              <a:t>r = 0.022</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No correlation.</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Both variables look</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identically "noisy."</a:t>
            </a:r>
            <a:endParaRPr b="0" lang="en-US" sz="1050" spc="-1" strike="noStrike">
              <a:latin typeface="Arial"/>
            </a:endParaRPr>
          </a:p>
          <a:p>
            <a:pPr>
              <a:lnSpc>
                <a:spcPct val="100000"/>
              </a:lnSpc>
              <a:buNone/>
              <a:tabLst>
                <a:tab algn="l" pos="0"/>
              </a:tabLst>
            </a:pP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Nothing distinguishes</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turnout from margin</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in this scatterplot.</a:t>
            </a:r>
            <a:endParaRPr b="0" lang="en-US" sz="1050" spc="-1" strike="noStrike">
              <a:latin typeface="Arial"/>
            </a:endParaRPr>
          </a:p>
          <a:p>
            <a:pPr>
              <a:lnSpc>
                <a:spcPct val="100000"/>
              </a:lnSpc>
              <a:buNone/>
              <a:tabLst>
                <a:tab algn="l" pos="0"/>
              </a:tabLst>
            </a:pP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But Moran's I says</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one clusters at 0.614</a:t>
            </a: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and the other at 0.277.</a:t>
            </a:r>
            <a:endParaRPr b="0" lang="en-US" sz="1050" spc="-1" strike="noStrike">
              <a:latin typeface="Arial"/>
            </a:endParaRPr>
          </a:p>
        </p:txBody>
      </p:sp>
      <p:sp>
        <p:nvSpPr>
          <p:cNvPr id="242" name="Text 4"/>
          <p:cNvSpPr/>
          <p:nvPr/>
        </p:nvSpPr>
        <p:spPr>
          <a:xfrm>
            <a:off x="6537960" y="3657600"/>
            <a:ext cx="2011320" cy="182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d7191c"/>
                </a:solidFill>
                <a:latin typeface="Georgia"/>
                <a:ea typeface="Georgia"/>
              </a:rPr>
              <a:t>Cannot answer:</a:t>
            </a:r>
            <a:endParaRPr b="0" lang="en-US" sz="1000" spc="-1" strike="noStrike">
              <a:latin typeface="Arial"/>
            </a:endParaRPr>
          </a:p>
        </p:txBody>
      </p:sp>
      <p:sp>
        <p:nvSpPr>
          <p:cNvPr id="243" name="Text 5"/>
          <p:cNvSpPr/>
          <p:nvPr/>
        </p:nvSpPr>
        <p:spPr>
          <a:xfrm>
            <a:off x="6537960" y="3886200"/>
            <a:ext cx="2011320" cy="6397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950" spc="-1" strike="noStrike">
                <a:solidFill>
                  <a:srgbClr val="d7191c"/>
                </a:solidFill>
                <a:latin typeface="Calibri"/>
                <a:ea typeface="Calibri"/>
              </a:rPr>
              <a:t>Does one CLUSTER</a:t>
            </a:r>
            <a:endParaRPr b="0" lang="en-US" sz="950" spc="-1" strike="noStrike">
              <a:latin typeface="Arial"/>
            </a:endParaRPr>
          </a:p>
          <a:p>
            <a:pPr>
              <a:lnSpc>
                <a:spcPct val="100000"/>
              </a:lnSpc>
              <a:buNone/>
              <a:tabLst>
                <a:tab algn="l" pos="0"/>
              </a:tabLst>
            </a:pPr>
            <a:r>
              <a:rPr b="0" i="1" lang="en-US" sz="950" spc="-1" strike="noStrike">
                <a:solidFill>
                  <a:srgbClr val="d7191c"/>
                </a:solidFill>
                <a:latin typeface="Calibri"/>
                <a:ea typeface="Calibri"/>
              </a:rPr>
              <a:t>geographically?</a:t>
            </a:r>
            <a:endParaRPr b="0" lang="en-US" sz="950" spc="-1" strike="noStrike">
              <a:latin typeface="Arial"/>
            </a:endParaRPr>
          </a:p>
          <a:p>
            <a:pPr>
              <a:lnSpc>
                <a:spcPct val="100000"/>
              </a:lnSpc>
              <a:buNone/>
              <a:tabLst>
                <a:tab algn="l" pos="0"/>
              </a:tabLst>
            </a:pPr>
            <a:endParaRPr b="0" lang="en-US" sz="950" spc="-1" strike="noStrike">
              <a:latin typeface="Arial"/>
            </a:endParaRPr>
          </a:p>
          <a:p>
            <a:pPr>
              <a:lnSpc>
                <a:spcPct val="100000"/>
              </a:lnSpc>
              <a:buNone/>
              <a:tabLst>
                <a:tab algn="l" pos="0"/>
              </a:tabLst>
            </a:pPr>
            <a:r>
              <a:rPr b="0" i="1" lang="en-US" sz="950" spc="-1" strike="noStrike">
                <a:solidFill>
                  <a:srgbClr val="d7191c"/>
                </a:solidFill>
                <a:latin typeface="Calibri"/>
                <a:ea typeface="Calibri"/>
              </a:rPr>
              <a:t>This limitation applies to</a:t>
            </a:r>
            <a:endParaRPr b="0" lang="en-US" sz="950" spc="-1" strike="noStrike">
              <a:latin typeface="Arial"/>
            </a:endParaRPr>
          </a:p>
          <a:p>
            <a:pPr>
              <a:lnSpc>
                <a:spcPct val="100000"/>
              </a:lnSpc>
              <a:buNone/>
              <a:tabLst>
                <a:tab algn="l" pos="0"/>
              </a:tabLst>
            </a:pPr>
            <a:r>
              <a:rPr b="0" i="1" lang="en-US" sz="950" spc="-1" strike="noStrike">
                <a:solidFill>
                  <a:srgbClr val="d7191c"/>
                </a:solidFill>
                <a:latin typeface="Calibri"/>
                <a:ea typeface="Calibri"/>
              </a:rPr>
              <a:t>ANY X-Y scatterplot of</a:t>
            </a:r>
            <a:endParaRPr b="0" lang="en-US" sz="950" spc="-1" strike="noStrike">
              <a:latin typeface="Arial"/>
            </a:endParaRPr>
          </a:p>
          <a:p>
            <a:pPr>
              <a:lnSpc>
                <a:spcPct val="100000"/>
              </a:lnSpc>
              <a:buNone/>
              <a:tabLst>
                <a:tab algn="l" pos="0"/>
              </a:tabLst>
            </a:pPr>
            <a:r>
              <a:rPr b="0" i="1" lang="en-US" sz="950" spc="-1" strike="noStrike">
                <a:solidFill>
                  <a:srgbClr val="d7191c"/>
                </a:solidFill>
                <a:latin typeface="Calibri"/>
                <a:ea typeface="Calibri"/>
              </a:rPr>
              <a:t>spatially-indexed variables.</a:t>
            </a:r>
            <a:endParaRPr b="0" lang="en-US" sz="95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4" name="Text 0"/>
          <p:cNvSpPr/>
          <p:nvPr/>
        </p:nvSpPr>
        <p:spPr>
          <a:xfrm>
            <a:off x="457200" y="137160"/>
            <a:ext cx="8229240" cy="4111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200" spc="-1" strike="noStrike">
                <a:solidFill>
                  <a:srgbClr val="0d2b5c"/>
                </a:solidFill>
                <a:latin typeface="Georgia"/>
                <a:ea typeface="Georgia"/>
              </a:rPr>
              <a:t>The Spatialized Version: Moran Scatterplot</a:t>
            </a:r>
            <a:endParaRPr b="0" lang="en-US" sz="2200" spc="-1" strike="noStrike">
              <a:latin typeface="Arial"/>
            </a:endParaRPr>
          </a:p>
        </p:txBody>
      </p:sp>
      <p:sp>
        <p:nvSpPr>
          <p:cNvPr id="245" name="Text 1"/>
          <p:cNvSpPr/>
          <p:nvPr/>
        </p:nvSpPr>
        <p:spPr>
          <a:xfrm>
            <a:off x="457200" y="530280"/>
            <a:ext cx="8229240" cy="182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00" spc="-1" strike="noStrike">
                <a:solidFill>
                  <a:srgbClr val="777777"/>
                </a:solidFill>
                <a:latin typeface="Calibri"/>
                <a:ea typeface="Calibri"/>
              </a:rPr>
              <a:t>Chart 39  |  X = own value, Y = neighbors' mean  |  Slope = Moran's I  |  Four quadrants: HH, LL, HL, LH</a:t>
            </a:r>
            <a:endParaRPr b="0" lang="en-US" sz="900" spc="-1" strike="noStrike">
              <a:latin typeface="Arial"/>
            </a:endParaRPr>
          </a:p>
        </p:txBody>
      </p:sp>
      <p:pic>
        <p:nvPicPr>
          <p:cNvPr id="246" name="Image 0" descr="/home/claude/screenshots/39.png"/>
          <p:cNvPicPr/>
          <p:nvPr/>
        </p:nvPicPr>
        <p:blipFill>
          <a:blip r:embed="rId1"/>
          <a:stretch/>
        </p:blipFill>
        <p:spPr>
          <a:xfrm>
            <a:off x="914400" y="944640"/>
            <a:ext cx="7314840" cy="2941560"/>
          </a:xfrm>
          <a:prstGeom prst="rect">
            <a:avLst/>
          </a:prstGeom>
          <a:ln w="0">
            <a:noFill/>
          </a:ln>
        </p:spPr>
      </p:pic>
      <p:sp>
        <p:nvSpPr>
          <p:cNvPr id="247" name="Shape 2"/>
          <p:cNvSpPr/>
          <p:nvPr/>
        </p:nvSpPr>
        <p:spPr>
          <a:xfrm>
            <a:off x="274320" y="4160520"/>
            <a:ext cx="8412120" cy="868320"/>
          </a:xfrm>
          <a:prstGeom prst="rect">
            <a:avLst/>
          </a:prstGeom>
          <a:solidFill>
            <a:srgbClr val="f0f0f0"/>
          </a:solidFill>
          <a:ln w="0">
            <a:noFill/>
          </a:ln>
        </p:spPr>
        <p:style>
          <a:lnRef idx="0"/>
          <a:fillRef idx="0"/>
          <a:effectRef idx="0"/>
          <a:fontRef idx="minor"/>
        </p:style>
      </p:sp>
      <p:sp>
        <p:nvSpPr>
          <p:cNvPr id="248" name="Text 3"/>
          <p:cNvSpPr/>
          <p:nvPr/>
        </p:nvSpPr>
        <p:spPr>
          <a:xfrm>
            <a:off x="457200" y="4178880"/>
            <a:ext cx="804636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00" spc="-1" strike="noStrike">
                <a:solidFill>
                  <a:srgbClr val="333333"/>
                </a:solidFill>
                <a:latin typeface="Calibri"/>
                <a:ea typeface="Calibri"/>
              </a:rPr>
              <a:t>Specific: "Is Bangalore's low turnout anomalous for India or for Karnataka?" Answer: LH quadrant. Low in a high neighborhood. Spatial outlier.</a:t>
            </a:r>
            <a:endParaRPr b="0" lang="en-US" sz="900" spc="-1" strike="noStrike">
              <a:latin typeface="Arial"/>
            </a:endParaRPr>
          </a:p>
        </p:txBody>
      </p:sp>
      <p:sp>
        <p:nvSpPr>
          <p:cNvPr id="249" name="Text 4"/>
          <p:cNvSpPr/>
          <p:nvPr/>
        </p:nvSpPr>
        <p:spPr>
          <a:xfrm>
            <a:off x="457200" y="4407480"/>
            <a:ext cx="804636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00" spc="-1" strike="noStrike">
                <a:solidFill>
                  <a:srgbClr val="00857c"/>
                </a:solidFill>
                <a:latin typeface="Calibri"/>
                <a:ea typeface="Calibri"/>
              </a:rPr>
              <a:t>Generalizable: "Is observation X anomalous relative to the global distribution, or relative to its geographic neighborhood?"</a:t>
            </a:r>
            <a:endParaRPr b="0" lang="en-US" sz="900" spc="-1" strike="noStrike">
              <a:latin typeface="Arial"/>
            </a:endParaRPr>
          </a:p>
        </p:txBody>
      </p:sp>
      <p:sp>
        <p:nvSpPr>
          <p:cNvPr id="250" name="Text 5"/>
          <p:cNvSpPr/>
          <p:nvPr/>
        </p:nvSpPr>
        <p:spPr>
          <a:xfrm>
            <a:off x="457200" y="4636080"/>
            <a:ext cx="8046360" cy="3196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850" spc="-1" strike="noStrike">
                <a:solidFill>
                  <a:srgbClr val="777777"/>
                </a:solidFill>
                <a:latin typeface="Calibri"/>
                <a:ea typeface="Calibri"/>
              </a:rPr>
              <a:t>Examples: Hospital with high wait times in a low-wait region (local management vs systemic?), school with low scores surrounded by high-scoring schools (staffing or demographics?), pollution sensor reading high while neighbors read low (real event or sensor malfunction?)</a:t>
            </a:r>
            <a:endParaRPr b="0" lang="en-US" sz="85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1" name="Text 0"/>
          <p:cNvSpPr/>
          <p:nvPr/>
        </p:nvSpPr>
        <p:spPr>
          <a:xfrm>
            <a:off x="731520" y="365760"/>
            <a:ext cx="768060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600" spc="-1" strike="noStrike">
                <a:solidFill>
                  <a:srgbClr val="0d2b5c"/>
                </a:solidFill>
                <a:latin typeface="Georgia"/>
                <a:ea typeface="Georgia"/>
              </a:rPr>
              <a:t>What the Spatialized Scatterplot Reveals</a:t>
            </a:r>
            <a:endParaRPr b="0" lang="en-US" sz="2600" spc="-1" strike="noStrike">
              <a:latin typeface="Arial"/>
            </a:endParaRPr>
          </a:p>
        </p:txBody>
      </p:sp>
      <p:sp>
        <p:nvSpPr>
          <p:cNvPr id="252" name="Shape 1"/>
          <p:cNvSpPr/>
          <p:nvPr/>
        </p:nvSpPr>
        <p:spPr>
          <a:xfrm>
            <a:off x="731520" y="1005840"/>
            <a:ext cx="7680600" cy="1462680"/>
          </a:xfrm>
          <a:prstGeom prst="rect">
            <a:avLst/>
          </a:prstGeom>
          <a:solidFill>
            <a:srgbClr val="fff8ee"/>
          </a:solidFill>
          <a:ln w="0">
            <a:noFill/>
          </a:ln>
        </p:spPr>
        <p:style>
          <a:lnRef idx="0"/>
          <a:fillRef idx="0"/>
          <a:effectRef idx="0"/>
          <a:fontRef idx="minor"/>
        </p:style>
      </p:sp>
      <p:sp>
        <p:nvSpPr>
          <p:cNvPr id="253" name="Text 2"/>
          <p:cNvSpPr/>
          <p:nvPr/>
        </p:nvSpPr>
        <p:spPr>
          <a:xfrm>
            <a:off x="914400" y="1051560"/>
            <a:ext cx="73148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400" spc="-1" strike="noStrike">
                <a:solidFill>
                  <a:srgbClr val="c8960c"/>
                </a:solidFill>
                <a:latin typeface="Georgia"/>
                <a:ea typeface="Georgia"/>
              </a:rPr>
              <a:t>SPATIAL OUTLIER (Query Class 3): The Bangalore Case</a:t>
            </a:r>
            <a:endParaRPr b="0" lang="en-US" sz="1400" spc="-1" strike="noStrike">
              <a:latin typeface="Arial"/>
            </a:endParaRPr>
          </a:p>
        </p:txBody>
      </p:sp>
      <p:sp>
        <p:nvSpPr>
          <p:cNvPr id="254" name="Text 3"/>
          <p:cNvSpPr/>
          <p:nvPr/>
        </p:nvSpPr>
        <p:spPr>
          <a:xfrm>
            <a:off x="914400" y="1371600"/>
            <a:ext cx="7314840" cy="100548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50" spc="-1" strike="noStrike">
                <a:solidFill>
                  <a:srgbClr val="333333"/>
                </a:solidFill>
                <a:latin typeface="Calibri"/>
                <a:ea typeface="Calibri"/>
              </a:rPr>
              <a:t>Bangalore turnout: 54%. Karnataka average: 70%+.</a:t>
            </a:r>
            <a:endParaRPr b="0" lang="en-US" sz="1050" spc="-1" strike="noStrike">
              <a:latin typeface="Arial"/>
            </a:endParaRPr>
          </a:p>
          <a:p>
            <a:pPr>
              <a:lnSpc>
                <a:spcPct val="100000"/>
              </a:lnSpc>
              <a:buNone/>
              <a:tabLst>
                <a:tab algn="l" pos="0"/>
              </a:tabLst>
            </a:pP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Aspatial scatterplot: "1.2 std below the national mean." Distributional outlier. Deviates from GLOBAL mean. Explanation: India's mean is 65.8%, Bangalore is below it. Generic.</a:t>
            </a:r>
            <a:endParaRPr b="0" lang="en-US" sz="1050" spc="-1" strike="noStrike">
              <a:latin typeface="Arial"/>
            </a:endParaRPr>
          </a:p>
          <a:p>
            <a:pPr>
              <a:lnSpc>
                <a:spcPct val="100000"/>
              </a:lnSpc>
              <a:buNone/>
              <a:tabLst>
                <a:tab algn="l" pos="0"/>
              </a:tabLst>
            </a:pP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Moran scatterplot: "Low value in a high-value neighborhood" (LH quadrant). Spatial outlier. Deviates from NEIGHBORS. Explanation: urbanization effects specific to Bangalore. Specific and actionable.</a:t>
            </a:r>
            <a:endParaRPr b="0" lang="en-US" sz="1050" spc="-1" strike="noStrike">
              <a:latin typeface="Arial"/>
            </a:endParaRPr>
          </a:p>
          <a:p>
            <a:pPr>
              <a:lnSpc>
                <a:spcPct val="100000"/>
              </a:lnSpc>
              <a:buNone/>
              <a:tabLst>
                <a:tab algn="l" pos="0"/>
              </a:tabLst>
            </a:pPr>
            <a:endParaRPr b="0" lang="en-US" sz="1050" spc="-1" strike="noStrike">
              <a:latin typeface="Arial"/>
            </a:endParaRPr>
          </a:p>
          <a:p>
            <a:pPr>
              <a:lnSpc>
                <a:spcPct val="100000"/>
              </a:lnSpc>
              <a:buNone/>
              <a:tabLst>
                <a:tab algn="l" pos="0"/>
              </a:tabLst>
            </a:pPr>
            <a:r>
              <a:rPr b="0" lang="en-US" sz="1050" spc="-1" strike="noStrike">
                <a:solidFill>
                  <a:srgbClr val="333333"/>
                </a:solidFill>
                <a:latin typeface="Calibri"/>
                <a:ea typeface="Calibri"/>
              </a:rPr>
              <a:t>These are fundamentally different concepts. The spatial outlier requires a neighborhood definition. It does not exist in aspatial statistics.</a:t>
            </a:r>
            <a:endParaRPr b="0" lang="en-US" sz="1050" spc="-1" strike="noStrike">
              <a:latin typeface="Arial"/>
            </a:endParaRPr>
          </a:p>
        </p:txBody>
      </p:sp>
      <p:sp>
        <p:nvSpPr>
          <p:cNvPr id="255" name="Shape 4"/>
          <p:cNvSpPr/>
          <p:nvPr/>
        </p:nvSpPr>
        <p:spPr>
          <a:xfrm>
            <a:off x="731520" y="2651760"/>
            <a:ext cx="7680600" cy="1096920"/>
          </a:xfrm>
          <a:prstGeom prst="rect">
            <a:avLst/>
          </a:prstGeom>
          <a:solidFill>
            <a:srgbClr val="ebf5f4"/>
          </a:solidFill>
          <a:ln w="0">
            <a:noFill/>
          </a:ln>
        </p:spPr>
        <p:style>
          <a:lnRef idx="0"/>
          <a:fillRef idx="0"/>
          <a:effectRef idx="0"/>
          <a:fontRef idx="minor"/>
        </p:style>
      </p:sp>
      <p:sp>
        <p:nvSpPr>
          <p:cNvPr id="256" name="Text 5"/>
          <p:cNvSpPr/>
          <p:nvPr/>
        </p:nvSpPr>
        <p:spPr>
          <a:xfrm>
            <a:off x="914400" y="2697480"/>
            <a:ext cx="73148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400" spc="-1" strike="noStrike">
                <a:solidFill>
                  <a:srgbClr val="00857c"/>
                </a:solidFill>
                <a:latin typeface="Georgia"/>
                <a:ea typeface="Georgia"/>
              </a:rPr>
              <a:t>THE 2.2x ASYMMETRY (Query Class 4): Invisible Without Spatialization</a:t>
            </a:r>
            <a:endParaRPr b="0" lang="en-US" sz="1400" spc="-1" strike="noStrike">
              <a:latin typeface="Arial"/>
            </a:endParaRPr>
          </a:p>
        </p:txBody>
      </p:sp>
      <p:sp>
        <p:nvSpPr>
          <p:cNvPr id="257" name="Text 6"/>
          <p:cNvSpPr/>
          <p:nvPr/>
        </p:nvSpPr>
        <p:spPr>
          <a:xfrm>
            <a:off x="914400" y="3017520"/>
            <a:ext cx="73148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100" spc="-1" strike="noStrike">
                <a:solidFill>
                  <a:srgbClr val="333333"/>
                </a:solidFill>
                <a:latin typeface="Calibri"/>
                <a:ea typeface="Calibri"/>
              </a:rPr>
              <a:t>Turnout I = 0.614. Margin I = 0.277. Turnout is 2.2x more spatially structured than competition. Both variables look identically "noisy" in a standard scatterplot (r = 0.022). Only the Moran scatterplot reveals that one has strong geographic structure and the other does not. This asymmetry is the central analytical finding.</a:t>
            </a:r>
            <a:endParaRPr b="0" lang="en-US" sz="1100" spc="-1" strike="noStrike">
              <a:latin typeface="Arial"/>
            </a:endParaRPr>
          </a:p>
        </p:txBody>
      </p:sp>
      <p:sp>
        <p:nvSpPr>
          <p:cNvPr id="258" name="Shape 7"/>
          <p:cNvSpPr/>
          <p:nvPr/>
        </p:nvSpPr>
        <p:spPr>
          <a:xfrm>
            <a:off x="731520" y="3931920"/>
            <a:ext cx="7680600" cy="731160"/>
          </a:xfrm>
          <a:prstGeom prst="rect">
            <a:avLst/>
          </a:prstGeom>
          <a:solidFill>
            <a:srgbClr val="f0f0f0"/>
          </a:solidFill>
          <a:ln w="0">
            <a:noFill/>
          </a:ln>
        </p:spPr>
        <p:style>
          <a:lnRef idx="0"/>
          <a:fillRef idx="0"/>
          <a:effectRef idx="0"/>
          <a:fontRef idx="minor"/>
        </p:style>
      </p:sp>
      <p:sp>
        <p:nvSpPr>
          <p:cNvPr id="259" name="Text 8"/>
          <p:cNvSpPr/>
          <p:nvPr/>
        </p:nvSpPr>
        <p:spPr>
          <a:xfrm>
            <a:off x="914400" y="3977640"/>
            <a:ext cx="137124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 strike="noStrike">
                <a:solidFill>
                  <a:srgbClr val="0d2b5c"/>
                </a:solidFill>
                <a:latin typeface="Georgia"/>
                <a:ea typeface="Georgia"/>
              </a:rPr>
              <a:t>Generalizable:</a:t>
            </a:r>
            <a:endParaRPr b="0" lang="en-US" sz="1100" spc="-1" strike="noStrike">
              <a:latin typeface="Arial"/>
            </a:endParaRPr>
          </a:p>
        </p:txBody>
      </p:sp>
      <p:sp>
        <p:nvSpPr>
          <p:cNvPr id="260" name="Text 9"/>
          <p:cNvSpPr/>
          <p:nvPr/>
        </p:nvSpPr>
        <p:spPr>
          <a:xfrm>
            <a:off x="2286000" y="3977640"/>
            <a:ext cx="5943240" cy="6397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 strike="noStrike">
                <a:solidFill>
                  <a:srgbClr val="777777"/>
                </a:solidFill>
                <a:latin typeface="Calibri"/>
                <a:ea typeface="Calibri"/>
              </a:rPr>
              <a:t>"Is this hospital's wait time anomalous for the country, or for its neighborhood?" "Is this school's test score a distributional outlier or a spatial outlier?" The Moran scatterplot transforms any X-Y scatterplot into a spatial diagnostic that answers questions the original cannot.</a:t>
            </a:r>
            <a:endParaRPr b="0" lang="en-US" sz="105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1" name="Text 0"/>
          <p:cNvSpPr/>
          <p:nvPr/>
        </p:nvSpPr>
        <p:spPr>
          <a:xfrm>
            <a:off x="457200" y="137160"/>
            <a:ext cx="8229240" cy="4111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000" spc="-1" strike="noStrike">
                <a:solidFill>
                  <a:srgbClr val="0d2b5c"/>
                </a:solidFill>
                <a:latin typeface="Georgia"/>
                <a:ea typeface="Georgia"/>
              </a:rPr>
              <a:t>Application: Three Gradients, One Geographic Axis</a:t>
            </a:r>
            <a:endParaRPr b="0" lang="en-US" sz="2000" spc="-1" strike="noStrike">
              <a:latin typeface="Arial"/>
            </a:endParaRPr>
          </a:p>
        </p:txBody>
      </p:sp>
      <p:sp>
        <p:nvSpPr>
          <p:cNvPr id="262" name="Text 1"/>
          <p:cNvSpPr/>
          <p:nvPr/>
        </p:nvSpPr>
        <p:spPr>
          <a:xfrm>
            <a:off x="457200" y="530280"/>
            <a:ext cx="8229240" cy="182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00" spc="-1" strike="noStrike">
                <a:solidFill>
                  <a:srgbClr val="777777"/>
                </a:solidFill>
                <a:latin typeface="Calibri"/>
                <a:ea typeface="Calibri"/>
              </a:rPr>
              <a:t>Chart 77  |  Fiscal Spine  |  Same spatial weights reveal co-location of turnout, delimitation, and fiscal disadvantage</a:t>
            </a:r>
            <a:endParaRPr b="0" lang="en-US" sz="900" spc="-1" strike="noStrike">
              <a:latin typeface="Arial"/>
            </a:endParaRPr>
          </a:p>
        </p:txBody>
      </p:sp>
      <p:pic>
        <p:nvPicPr>
          <p:cNvPr id="263" name="Image 0" descr="/home/claude/screenshots/77.png"/>
          <p:cNvPicPr/>
          <p:nvPr/>
        </p:nvPicPr>
        <p:blipFill>
          <a:blip r:embed="rId1"/>
          <a:stretch/>
        </p:blipFill>
        <p:spPr>
          <a:xfrm>
            <a:off x="1828800" y="855000"/>
            <a:ext cx="5943600" cy="3259800"/>
          </a:xfrm>
          <a:prstGeom prst="rect">
            <a:avLst/>
          </a:prstGeom>
          <a:ln w="0">
            <a:noFill/>
          </a:ln>
        </p:spPr>
      </p:pic>
      <p:sp>
        <p:nvSpPr>
          <p:cNvPr id="264" name="Shape 2"/>
          <p:cNvSpPr/>
          <p:nvPr/>
        </p:nvSpPr>
        <p:spPr>
          <a:xfrm>
            <a:off x="274320" y="4160520"/>
            <a:ext cx="8412120" cy="868320"/>
          </a:xfrm>
          <a:prstGeom prst="rect">
            <a:avLst/>
          </a:prstGeom>
          <a:solidFill>
            <a:srgbClr val="f0f0f0"/>
          </a:solidFill>
          <a:ln w="0">
            <a:noFill/>
          </a:ln>
        </p:spPr>
        <p:style>
          <a:lnRef idx="0"/>
          <a:fillRef idx="0"/>
          <a:effectRef idx="0"/>
          <a:fontRef idx="minor"/>
        </p:style>
      </p:sp>
      <p:sp>
        <p:nvSpPr>
          <p:cNvPr id="265" name="Text 3"/>
          <p:cNvSpPr/>
          <p:nvPr/>
        </p:nvSpPr>
        <p:spPr>
          <a:xfrm>
            <a:off x="457200" y="4178880"/>
            <a:ext cx="804636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00" spc="-1" strike="noStrike">
                <a:solidFill>
                  <a:srgbClr val="333333"/>
                </a:solidFill>
                <a:latin typeface="Calibri"/>
                <a:ea typeface="Calibri"/>
              </a:rPr>
              <a:t>Specific: "Do turnout, delimitation, and fiscal disadvantage share the same geographic axis?" Answer: Yes. All three gradient south-to-north.</a:t>
            </a:r>
            <a:endParaRPr b="0" lang="en-US" sz="900" spc="-1" strike="noStrike">
              <a:latin typeface="Arial"/>
            </a:endParaRPr>
          </a:p>
        </p:txBody>
      </p:sp>
      <p:sp>
        <p:nvSpPr>
          <p:cNvPr id="266" name="Text 4"/>
          <p:cNvSpPr/>
          <p:nvPr/>
        </p:nvSpPr>
        <p:spPr>
          <a:xfrm>
            <a:off x="457200" y="4407480"/>
            <a:ext cx="804636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00" spc="-1" strike="noStrike">
                <a:solidFill>
                  <a:srgbClr val="00857c"/>
                </a:solidFill>
                <a:latin typeface="Calibri"/>
                <a:ea typeface="Calibri"/>
              </a:rPr>
              <a:t>Generalizable: "Do multiple disadvantages co-locate in the same geography? Is the overlap visible only with spatial embedding?"</a:t>
            </a:r>
            <a:endParaRPr b="0" lang="en-US" sz="900" spc="-1" strike="noStrike">
              <a:latin typeface="Arial"/>
            </a:endParaRPr>
          </a:p>
        </p:txBody>
      </p:sp>
      <p:sp>
        <p:nvSpPr>
          <p:cNvPr id="267" name="Text 5"/>
          <p:cNvSpPr/>
          <p:nvPr/>
        </p:nvSpPr>
        <p:spPr>
          <a:xfrm>
            <a:off x="457200" y="4636080"/>
            <a:ext cx="8046360" cy="3196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850" spc="-1" strike="noStrike">
                <a:solidFill>
                  <a:srgbClr val="777777"/>
                </a:solidFill>
                <a:latin typeface="Calibri"/>
                <a:ea typeface="Calibri"/>
              </a:rPr>
              <a:t>Examples: Poverty + poor health + low education in the same districts (triple deprivation mapping), infrastructure deficits + low investment + brain drain in the same regions, flood risk + low insurance + poor drainage in the same urban zones</a:t>
            </a:r>
            <a:endParaRPr b="0" lang="en-US" sz="85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8" name="Text 0"/>
          <p:cNvSpPr/>
          <p:nvPr/>
        </p:nvSpPr>
        <p:spPr>
          <a:xfrm>
            <a:off x="457200" y="137160"/>
            <a:ext cx="8229240" cy="4111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200" spc="-1" strike="noStrike">
                <a:solidFill>
                  <a:srgbClr val="0d2b5c"/>
                </a:solidFill>
                <a:latin typeface="Georgia"/>
                <a:ea typeface="Georgia"/>
              </a:rPr>
              <a:t>Application: Delimitation Simulator</a:t>
            </a:r>
            <a:endParaRPr b="0" lang="en-US" sz="2200" spc="-1" strike="noStrike">
              <a:latin typeface="Arial"/>
            </a:endParaRPr>
          </a:p>
        </p:txBody>
      </p:sp>
      <p:sp>
        <p:nvSpPr>
          <p:cNvPr id="269" name="Text 1"/>
          <p:cNvSpPr/>
          <p:nvPr/>
        </p:nvSpPr>
        <p:spPr>
          <a:xfrm>
            <a:off x="457200" y="530280"/>
            <a:ext cx="8229240" cy="182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00" spc="-1" strike="noStrike">
                <a:solidFill>
                  <a:srgbClr val="777777"/>
                </a:solidFill>
                <a:latin typeface="Calibri"/>
                <a:ea typeface="Calibri"/>
              </a:rPr>
              <a:t>Chart 71  |  Slider: 543 to 1,000 seats  |  Webster/Sainte-Lague  |  Constituency count code provided by advisor</a:t>
            </a:r>
            <a:endParaRPr b="0" lang="en-US" sz="900" spc="-1" strike="noStrike">
              <a:latin typeface="Arial"/>
            </a:endParaRPr>
          </a:p>
        </p:txBody>
      </p:sp>
      <p:pic>
        <p:nvPicPr>
          <p:cNvPr id="270" name="Image 0" descr="/home/claude/screenshots/71.png"/>
          <p:cNvPicPr/>
          <p:nvPr/>
        </p:nvPicPr>
        <p:blipFill>
          <a:blip r:embed="rId1"/>
          <a:stretch/>
        </p:blipFill>
        <p:spPr>
          <a:xfrm>
            <a:off x="1371960" y="777240"/>
            <a:ext cx="5943240" cy="3382920"/>
          </a:xfrm>
          <a:prstGeom prst="rect">
            <a:avLst/>
          </a:prstGeom>
          <a:ln w="0">
            <a:noFill/>
          </a:ln>
        </p:spPr>
      </p:pic>
      <p:sp>
        <p:nvSpPr>
          <p:cNvPr id="271" name="Shape 2"/>
          <p:cNvSpPr/>
          <p:nvPr/>
        </p:nvSpPr>
        <p:spPr>
          <a:xfrm>
            <a:off x="274320" y="4160520"/>
            <a:ext cx="8412120" cy="868320"/>
          </a:xfrm>
          <a:prstGeom prst="rect">
            <a:avLst/>
          </a:prstGeom>
          <a:solidFill>
            <a:srgbClr val="f0f0f0"/>
          </a:solidFill>
          <a:ln w="0">
            <a:noFill/>
          </a:ln>
        </p:spPr>
        <p:style>
          <a:lnRef idx="0"/>
          <a:fillRef idx="0"/>
          <a:effectRef idx="0"/>
          <a:fontRef idx="minor"/>
        </p:style>
      </p:sp>
      <p:sp>
        <p:nvSpPr>
          <p:cNvPr id="272" name="Text 3"/>
          <p:cNvSpPr/>
          <p:nvPr/>
        </p:nvSpPr>
        <p:spPr>
          <a:xfrm>
            <a:off x="457200" y="4178880"/>
            <a:ext cx="804636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00" spc="-1" strike="noStrike">
                <a:solidFill>
                  <a:srgbClr val="333333"/>
                </a:solidFill>
                <a:latin typeface="Calibri"/>
                <a:ea typeface="Calibri"/>
              </a:rPr>
              <a:t>Specific: "Which house size reduces the geographic clustering of underrepresentation?" Answer: At 850, Moran's I drops from 0.52 to 0.31.</a:t>
            </a:r>
            <a:endParaRPr b="0" lang="en-US" sz="900" spc="-1" strike="noStrike">
              <a:latin typeface="Arial"/>
            </a:endParaRPr>
          </a:p>
        </p:txBody>
      </p:sp>
      <p:sp>
        <p:nvSpPr>
          <p:cNvPr id="273" name="Text 4"/>
          <p:cNvSpPr/>
          <p:nvPr/>
        </p:nvSpPr>
        <p:spPr>
          <a:xfrm>
            <a:off x="457200" y="4407480"/>
            <a:ext cx="804636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00" spc="-1" strike="noStrike">
                <a:solidFill>
                  <a:srgbClr val="00857c"/>
                </a:solidFill>
                <a:latin typeface="Calibri"/>
                <a:ea typeface="Calibri"/>
              </a:rPr>
              <a:t>Generalizable: "Which parameter setting minimizes the spatial autocorrelation of the resulting inequality distribution?"</a:t>
            </a:r>
            <a:endParaRPr b="0" lang="en-US" sz="900" spc="-1" strike="noStrike">
              <a:latin typeface="Arial"/>
            </a:endParaRPr>
          </a:p>
        </p:txBody>
      </p:sp>
      <p:sp>
        <p:nvSpPr>
          <p:cNvPr id="274" name="Text 5"/>
          <p:cNvSpPr/>
          <p:nvPr/>
        </p:nvSpPr>
        <p:spPr>
          <a:xfrm>
            <a:off x="457200" y="4636080"/>
            <a:ext cx="8046360" cy="3196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850" spc="-1" strike="noStrike">
                <a:solidFill>
                  <a:srgbClr val="777777"/>
                </a:solidFill>
                <a:latin typeface="Calibri"/>
                <a:ea typeface="Calibri"/>
              </a:rPr>
              <a:t>Examples: Which school zoning plan minimizes geographic clustering of low test scores? Which hospital resource allocation reduces spatial concentration of long wait times? Which tax policy reduces geographic clustering of fiscal dependency?</a:t>
            </a:r>
            <a:endParaRPr b="0" lang="en-US" sz="850" spc="-1" strike="noStrike">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5" name="Text 0"/>
          <p:cNvSpPr/>
          <p:nvPr/>
        </p:nvSpPr>
        <p:spPr>
          <a:xfrm>
            <a:off x="457200" y="137160"/>
            <a:ext cx="8229240" cy="4111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200" spc="-1" strike="noStrike">
                <a:solidFill>
                  <a:srgbClr val="0d2b5c"/>
                </a:solidFill>
                <a:latin typeface="Georgia"/>
                <a:ea typeface="Georgia"/>
              </a:rPr>
              <a:t>Application: Women's Reservation Simulator</a:t>
            </a:r>
            <a:endParaRPr b="0" lang="en-US" sz="2200" spc="-1" strike="noStrike">
              <a:latin typeface="Arial"/>
            </a:endParaRPr>
          </a:p>
        </p:txBody>
      </p:sp>
      <p:sp>
        <p:nvSpPr>
          <p:cNvPr id="276" name="Text 1"/>
          <p:cNvSpPr/>
          <p:nvPr/>
        </p:nvSpPr>
        <p:spPr>
          <a:xfrm>
            <a:off x="457200" y="530280"/>
            <a:ext cx="8229240" cy="182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00" spc="-1" strike="noStrike">
                <a:solidFill>
                  <a:srgbClr val="777777"/>
                </a:solidFill>
                <a:latin typeface="Calibri"/>
                <a:ea typeface="Calibri"/>
              </a:rPr>
              <a:t>Chart 73  |  Slider: 0% to 100%  |  At 33%: ~180 seats  |  Current: 47  |  Reservation % code provided by advisor</a:t>
            </a:r>
            <a:endParaRPr b="0" lang="en-US" sz="900" spc="-1" strike="noStrike">
              <a:latin typeface="Arial"/>
            </a:endParaRPr>
          </a:p>
        </p:txBody>
      </p:sp>
      <p:pic>
        <p:nvPicPr>
          <p:cNvPr id="277" name="Image 0" descr="/home/claude/screenshots/73.png"/>
          <p:cNvPicPr/>
          <p:nvPr/>
        </p:nvPicPr>
        <p:blipFill>
          <a:blip r:embed="rId1"/>
          <a:stretch/>
        </p:blipFill>
        <p:spPr>
          <a:xfrm>
            <a:off x="1371600" y="777600"/>
            <a:ext cx="6400800" cy="3382920"/>
          </a:xfrm>
          <a:prstGeom prst="rect">
            <a:avLst/>
          </a:prstGeom>
          <a:ln w="0">
            <a:noFill/>
          </a:ln>
        </p:spPr>
      </p:pic>
      <p:sp>
        <p:nvSpPr>
          <p:cNvPr id="278" name="Shape 2"/>
          <p:cNvSpPr/>
          <p:nvPr/>
        </p:nvSpPr>
        <p:spPr>
          <a:xfrm>
            <a:off x="274320" y="4160520"/>
            <a:ext cx="8412120" cy="868320"/>
          </a:xfrm>
          <a:prstGeom prst="rect">
            <a:avLst/>
          </a:prstGeom>
          <a:solidFill>
            <a:srgbClr val="fdf0f4"/>
          </a:solidFill>
          <a:ln w="0">
            <a:noFill/>
          </a:ln>
        </p:spPr>
        <p:style>
          <a:lnRef idx="0"/>
          <a:fillRef idx="0"/>
          <a:effectRef idx="0"/>
          <a:fontRef idx="minor"/>
        </p:style>
      </p:sp>
      <p:sp>
        <p:nvSpPr>
          <p:cNvPr id="279" name="Text 3"/>
          <p:cNvSpPr/>
          <p:nvPr/>
        </p:nvSpPr>
        <p:spPr>
          <a:xfrm>
            <a:off x="457200" y="4178880"/>
            <a:ext cx="804636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00" spc="-1" strike="noStrike">
                <a:solidFill>
                  <a:srgbClr val="333333"/>
                </a:solidFill>
                <a:latin typeface="Calibri"/>
                <a:ea typeface="Calibri"/>
              </a:rPr>
              <a:t>Specific: "Does increasing reservation change the geographic pattern of exclusion?" Answer: No. I remains ~0.113 at any level. Spatially random.</a:t>
            </a:r>
            <a:endParaRPr b="0" lang="en-US" sz="900" spc="-1" strike="noStrike">
              <a:latin typeface="Arial"/>
            </a:endParaRPr>
          </a:p>
        </p:txBody>
      </p:sp>
      <p:sp>
        <p:nvSpPr>
          <p:cNvPr id="280" name="Text 4"/>
          <p:cNvSpPr/>
          <p:nvPr/>
        </p:nvSpPr>
        <p:spPr>
          <a:xfrm>
            <a:off x="457200" y="4407480"/>
            <a:ext cx="804636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00" spc="-1" strike="noStrike">
                <a:solidFill>
                  <a:srgbClr val="b7234c"/>
                </a:solidFill>
                <a:latin typeface="Calibri"/>
                <a:ea typeface="Calibri"/>
              </a:rPr>
              <a:t>Generalizable: "Does a policy intervention change the spatial structure of variable X, or does the geographic pattern persist regardless?"</a:t>
            </a:r>
            <a:endParaRPr b="0" lang="en-US" sz="900" spc="-1" strike="noStrike">
              <a:latin typeface="Arial"/>
            </a:endParaRPr>
          </a:p>
        </p:txBody>
      </p:sp>
      <p:sp>
        <p:nvSpPr>
          <p:cNvPr id="281" name="Text 5"/>
          <p:cNvSpPr/>
          <p:nvPr/>
        </p:nvSpPr>
        <p:spPr>
          <a:xfrm>
            <a:off x="457200" y="4636080"/>
            <a:ext cx="8046360" cy="3196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850" spc="-1" strike="noStrike">
                <a:solidFill>
                  <a:srgbClr val="777777"/>
                </a:solidFill>
                <a:latin typeface="Calibri"/>
                <a:ea typeface="Calibri"/>
              </a:rPr>
              <a:t>Examples: Does increasing hospital funding change the geographic clustering of wait times? Does raising the minimum wage alter spatial concentration of poverty? Does expanding broadband change the digital divide's geographic structure?</a:t>
            </a:r>
            <a:endParaRPr b="0" lang="en-US" sz="850" spc="-1" strike="noStrike">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2" name="Text 0"/>
          <p:cNvSpPr/>
          <p:nvPr/>
        </p:nvSpPr>
        <p:spPr>
          <a:xfrm>
            <a:off x="457200" y="182880"/>
            <a:ext cx="8229240" cy="3654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400" spc="-1" strike="noStrike">
                <a:solidFill>
                  <a:srgbClr val="0d2b5c"/>
                </a:solidFill>
                <a:latin typeface="Georgia"/>
                <a:ea typeface="Georgia"/>
              </a:rPr>
              <a:t>Simulators + Spatial Autocorrelation</a:t>
            </a:r>
            <a:endParaRPr b="0" lang="en-US" sz="2400" spc="-1" strike="noStrike">
              <a:latin typeface="Arial"/>
            </a:endParaRPr>
          </a:p>
        </p:txBody>
      </p:sp>
      <p:sp>
        <p:nvSpPr>
          <p:cNvPr id="283" name="Text 1"/>
          <p:cNvSpPr/>
          <p:nvPr/>
        </p:nvSpPr>
        <p:spPr>
          <a:xfrm>
            <a:off x="457200" y="594360"/>
            <a:ext cx="82292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100" spc="-1" strike="noStrike">
                <a:solidFill>
                  <a:srgbClr val="00857c"/>
                </a:solidFill>
                <a:latin typeface="Georgia"/>
                <a:ea typeface="Georgia"/>
              </a:rPr>
              <a:t>The simulation code provided produces seat counts. Moran's I evaluates the geographic distribution of those seats.</a:t>
            </a:r>
            <a:endParaRPr b="0" lang="en-US" sz="1100" spc="-1" strike="noStrike">
              <a:latin typeface="Arial"/>
            </a:endParaRPr>
          </a:p>
        </p:txBody>
      </p:sp>
      <p:sp>
        <p:nvSpPr>
          <p:cNvPr id="284" name="Shape 2"/>
          <p:cNvSpPr/>
          <p:nvPr/>
        </p:nvSpPr>
        <p:spPr>
          <a:xfrm>
            <a:off x="457200" y="1188720"/>
            <a:ext cx="3931560" cy="3474360"/>
          </a:xfrm>
          <a:prstGeom prst="rect">
            <a:avLst/>
          </a:prstGeom>
          <a:solidFill>
            <a:srgbClr val="f0f0f0"/>
          </a:solidFill>
          <a:ln w="0">
            <a:noFill/>
          </a:ln>
        </p:spPr>
        <p:style>
          <a:lnRef idx="0"/>
          <a:fillRef idx="0"/>
          <a:effectRef idx="0"/>
          <a:fontRef idx="minor"/>
        </p:style>
      </p:sp>
      <p:sp>
        <p:nvSpPr>
          <p:cNvPr id="285" name="Text 3"/>
          <p:cNvSpPr/>
          <p:nvPr/>
        </p:nvSpPr>
        <p:spPr>
          <a:xfrm>
            <a:off x="640080" y="1234440"/>
            <a:ext cx="356580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c8960c"/>
                </a:solidFill>
                <a:latin typeface="Georgia"/>
                <a:ea typeface="Georgia"/>
              </a:rPr>
              <a:t>Delimitation Simulator (Chart 71)</a:t>
            </a:r>
            <a:endParaRPr b="0" lang="en-US" sz="1200" spc="-1" strike="noStrike">
              <a:latin typeface="Arial"/>
            </a:endParaRPr>
          </a:p>
        </p:txBody>
      </p:sp>
      <p:sp>
        <p:nvSpPr>
          <p:cNvPr id="286" name="Text 4"/>
          <p:cNvSpPr/>
          <p:nvPr/>
        </p:nvSpPr>
        <p:spPr>
          <a:xfrm>
            <a:off x="640080" y="1508760"/>
            <a:ext cx="3565800" cy="301716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950" spc="-1" strike="noStrike">
                <a:solidFill>
                  <a:srgbClr val="333333"/>
                </a:solidFill>
                <a:latin typeface="Calibri"/>
                <a:ea typeface="Calibri"/>
              </a:rPr>
              <a:t>Input: constituency count slider (543 to 1,000)</a:t>
            </a:r>
            <a:endParaRPr b="0" lang="en-US" sz="950" spc="-1" strike="noStrike">
              <a:latin typeface="Arial"/>
            </a:endParaRPr>
          </a:p>
          <a:p>
            <a:pPr>
              <a:lnSpc>
                <a:spcPct val="100000"/>
              </a:lnSpc>
              <a:buNone/>
              <a:tabLst>
                <a:tab algn="l" pos="0"/>
              </a:tabLst>
            </a:pPr>
            <a:r>
              <a:rPr b="0" lang="en-US" sz="950" spc="-1" strike="noStrike">
                <a:solidFill>
                  <a:srgbClr val="333333"/>
                </a:solidFill>
                <a:latin typeface="Calibri"/>
                <a:ea typeface="Calibri"/>
              </a:rPr>
              <a:t>Algorithm: Webster/Sainte-Lague proportional allocation</a:t>
            </a:r>
            <a:endParaRPr b="0" lang="en-US" sz="950" spc="-1" strike="noStrike">
              <a:latin typeface="Arial"/>
            </a:endParaRPr>
          </a:p>
          <a:p>
            <a:pPr>
              <a:lnSpc>
                <a:spcPct val="100000"/>
              </a:lnSpc>
              <a:buNone/>
              <a:tabLst>
                <a:tab algn="l" pos="0"/>
              </a:tabLst>
            </a:pPr>
            <a:r>
              <a:rPr b="0" lang="en-US" sz="950" spc="-1" strike="noStrike">
                <a:solidFill>
                  <a:srgbClr val="333333"/>
                </a:solidFill>
                <a:latin typeface="Calibri"/>
                <a:ea typeface="Calibri"/>
              </a:rPr>
              <a:t>Output: new seat count per state</a:t>
            </a:r>
            <a:endParaRPr b="0" lang="en-US" sz="950" spc="-1" strike="noStrike">
              <a:latin typeface="Arial"/>
            </a:endParaRPr>
          </a:p>
          <a:p>
            <a:pPr>
              <a:lnSpc>
                <a:spcPct val="100000"/>
              </a:lnSpc>
              <a:buNone/>
              <a:tabLst>
                <a:tab algn="l" pos="0"/>
              </a:tabLst>
            </a:pPr>
            <a:endParaRPr b="0" lang="en-US" sz="950" spc="-1" strike="noStrike">
              <a:latin typeface="Arial"/>
            </a:endParaRPr>
          </a:p>
          <a:p>
            <a:pPr>
              <a:lnSpc>
                <a:spcPct val="100000"/>
              </a:lnSpc>
              <a:buNone/>
              <a:tabLst>
                <a:tab algn="l" pos="0"/>
              </a:tabLst>
            </a:pPr>
            <a:r>
              <a:rPr b="0" lang="en-US" sz="950" spc="-1" strike="noStrike">
                <a:solidFill>
                  <a:srgbClr val="333333"/>
                </a:solidFill>
                <a:latin typeface="Calibri"/>
                <a:ea typeface="Calibri"/>
              </a:rPr>
              <a:t>Without Moran's I:</a:t>
            </a:r>
            <a:endParaRPr b="0" lang="en-US" sz="950" spc="-1" strike="noStrike">
              <a:latin typeface="Arial"/>
            </a:endParaRPr>
          </a:p>
          <a:p>
            <a:pPr>
              <a:lnSpc>
                <a:spcPct val="100000"/>
              </a:lnSpc>
              <a:buNone/>
              <a:tabLst>
                <a:tab algn="l" pos="0"/>
              </a:tabLst>
            </a:pPr>
            <a:r>
              <a:rPr b="0" lang="en-US" sz="950" spc="-1" strike="noStrike">
                <a:solidFill>
                  <a:srgbClr val="333333"/>
                </a:solidFill>
                <a:latin typeface="Calibri"/>
                <a:ea typeface="Calibri"/>
              </a:rPr>
              <a:t>"At 850 seats, UP gains 37, TN loses 6."</a:t>
            </a:r>
            <a:endParaRPr b="0" lang="en-US" sz="950" spc="-1" strike="noStrike">
              <a:latin typeface="Arial"/>
            </a:endParaRPr>
          </a:p>
          <a:p>
            <a:pPr>
              <a:lnSpc>
                <a:spcPct val="100000"/>
              </a:lnSpc>
              <a:buNone/>
              <a:tabLst>
                <a:tab algn="l" pos="0"/>
              </a:tabLst>
            </a:pPr>
            <a:r>
              <a:rPr b="0" lang="en-US" sz="950" spc="-1" strike="noStrike">
                <a:solidFill>
                  <a:srgbClr val="333333"/>
                </a:solidFill>
                <a:latin typeface="Calibri"/>
                <a:ea typeface="Calibri"/>
              </a:rPr>
              <a:t>Just numbers. No spatial structure.</a:t>
            </a:r>
            <a:endParaRPr b="0" lang="en-US" sz="950" spc="-1" strike="noStrike">
              <a:latin typeface="Arial"/>
            </a:endParaRPr>
          </a:p>
          <a:p>
            <a:pPr>
              <a:lnSpc>
                <a:spcPct val="100000"/>
              </a:lnSpc>
              <a:buNone/>
              <a:tabLst>
                <a:tab algn="l" pos="0"/>
              </a:tabLst>
            </a:pPr>
            <a:endParaRPr b="0" lang="en-US" sz="950" spc="-1" strike="noStrike">
              <a:latin typeface="Arial"/>
            </a:endParaRPr>
          </a:p>
          <a:p>
            <a:pPr>
              <a:lnSpc>
                <a:spcPct val="100000"/>
              </a:lnSpc>
              <a:buNone/>
              <a:tabLst>
                <a:tab algn="l" pos="0"/>
              </a:tabLst>
            </a:pPr>
            <a:r>
              <a:rPr b="0" lang="en-US" sz="950" spc="-1" strike="noStrike">
                <a:solidFill>
                  <a:srgbClr val="333333"/>
                </a:solidFill>
                <a:latin typeface="Calibri"/>
                <a:ea typeface="Calibri"/>
              </a:rPr>
              <a:t>With Moran's I:</a:t>
            </a:r>
            <a:endParaRPr b="0" lang="en-US" sz="950" spc="-1" strike="noStrike">
              <a:latin typeface="Arial"/>
            </a:endParaRPr>
          </a:p>
          <a:p>
            <a:pPr>
              <a:lnSpc>
                <a:spcPct val="100000"/>
              </a:lnSpc>
              <a:buNone/>
              <a:tabLst>
                <a:tab algn="l" pos="0"/>
              </a:tabLst>
            </a:pPr>
            <a:r>
              <a:rPr b="0" lang="en-US" sz="950" spc="-1" strike="noStrike">
                <a:solidFill>
                  <a:srgbClr val="333333"/>
                </a:solidFill>
                <a:latin typeface="Calibri"/>
                <a:ea typeface="Calibri"/>
              </a:rPr>
              <a:t>"At 850 seats, Moran's I of electors-per-seat drops from 0.52 to 0.31. Geographic clustering of underrepresentation is reduced by 40%."</a:t>
            </a:r>
            <a:endParaRPr b="0" lang="en-US" sz="950" spc="-1" strike="noStrike">
              <a:latin typeface="Arial"/>
            </a:endParaRPr>
          </a:p>
          <a:p>
            <a:pPr>
              <a:lnSpc>
                <a:spcPct val="100000"/>
              </a:lnSpc>
              <a:buNone/>
              <a:tabLst>
                <a:tab algn="l" pos="0"/>
              </a:tabLst>
            </a:pPr>
            <a:endParaRPr b="0" lang="en-US" sz="950" spc="-1" strike="noStrike">
              <a:latin typeface="Arial"/>
            </a:endParaRPr>
          </a:p>
          <a:p>
            <a:pPr>
              <a:lnSpc>
                <a:spcPct val="100000"/>
              </a:lnSpc>
              <a:buNone/>
              <a:tabLst>
                <a:tab algn="l" pos="0"/>
              </a:tabLst>
            </a:pPr>
            <a:r>
              <a:rPr b="0" lang="en-US" sz="950" spc="-1" strike="noStrike">
                <a:solidFill>
                  <a:srgbClr val="333333"/>
                </a:solidFill>
                <a:latin typeface="Calibri"/>
                <a:ea typeface="Calibri"/>
              </a:rPr>
              <a:t>The conjunction answers:</a:t>
            </a:r>
            <a:endParaRPr b="0" lang="en-US" sz="950" spc="-1" strike="noStrike">
              <a:latin typeface="Arial"/>
            </a:endParaRPr>
          </a:p>
          <a:p>
            <a:pPr>
              <a:lnSpc>
                <a:spcPct val="100000"/>
              </a:lnSpc>
              <a:buNone/>
              <a:tabLst>
                <a:tab algn="l" pos="0"/>
              </a:tabLst>
            </a:pPr>
            <a:r>
              <a:rPr b="0" lang="en-US" sz="950" spc="-1" strike="noStrike">
                <a:solidFill>
                  <a:srgbClr val="333333"/>
                </a:solidFill>
                <a:latin typeface="Calibri"/>
                <a:ea typeface="Calibri"/>
              </a:rPr>
              <a:t>"Which house size minimizes the spatial</a:t>
            </a:r>
            <a:endParaRPr b="0" lang="en-US" sz="950" spc="-1" strike="noStrike">
              <a:latin typeface="Arial"/>
            </a:endParaRPr>
          </a:p>
          <a:p>
            <a:pPr>
              <a:lnSpc>
                <a:spcPct val="100000"/>
              </a:lnSpc>
              <a:buNone/>
              <a:tabLst>
                <a:tab algn="l" pos="0"/>
              </a:tabLst>
            </a:pPr>
            <a:r>
              <a:rPr b="0" lang="en-US" sz="950" spc="-1" strike="noStrike">
                <a:solidFill>
                  <a:srgbClr val="333333"/>
                </a:solidFill>
                <a:latin typeface="Calibri"/>
                <a:ea typeface="Calibri"/>
              </a:rPr>
              <a:t>clustering of representational inequity?"</a:t>
            </a:r>
            <a:endParaRPr b="0" lang="en-US" sz="950" spc="-1" strike="noStrike">
              <a:latin typeface="Arial"/>
            </a:endParaRPr>
          </a:p>
          <a:p>
            <a:pPr>
              <a:lnSpc>
                <a:spcPct val="100000"/>
              </a:lnSpc>
              <a:buNone/>
              <a:tabLst>
                <a:tab algn="l" pos="0"/>
              </a:tabLst>
            </a:pPr>
            <a:endParaRPr b="0" lang="en-US" sz="950" spc="-1" strike="noStrike">
              <a:latin typeface="Arial"/>
            </a:endParaRPr>
          </a:p>
          <a:p>
            <a:pPr>
              <a:lnSpc>
                <a:spcPct val="100000"/>
              </a:lnSpc>
              <a:buNone/>
              <a:tabLst>
                <a:tab algn="l" pos="0"/>
              </a:tabLst>
            </a:pPr>
            <a:r>
              <a:rPr b="0" lang="en-US" sz="950" spc="-1" strike="noStrike">
                <a:solidFill>
                  <a:srgbClr val="333333"/>
                </a:solidFill>
                <a:latin typeface="Calibri"/>
                <a:ea typeface="Calibri"/>
              </a:rPr>
              <a:t>Chart 74 extends this: which allocation FORMULA (population only vs +area vs +women vs +fiscal) produces the lowest Moran's I?</a:t>
            </a:r>
            <a:endParaRPr b="0" lang="en-US" sz="950" spc="-1" strike="noStrike">
              <a:latin typeface="Arial"/>
            </a:endParaRPr>
          </a:p>
        </p:txBody>
      </p:sp>
      <p:sp>
        <p:nvSpPr>
          <p:cNvPr id="287" name="Shape 5"/>
          <p:cNvSpPr/>
          <p:nvPr/>
        </p:nvSpPr>
        <p:spPr>
          <a:xfrm>
            <a:off x="4754880" y="1188720"/>
            <a:ext cx="3931560" cy="3474360"/>
          </a:xfrm>
          <a:prstGeom prst="rect">
            <a:avLst/>
          </a:prstGeom>
          <a:solidFill>
            <a:srgbClr val="fdf0f4"/>
          </a:solidFill>
          <a:ln w="0">
            <a:noFill/>
          </a:ln>
        </p:spPr>
        <p:style>
          <a:lnRef idx="0"/>
          <a:fillRef idx="0"/>
          <a:effectRef idx="0"/>
          <a:fontRef idx="minor"/>
        </p:style>
      </p:sp>
      <p:sp>
        <p:nvSpPr>
          <p:cNvPr id="288" name="Text 6"/>
          <p:cNvSpPr/>
          <p:nvPr/>
        </p:nvSpPr>
        <p:spPr>
          <a:xfrm>
            <a:off x="4937760" y="1234440"/>
            <a:ext cx="356580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b7234c"/>
                </a:solidFill>
                <a:latin typeface="Georgia"/>
                <a:ea typeface="Georgia"/>
              </a:rPr>
              <a:t>Reservation Simulator (Chart 73)</a:t>
            </a:r>
            <a:endParaRPr b="0" lang="en-US" sz="1200" spc="-1" strike="noStrike">
              <a:latin typeface="Arial"/>
            </a:endParaRPr>
          </a:p>
        </p:txBody>
      </p:sp>
      <p:sp>
        <p:nvSpPr>
          <p:cNvPr id="289" name="Text 7"/>
          <p:cNvSpPr/>
          <p:nvPr/>
        </p:nvSpPr>
        <p:spPr>
          <a:xfrm>
            <a:off x="4937760" y="1508760"/>
            <a:ext cx="3565800" cy="301716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950" spc="-1" strike="noStrike">
                <a:solidFill>
                  <a:srgbClr val="333333"/>
                </a:solidFill>
                <a:latin typeface="Calibri"/>
                <a:ea typeface="Calibri"/>
              </a:rPr>
              <a:t>Input: reservation % slider (0% to 100%)</a:t>
            </a:r>
            <a:endParaRPr b="0" lang="en-US" sz="950" spc="-1" strike="noStrike">
              <a:latin typeface="Arial"/>
            </a:endParaRPr>
          </a:p>
          <a:p>
            <a:pPr>
              <a:lnSpc>
                <a:spcPct val="100000"/>
              </a:lnSpc>
              <a:buNone/>
              <a:tabLst>
                <a:tab algn="l" pos="0"/>
              </a:tabLst>
            </a:pPr>
            <a:r>
              <a:rPr b="0" lang="en-US" sz="950" spc="-1" strike="noStrike">
                <a:solidFill>
                  <a:srgbClr val="333333"/>
                </a:solidFill>
                <a:latin typeface="Calibri"/>
                <a:ea typeface="Calibri"/>
              </a:rPr>
              <a:t>Algorithm: proportional allocation per state</a:t>
            </a:r>
            <a:endParaRPr b="0" lang="en-US" sz="950" spc="-1" strike="noStrike">
              <a:latin typeface="Arial"/>
            </a:endParaRPr>
          </a:p>
          <a:p>
            <a:pPr>
              <a:lnSpc>
                <a:spcPct val="100000"/>
              </a:lnSpc>
              <a:buNone/>
              <a:tabLst>
                <a:tab algn="l" pos="0"/>
              </a:tabLst>
            </a:pPr>
            <a:r>
              <a:rPr b="0" lang="en-US" sz="950" spc="-1" strike="noStrike">
                <a:solidFill>
                  <a:srgbClr val="333333"/>
                </a:solidFill>
                <a:latin typeface="Calibri"/>
                <a:ea typeface="Calibri"/>
              </a:rPr>
              <a:t>Output: reserved seats per state</a:t>
            </a:r>
            <a:endParaRPr b="0" lang="en-US" sz="950" spc="-1" strike="noStrike">
              <a:latin typeface="Arial"/>
            </a:endParaRPr>
          </a:p>
          <a:p>
            <a:pPr>
              <a:lnSpc>
                <a:spcPct val="100000"/>
              </a:lnSpc>
              <a:buNone/>
              <a:tabLst>
                <a:tab algn="l" pos="0"/>
              </a:tabLst>
            </a:pPr>
            <a:endParaRPr b="0" lang="en-US" sz="950" spc="-1" strike="noStrike">
              <a:latin typeface="Arial"/>
            </a:endParaRPr>
          </a:p>
          <a:p>
            <a:pPr>
              <a:lnSpc>
                <a:spcPct val="100000"/>
              </a:lnSpc>
              <a:buNone/>
              <a:tabLst>
                <a:tab algn="l" pos="0"/>
              </a:tabLst>
            </a:pPr>
            <a:r>
              <a:rPr b="0" lang="en-US" sz="950" spc="-1" strike="noStrike">
                <a:solidFill>
                  <a:srgbClr val="333333"/>
                </a:solidFill>
                <a:latin typeface="Calibri"/>
                <a:ea typeface="Calibri"/>
              </a:rPr>
              <a:t>Without Moran's I:</a:t>
            </a:r>
            <a:endParaRPr b="0" lang="en-US" sz="950" spc="-1" strike="noStrike">
              <a:latin typeface="Arial"/>
            </a:endParaRPr>
          </a:p>
          <a:p>
            <a:pPr>
              <a:lnSpc>
                <a:spcPct val="100000"/>
              </a:lnSpc>
              <a:buNone/>
              <a:tabLst>
                <a:tab algn="l" pos="0"/>
              </a:tabLst>
            </a:pPr>
            <a:r>
              <a:rPr b="0" lang="en-US" sz="950" spc="-1" strike="noStrike">
                <a:solidFill>
                  <a:srgbClr val="333333"/>
                </a:solidFill>
                <a:latin typeface="Calibri"/>
                <a:ea typeface="Calibri"/>
              </a:rPr>
              <a:t>"At 33%, 180 seats reserved for women.</a:t>
            </a:r>
            <a:endParaRPr b="0" lang="en-US" sz="950" spc="-1" strike="noStrike">
              <a:latin typeface="Arial"/>
            </a:endParaRPr>
          </a:p>
          <a:p>
            <a:pPr>
              <a:lnSpc>
                <a:spcPct val="100000"/>
              </a:lnSpc>
              <a:buNone/>
              <a:tabLst>
                <a:tab algn="l" pos="0"/>
              </a:tabLst>
            </a:pPr>
            <a:r>
              <a:rPr b="0" lang="en-US" sz="950" spc="-1" strike="noStrike">
                <a:solidFill>
                  <a:srgbClr val="333333"/>
                </a:solidFill>
                <a:latin typeface="Calibri"/>
                <a:ea typeface="Calibri"/>
              </a:rPr>
              <a:t>Current: 47. Gap: 133."</a:t>
            </a:r>
            <a:endParaRPr b="0" lang="en-US" sz="950" spc="-1" strike="noStrike">
              <a:latin typeface="Arial"/>
            </a:endParaRPr>
          </a:p>
          <a:p>
            <a:pPr>
              <a:lnSpc>
                <a:spcPct val="100000"/>
              </a:lnSpc>
              <a:buNone/>
              <a:tabLst>
                <a:tab algn="l" pos="0"/>
              </a:tabLst>
            </a:pPr>
            <a:r>
              <a:rPr b="0" lang="en-US" sz="950" spc="-1" strike="noStrike">
                <a:solidFill>
                  <a:srgbClr val="333333"/>
                </a:solidFill>
                <a:latin typeface="Calibri"/>
                <a:ea typeface="Calibri"/>
              </a:rPr>
              <a:t>Just a pipeline number.</a:t>
            </a:r>
            <a:endParaRPr b="0" lang="en-US" sz="950" spc="-1" strike="noStrike">
              <a:latin typeface="Arial"/>
            </a:endParaRPr>
          </a:p>
          <a:p>
            <a:pPr>
              <a:lnSpc>
                <a:spcPct val="100000"/>
              </a:lnSpc>
              <a:buNone/>
              <a:tabLst>
                <a:tab algn="l" pos="0"/>
              </a:tabLst>
            </a:pPr>
            <a:endParaRPr b="0" lang="en-US" sz="950" spc="-1" strike="noStrike">
              <a:latin typeface="Arial"/>
            </a:endParaRPr>
          </a:p>
          <a:p>
            <a:pPr>
              <a:lnSpc>
                <a:spcPct val="100000"/>
              </a:lnSpc>
              <a:buNone/>
              <a:tabLst>
                <a:tab algn="l" pos="0"/>
              </a:tabLst>
            </a:pPr>
            <a:r>
              <a:rPr b="0" lang="en-US" sz="950" spc="-1" strike="noStrike">
                <a:solidFill>
                  <a:srgbClr val="333333"/>
                </a:solidFill>
                <a:latin typeface="Calibri"/>
                <a:ea typeface="Calibri"/>
              </a:rPr>
              <a:t>With Moran's I:</a:t>
            </a:r>
            <a:endParaRPr b="0" lang="en-US" sz="950" spc="-1" strike="noStrike">
              <a:latin typeface="Arial"/>
            </a:endParaRPr>
          </a:p>
          <a:p>
            <a:pPr>
              <a:lnSpc>
                <a:spcPct val="100000"/>
              </a:lnSpc>
              <a:buNone/>
              <a:tabLst>
                <a:tab algn="l" pos="0"/>
              </a:tabLst>
            </a:pPr>
            <a:r>
              <a:rPr b="0" lang="en-US" sz="950" spc="-1" strike="noStrike">
                <a:solidFill>
                  <a:srgbClr val="333333"/>
                </a:solidFill>
                <a:latin typeface="Calibri"/>
                <a:ea typeface="Calibri"/>
              </a:rPr>
              <a:t>"At any reservation %, women's candidature I remains ~0.113. The spatial randomness persists regardless of quota level."</a:t>
            </a:r>
            <a:endParaRPr b="0" lang="en-US" sz="950" spc="-1" strike="noStrike">
              <a:latin typeface="Arial"/>
            </a:endParaRPr>
          </a:p>
          <a:p>
            <a:pPr>
              <a:lnSpc>
                <a:spcPct val="100000"/>
              </a:lnSpc>
              <a:buNone/>
              <a:tabLst>
                <a:tab algn="l" pos="0"/>
              </a:tabLst>
            </a:pPr>
            <a:endParaRPr b="0" lang="en-US" sz="950" spc="-1" strike="noStrike">
              <a:latin typeface="Arial"/>
            </a:endParaRPr>
          </a:p>
          <a:p>
            <a:pPr>
              <a:lnSpc>
                <a:spcPct val="100000"/>
              </a:lnSpc>
              <a:buNone/>
              <a:tabLst>
                <a:tab algn="l" pos="0"/>
              </a:tabLst>
            </a:pPr>
            <a:r>
              <a:rPr b="0" lang="en-US" sz="950" spc="-1" strike="noStrike">
                <a:solidFill>
                  <a:srgbClr val="333333"/>
                </a:solidFill>
                <a:latin typeface="Calibri"/>
                <a:ea typeface="Calibri"/>
              </a:rPr>
              <a:t>The conjunction answers:</a:t>
            </a:r>
            <a:endParaRPr b="0" lang="en-US" sz="950" spc="-1" strike="noStrike">
              <a:latin typeface="Arial"/>
            </a:endParaRPr>
          </a:p>
          <a:p>
            <a:pPr>
              <a:lnSpc>
                <a:spcPct val="100000"/>
              </a:lnSpc>
              <a:buNone/>
              <a:tabLst>
                <a:tab algn="l" pos="0"/>
              </a:tabLst>
            </a:pPr>
            <a:r>
              <a:rPr b="0" lang="en-US" sz="950" spc="-1" strike="noStrike">
                <a:solidFill>
                  <a:srgbClr val="333333"/>
                </a:solidFill>
                <a:latin typeface="Calibri"/>
                <a:ea typeface="Calibri"/>
              </a:rPr>
              <a:t>"Does increasing women's reservation change</a:t>
            </a:r>
            <a:endParaRPr b="0" lang="en-US" sz="950" spc="-1" strike="noStrike">
              <a:latin typeface="Arial"/>
            </a:endParaRPr>
          </a:p>
          <a:p>
            <a:pPr>
              <a:lnSpc>
                <a:spcPct val="100000"/>
              </a:lnSpc>
              <a:buNone/>
              <a:tabLst>
                <a:tab algn="l" pos="0"/>
              </a:tabLst>
            </a:pPr>
            <a:r>
              <a:rPr b="0" lang="en-US" sz="950" spc="-1" strike="noStrike">
                <a:solidFill>
                  <a:srgbClr val="333333"/>
                </a:solidFill>
                <a:latin typeface="Calibri"/>
                <a:ea typeface="Calibri"/>
              </a:rPr>
              <a:t>the GEOGRAPHIC pattern of exclusion,</a:t>
            </a:r>
            <a:endParaRPr b="0" lang="en-US" sz="950" spc="-1" strike="noStrike">
              <a:latin typeface="Arial"/>
            </a:endParaRPr>
          </a:p>
          <a:p>
            <a:pPr>
              <a:lnSpc>
                <a:spcPct val="100000"/>
              </a:lnSpc>
              <a:buNone/>
              <a:tabLst>
                <a:tab algn="l" pos="0"/>
              </a:tabLst>
            </a:pPr>
            <a:r>
              <a:rPr b="0" lang="en-US" sz="950" spc="-1" strike="noStrike">
                <a:solidFill>
                  <a:srgbClr val="333333"/>
                </a:solidFill>
                <a:latin typeface="Calibri"/>
                <a:ea typeface="Calibri"/>
              </a:rPr>
              <a:t>or does it remain spatially random?"</a:t>
            </a:r>
            <a:endParaRPr b="0" lang="en-US" sz="950" spc="-1" strike="noStrike">
              <a:latin typeface="Arial"/>
            </a:endParaRPr>
          </a:p>
          <a:p>
            <a:pPr>
              <a:lnSpc>
                <a:spcPct val="100000"/>
              </a:lnSpc>
              <a:buNone/>
              <a:tabLst>
                <a:tab algn="l" pos="0"/>
              </a:tabLst>
            </a:pPr>
            <a:endParaRPr b="0" lang="en-US" sz="950" spc="-1" strike="noStrike">
              <a:latin typeface="Arial"/>
            </a:endParaRPr>
          </a:p>
          <a:p>
            <a:pPr>
              <a:lnSpc>
                <a:spcPct val="100000"/>
              </a:lnSpc>
              <a:buNone/>
              <a:tabLst>
                <a:tab algn="l" pos="0"/>
              </a:tabLst>
            </a:pPr>
            <a:r>
              <a:rPr b="0" lang="en-US" sz="950" spc="-1" strike="noStrike">
                <a:solidFill>
                  <a:srgbClr val="333333"/>
                </a:solidFill>
                <a:latin typeface="Calibri"/>
                <a:ea typeface="Calibri"/>
              </a:rPr>
              <a:t>Answer: it remains random. The barrier is institutional (party nomination), not geographic (regional culture).</a:t>
            </a:r>
            <a:endParaRPr b="0" lang="en-US" sz="950" spc="-1" strike="noStrike">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0" name="Text 0"/>
          <p:cNvSpPr/>
          <p:nvPr/>
        </p:nvSpPr>
        <p:spPr>
          <a:xfrm>
            <a:off x="457200" y="274320"/>
            <a:ext cx="82292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200" spc="-1" strike="noStrike">
                <a:solidFill>
                  <a:srgbClr val="0d2b5c"/>
                </a:solidFill>
                <a:latin typeface="Georgia"/>
                <a:ea typeface="Georgia"/>
              </a:rPr>
              <a:t>How Every Atlas Chart Ties to the Project Statement</a:t>
            </a:r>
            <a:endParaRPr b="0" lang="en-US" sz="2200" spc="-1" strike="noStrike">
              <a:latin typeface="Arial"/>
            </a:endParaRPr>
          </a:p>
        </p:txBody>
      </p:sp>
      <p:sp>
        <p:nvSpPr>
          <p:cNvPr id="291" name="Text 1"/>
          <p:cNvSpPr/>
          <p:nvPr/>
        </p:nvSpPr>
        <p:spPr>
          <a:xfrm>
            <a:off x="457200" y="777240"/>
            <a:ext cx="82292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100" spc="-1" strike="noStrike">
                <a:solidFill>
                  <a:srgbClr val="00857c"/>
                </a:solidFill>
                <a:latin typeface="Georgia"/>
                <a:ea typeface="Georgia"/>
              </a:rPr>
              <a:t>The project spatializes two chart types. Every chart in the atlas is an instance of one of these two spatializations applied to a different variable or crisis.</a:t>
            </a:r>
            <a:endParaRPr b="0" lang="en-US" sz="1100" spc="-1" strike="noStrike">
              <a:latin typeface="Arial"/>
            </a:endParaRPr>
          </a:p>
        </p:txBody>
      </p:sp>
      <p:graphicFrame>
        <p:nvGraphicFramePr>
          <p:cNvPr id="292" name="Table 0"/>
          <p:cNvGraphicFramePr/>
          <p:nvPr/>
        </p:nvGraphicFramePr>
        <p:xfrm>
          <a:off x="274320" y="1143000"/>
          <a:ext cx="7680600" cy="3200040"/>
        </p:xfrm>
        <a:graphic>
          <a:graphicData uri="http://schemas.openxmlformats.org/drawingml/2006/table">
            <a:tbl>
              <a:tblPr/>
              <a:tblGrid>
                <a:gridCol w="1463040"/>
                <a:gridCol w="731520"/>
                <a:gridCol w="2011680"/>
                <a:gridCol w="1645920"/>
                <a:gridCol w="1828800"/>
              </a:tblGrid>
              <a:tr h="320040">
                <a:tc>
                  <a:txBody>
                    <a:bodyPr anchor="t">
                      <a:noAutofit/>
                    </a:bodyPr>
                    <a:p>
                      <a:pPr algn="ctr">
                        <a:lnSpc>
                          <a:spcPct val="100000"/>
                        </a:lnSpc>
                        <a:buNone/>
                        <a:tabLst>
                          <a:tab algn="l" pos="0"/>
                        </a:tabLst>
                      </a:pPr>
                      <a:r>
                        <a:rPr b="1" lang="en-US" sz="900" spc="-1" strike="noStrike">
                          <a:solidFill>
                            <a:srgbClr val="ffffff"/>
                          </a:solidFill>
                          <a:latin typeface="Calibri"/>
                          <a:ea typeface="Calibri"/>
                        </a:rPr>
                        <a:t>Spatialization</a:t>
                      </a:r>
                      <a:endParaRPr b="0" lang="en-US" sz="90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solidFill>
                      <a:srgbClr val="0d2b5c"/>
                    </a:solidFill>
                  </a:tcPr>
                </a:tc>
                <a:tc>
                  <a:txBody>
                    <a:bodyPr anchor="t">
                      <a:noAutofit/>
                    </a:bodyPr>
                    <a:p>
                      <a:pPr algn="ctr">
                        <a:lnSpc>
                          <a:spcPct val="100000"/>
                        </a:lnSpc>
                        <a:buNone/>
                        <a:tabLst>
                          <a:tab algn="l" pos="0"/>
                        </a:tabLst>
                      </a:pPr>
                      <a:r>
                        <a:rPr b="1" lang="en-US" sz="900" spc="-1" strike="noStrike">
                          <a:solidFill>
                            <a:srgbClr val="ffffff"/>
                          </a:solidFill>
                          <a:latin typeface="Calibri"/>
                          <a:ea typeface="Calibri"/>
                        </a:rPr>
                        <a:t>Chart</a:t>
                      </a:r>
                      <a:endParaRPr b="0" lang="en-US" sz="90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solidFill>
                      <a:srgbClr val="0d2b5c"/>
                    </a:solidFill>
                  </a:tcPr>
                </a:tc>
                <a:tc>
                  <a:txBody>
                    <a:bodyPr anchor="t">
                      <a:noAutofit/>
                    </a:bodyPr>
                    <a:p>
                      <a:pPr algn="ctr">
                        <a:lnSpc>
                          <a:spcPct val="100000"/>
                        </a:lnSpc>
                        <a:buNone/>
                        <a:tabLst>
                          <a:tab algn="l" pos="0"/>
                        </a:tabLst>
                      </a:pPr>
                      <a:r>
                        <a:rPr b="1" lang="en-US" sz="900" spc="-1" strike="noStrike">
                          <a:solidFill>
                            <a:srgbClr val="ffffff"/>
                          </a:solidFill>
                          <a:latin typeface="Calibri"/>
                          <a:ea typeface="Calibri"/>
                        </a:rPr>
                        <a:t>Variable Applied To</a:t>
                      </a:r>
                      <a:endParaRPr b="0" lang="en-US" sz="90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solidFill>
                      <a:srgbClr val="0d2b5c"/>
                    </a:solidFill>
                  </a:tcPr>
                </a:tc>
                <a:tc>
                  <a:txBody>
                    <a:bodyPr anchor="t">
                      <a:noAutofit/>
                    </a:bodyPr>
                    <a:p>
                      <a:pPr algn="ctr">
                        <a:lnSpc>
                          <a:spcPct val="100000"/>
                        </a:lnSpc>
                        <a:buNone/>
                        <a:tabLst>
                          <a:tab algn="l" pos="0"/>
                        </a:tabLst>
                      </a:pPr>
                      <a:r>
                        <a:rPr b="1" lang="en-US" sz="900" spc="-1" strike="noStrike">
                          <a:solidFill>
                            <a:srgbClr val="ffffff"/>
                          </a:solidFill>
                          <a:latin typeface="Calibri"/>
                          <a:ea typeface="Calibri"/>
                        </a:rPr>
                        <a:t>Query Class</a:t>
                      </a:r>
                      <a:endParaRPr b="0" lang="en-US" sz="90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solidFill>
                      <a:srgbClr val="0d2b5c"/>
                    </a:solidFill>
                  </a:tcPr>
                </a:tc>
                <a:tc>
                  <a:txBody>
                    <a:bodyPr anchor="t">
                      <a:noAutofit/>
                    </a:bodyPr>
                    <a:p>
                      <a:pPr algn="ctr">
                        <a:lnSpc>
                          <a:spcPct val="100000"/>
                        </a:lnSpc>
                        <a:buNone/>
                        <a:tabLst>
                          <a:tab algn="l" pos="0"/>
                        </a:tabLst>
                      </a:pPr>
                      <a:r>
                        <a:rPr b="1" lang="en-US" sz="900" spc="-1" strike="noStrike">
                          <a:solidFill>
                            <a:srgbClr val="ffffff"/>
                          </a:solidFill>
                          <a:latin typeface="Calibri"/>
                          <a:ea typeface="Calibri"/>
                        </a:rPr>
                        <a:t>Input Used</a:t>
                      </a:r>
                      <a:endParaRPr b="0" lang="en-US" sz="90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solidFill>
                      <a:srgbClr val="0d2b5c"/>
                    </a:solidFill>
                  </a:tcPr>
                </a:tc>
              </a:tr>
              <a:tr h="320040">
                <a:tc>
                  <a:txBody>
                    <a:bodyPr anchor="t">
                      <a:noAutofit/>
                    </a:bodyPr>
                    <a:p>
                      <a:pPr>
                        <a:lnSpc>
                          <a:spcPct val="100000"/>
                        </a:lnSpc>
                        <a:buNone/>
                        <a:tabLst>
                          <a:tab algn="l" pos="0"/>
                        </a:tabLst>
                      </a:pPr>
                      <a:r>
                        <a:rPr b="1" lang="en-US" sz="850" spc="-1" strike="noStrike">
                          <a:solidFill>
                            <a:srgbClr val="d7191c"/>
                          </a:solidFill>
                          <a:latin typeface="Calibri"/>
                          <a:ea typeface="Calibri"/>
                        </a:rPr>
                        <a:t>Histogram to LISA</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lang="en-US" sz="850" spc="-1" strike="noStrike">
                          <a:solidFill>
                            <a:srgbClr val="000000"/>
                          </a:solidFill>
                          <a:latin typeface="Calibri"/>
                          <a:ea typeface="Calibri"/>
                        </a:rPr>
                        <a:t>37</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lang="en-US" sz="850" spc="-1" strike="noStrike">
                          <a:solidFill>
                            <a:srgbClr val="000000"/>
                          </a:solidFill>
                          <a:latin typeface="Calibri"/>
                          <a:ea typeface="Calibri"/>
                        </a:rPr>
                        <a:t>Voter turnout</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i="1" lang="en-US" sz="850" spc="-1" strike="noStrike">
                          <a:solidFill>
                            <a:srgbClr val="000000"/>
                          </a:solidFill>
                          <a:latin typeface="Calibri"/>
                          <a:ea typeface="Calibri"/>
                        </a:rPr>
                        <a:t>Cluster Detection</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lang="en-US" sz="850" spc="-1" strike="noStrike">
                          <a:solidFill>
                            <a:srgbClr val="000000"/>
                          </a:solidFill>
                          <a:latin typeface="Calibri"/>
                          <a:ea typeface="Calibri"/>
                        </a:rPr>
                        <a:t>Base dataset</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r>
              <a:tr h="320040">
                <a:tc>
                  <a:txBody>
                    <a:bodyPr anchor="t">
                      <a:noAutofit/>
                    </a:bodyPr>
                    <a:p>
                      <a:pPr>
                        <a:lnSpc>
                          <a:spcPct val="100000"/>
                        </a:lnSpc>
                        <a:buNone/>
                        <a:tabLst>
                          <a:tab algn="l" pos="0"/>
                        </a:tabLst>
                      </a:pPr>
                      <a:r>
                        <a:rPr b="1" lang="en-US" sz="850" spc="-1" strike="noStrike">
                          <a:solidFill>
                            <a:srgbClr val="d7191c"/>
                          </a:solidFill>
                          <a:latin typeface="Calibri"/>
                          <a:ea typeface="Calibri"/>
                        </a:rPr>
                        <a:t>Histogram to LISA</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lang="en-US" sz="850" spc="-1" strike="noStrike">
                          <a:solidFill>
                            <a:srgbClr val="000000"/>
                          </a:solidFill>
                          <a:latin typeface="Calibri"/>
                          <a:ea typeface="Calibri"/>
                        </a:rPr>
                        <a:t>65</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lang="en-US" sz="850" spc="-1" strike="noStrike">
                          <a:solidFill>
                            <a:srgbClr val="000000"/>
                          </a:solidFill>
                          <a:latin typeface="Calibri"/>
                          <a:ea typeface="Calibri"/>
                        </a:rPr>
                        <a:t>Women's candidature</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i="1" lang="en-US" sz="850" spc="-1" strike="noStrike">
                          <a:solidFill>
                            <a:srgbClr val="000000"/>
                          </a:solidFill>
                          <a:latin typeface="Calibri"/>
                          <a:ea typeface="Calibri"/>
                        </a:rPr>
                        <a:t>Absence = Evidence</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lang="en-US" sz="850" spc="-1" strike="noStrike">
                          <a:solidFill>
                            <a:srgbClr val="000000"/>
                          </a:solidFill>
                          <a:latin typeface="Calibri"/>
                          <a:ea typeface="Calibri"/>
                        </a:rPr>
                        <a:t>Base dataset</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r>
              <a:tr h="320040">
                <a:tc>
                  <a:txBody>
                    <a:bodyPr anchor="t">
                      <a:noAutofit/>
                    </a:bodyPr>
                    <a:p>
                      <a:pPr>
                        <a:lnSpc>
                          <a:spcPct val="100000"/>
                        </a:lnSpc>
                        <a:buNone/>
                        <a:tabLst>
                          <a:tab algn="l" pos="0"/>
                        </a:tabLst>
                      </a:pPr>
                      <a:r>
                        <a:rPr b="1" lang="en-US" sz="850" spc="-1" strike="noStrike">
                          <a:solidFill>
                            <a:srgbClr val="d7191c"/>
                          </a:solidFill>
                          <a:latin typeface="Calibri"/>
                          <a:ea typeface="Calibri"/>
                        </a:rPr>
                        <a:t>Histogram to LISA</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lang="en-US" sz="850" spc="-1" strike="noStrike">
                          <a:solidFill>
                            <a:srgbClr val="000000"/>
                          </a:solidFill>
                          <a:latin typeface="Calibri"/>
                          <a:ea typeface="Calibri"/>
                        </a:rPr>
                        <a:t>48</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lang="en-US" sz="850" spc="-1" strike="noStrike">
                          <a:solidFill>
                            <a:srgbClr val="000000"/>
                          </a:solidFill>
                          <a:latin typeface="Calibri"/>
                          <a:ea typeface="Calibri"/>
                        </a:rPr>
                        <a:t>Alliance (NDA/INDIA)</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i="1" lang="en-US" sz="850" spc="-1" strike="noStrike">
                          <a:solidFill>
                            <a:srgbClr val="000000"/>
                          </a:solidFill>
                          <a:latin typeface="Calibri"/>
                          <a:ea typeface="Calibri"/>
                        </a:rPr>
                        <a:t>Contiguity</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lang="en-US" sz="850" spc="-1" strike="noStrike">
                          <a:solidFill>
                            <a:srgbClr val="000000"/>
                          </a:solidFill>
                          <a:latin typeface="Calibri"/>
                          <a:ea typeface="Calibri"/>
                        </a:rPr>
                        <a:t>Base dataset</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r>
              <a:tr h="320040">
                <a:tc>
                  <a:txBody>
                    <a:bodyPr anchor="t">
                      <a:noAutofit/>
                    </a:bodyPr>
                    <a:p>
                      <a:pPr>
                        <a:lnSpc>
                          <a:spcPct val="100000"/>
                        </a:lnSpc>
                        <a:buNone/>
                        <a:tabLst>
                          <a:tab algn="l" pos="0"/>
                        </a:tabLst>
                      </a:pPr>
                      <a:r>
                        <a:rPr b="1" lang="en-US" sz="850" spc="-1" strike="noStrike">
                          <a:solidFill>
                            <a:srgbClr val="c8960c"/>
                          </a:solidFill>
                          <a:latin typeface="Calibri"/>
                          <a:ea typeface="Calibri"/>
                        </a:rPr>
                        <a:t>Scatter to Moran</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lang="en-US" sz="850" spc="-1" strike="noStrike">
                          <a:solidFill>
                            <a:srgbClr val="000000"/>
                          </a:solidFill>
                          <a:latin typeface="Calibri"/>
                          <a:ea typeface="Calibri"/>
                        </a:rPr>
                        <a:t>39</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lang="en-US" sz="850" spc="-1" strike="noStrike">
                          <a:solidFill>
                            <a:srgbClr val="000000"/>
                          </a:solidFill>
                          <a:latin typeface="Calibri"/>
                          <a:ea typeface="Calibri"/>
                        </a:rPr>
                        <a:t>Turnout + Margin</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i="1" lang="en-US" sz="850" spc="-1" strike="noStrike">
                          <a:solidFill>
                            <a:srgbClr val="000000"/>
                          </a:solidFill>
                          <a:latin typeface="Calibri"/>
                          <a:ea typeface="Calibri"/>
                        </a:rPr>
                        <a:t>Spatial Outlier</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lang="en-US" sz="850" spc="-1" strike="noStrike">
                          <a:solidFill>
                            <a:srgbClr val="000000"/>
                          </a:solidFill>
                          <a:latin typeface="Calibri"/>
                          <a:ea typeface="Calibri"/>
                        </a:rPr>
                        <a:t>Base dataset</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r>
              <a:tr h="320040">
                <a:tc>
                  <a:txBody>
                    <a:bodyPr anchor="t">
                      <a:noAutofit/>
                    </a:bodyPr>
                    <a:p>
                      <a:pPr>
                        <a:lnSpc>
                          <a:spcPct val="100000"/>
                        </a:lnSpc>
                        <a:buNone/>
                        <a:tabLst>
                          <a:tab algn="l" pos="0"/>
                        </a:tabLst>
                      </a:pPr>
                      <a:r>
                        <a:rPr b="1" lang="en-US" sz="850" spc="-1" strike="noStrike">
                          <a:solidFill>
                            <a:srgbClr val="c8960c"/>
                          </a:solidFill>
                          <a:latin typeface="Calibri"/>
                          <a:ea typeface="Calibri"/>
                        </a:rPr>
                        <a:t>Scatter to Moran</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lang="en-US" sz="850" spc="-1" strike="noStrike">
                          <a:solidFill>
                            <a:srgbClr val="000000"/>
                          </a:solidFill>
                          <a:latin typeface="Calibri"/>
                          <a:ea typeface="Calibri"/>
                        </a:rPr>
                        <a:t>40</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lang="en-US" sz="850" spc="-1" strike="noStrike">
                          <a:solidFill>
                            <a:srgbClr val="000000"/>
                          </a:solidFill>
                          <a:latin typeface="Calibri"/>
                          <a:ea typeface="Calibri"/>
                        </a:rPr>
                        <a:t>Turnout swing 2019-24</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i="1" lang="en-US" sz="850" spc="-1" strike="noStrike">
                          <a:solidFill>
                            <a:srgbClr val="000000"/>
                          </a:solidFill>
                          <a:latin typeface="Calibri"/>
                          <a:ea typeface="Calibri"/>
                        </a:rPr>
                        <a:t>Spatio-Temporal</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lang="en-US" sz="850" spc="-1" strike="noStrike">
                          <a:solidFill>
                            <a:srgbClr val="000000"/>
                          </a:solidFill>
                          <a:latin typeface="Calibri"/>
                          <a:ea typeface="Calibri"/>
                        </a:rPr>
                        <a:t>Base dataset</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r>
              <a:tr h="320040">
                <a:tc>
                  <a:txBody>
                    <a:bodyPr anchor="t">
                      <a:noAutofit/>
                    </a:bodyPr>
                    <a:p>
                      <a:pPr>
                        <a:lnSpc>
                          <a:spcPct val="100000"/>
                        </a:lnSpc>
                        <a:buNone/>
                        <a:tabLst>
                          <a:tab algn="l" pos="0"/>
                        </a:tabLst>
                      </a:pPr>
                      <a:r>
                        <a:rPr b="1" lang="en-US" sz="850" spc="-1" strike="noStrike">
                          <a:solidFill>
                            <a:srgbClr val="ff9933"/>
                          </a:solidFill>
                          <a:latin typeface="Calibri"/>
                          <a:ea typeface="Calibri"/>
                        </a:rPr>
                        <a:t>LISA + Fiscal map</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lang="en-US" sz="850" spc="-1" strike="noStrike">
                          <a:solidFill>
                            <a:srgbClr val="000000"/>
                          </a:solidFill>
                          <a:latin typeface="Calibri"/>
                          <a:ea typeface="Calibri"/>
                        </a:rPr>
                        <a:t>77</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lang="en-US" sz="850" spc="-1" strike="noStrike">
                          <a:solidFill>
                            <a:srgbClr val="000000"/>
                          </a:solidFill>
                          <a:latin typeface="Calibri"/>
                          <a:ea typeface="Calibri"/>
                        </a:rPr>
                        <a:t>Fiscal returns by latitude</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i="1" lang="en-US" sz="850" spc="-1" strike="noStrike">
                          <a:solidFill>
                            <a:srgbClr val="000000"/>
                          </a:solidFill>
                          <a:latin typeface="Calibri"/>
                          <a:ea typeface="Calibri"/>
                        </a:rPr>
                        <a:t>Co-location</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1" lang="en-US" sz="850" spc="-1" strike="noStrike">
                          <a:solidFill>
                            <a:srgbClr val="000000"/>
                          </a:solidFill>
                          <a:latin typeface="Calibri"/>
                          <a:ea typeface="Calibri"/>
                        </a:rPr>
                        <a:t>Fiscal maps</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r>
              <a:tr h="320040">
                <a:tc>
                  <a:txBody>
                    <a:bodyPr anchor="t">
                      <a:noAutofit/>
                    </a:bodyPr>
                    <a:p>
                      <a:pPr>
                        <a:lnSpc>
                          <a:spcPct val="100000"/>
                        </a:lnSpc>
                        <a:buNone/>
                        <a:tabLst>
                          <a:tab algn="l" pos="0"/>
                        </a:tabLst>
                      </a:pPr>
                      <a:r>
                        <a:rPr b="1" lang="en-US" sz="850" spc="-1" strike="noStrike">
                          <a:solidFill>
                            <a:srgbClr val="00857c"/>
                          </a:solidFill>
                          <a:latin typeface="Calibri"/>
                          <a:ea typeface="Calibri"/>
                        </a:rPr>
                        <a:t>Simulator + Moran</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lang="en-US" sz="850" spc="-1" strike="noStrike">
                          <a:solidFill>
                            <a:srgbClr val="000000"/>
                          </a:solidFill>
                          <a:latin typeface="Calibri"/>
                          <a:ea typeface="Calibri"/>
                        </a:rPr>
                        <a:t>71, 74</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lang="en-US" sz="850" spc="-1" strike="noStrike">
                          <a:solidFill>
                            <a:srgbClr val="000000"/>
                          </a:solidFill>
                          <a:latin typeface="Calibri"/>
                          <a:ea typeface="Calibri"/>
                        </a:rPr>
                        <a:t>Seat reallocation formulae</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i="1" lang="en-US" sz="850" spc="-1" strike="noStrike">
                          <a:solidFill>
                            <a:srgbClr val="000000"/>
                          </a:solidFill>
                          <a:latin typeface="Calibri"/>
                          <a:ea typeface="Calibri"/>
                        </a:rPr>
                        <a:t>Cluster Detection</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1" lang="en-US" sz="850" spc="-1" strike="noStrike">
                          <a:solidFill>
                            <a:srgbClr val="000000"/>
                          </a:solidFill>
                          <a:latin typeface="Calibri"/>
                          <a:ea typeface="Calibri"/>
                        </a:rPr>
                        <a:t>Constituency count code</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r>
              <a:tr h="320040">
                <a:tc>
                  <a:txBody>
                    <a:bodyPr anchor="t">
                      <a:noAutofit/>
                    </a:bodyPr>
                    <a:p>
                      <a:pPr>
                        <a:lnSpc>
                          <a:spcPct val="100000"/>
                        </a:lnSpc>
                        <a:buNone/>
                        <a:tabLst>
                          <a:tab algn="l" pos="0"/>
                        </a:tabLst>
                      </a:pPr>
                      <a:r>
                        <a:rPr b="1" lang="en-US" sz="850" spc="-1" strike="noStrike">
                          <a:solidFill>
                            <a:srgbClr val="00857c"/>
                          </a:solidFill>
                          <a:latin typeface="Calibri"/>
                          <a:ea typeface="Calibri"/>
                        </a:rPr>
                        <a:t>Simulator + Moran</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lang="en-US" sz="850" spc="-1" strike="noStrike">
                          <a:solidFill>
                            <a:srgbClr val="000000"/>
                          </a:solidFill>
                          <a:latin typeface="Calibri"/>
                          <a:ea typeface="Calibri"/>
                        </a:rPr>
                        <a:t>73</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lang="en-US" sz="850" spc="-1" strike="noStrike">
                          <a:solidFill>
                            <a:srgbClr val="000000"/>
                          </a:solidFill>
                          <a:latin typeface="Calibri"/>
                          <a:ea typeface="Calibri"/>
                        </a:rPr>
                        <a:t>Women's reservation %</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i="1" lang="en-US" sz="850" spc="-1" strike="noStrike">
                          <a:solidFill>
                            <a:srgbClr val="000000"/>
                          </a:solidFill>
                          <a:latin typeface="Calibri"/>
                          <a:ea typeface="Calibri"/>
                        </a:rPr>
                        <a:t>Absence = Evidence</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1" lang="en-US" sz="850" spc="-1" strike="noStrike">
                          <a:solidFill>
                            <a:srgbClr val="000000"/>
                          </a:solidFill>
                          <a:latin typeface="Calibri"/>
                          <a:ea typeface="Calibri"/>
                        </a:rPr>
                        <a:t>Reservation % code</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r>
              <a:tr h="320040">
                <a:tc>
                  <a:txBody>
                    <a:bodyPr anchor="t">
                      <a:noAutofit/>
                    </a:bodyPr>
                    <a:p>
                      <a:pPr>
                        <a:lnSpc>
                          <a:spcPct val="100000"/>
                        </a:lnSpc>
                        <a:buNone/>
                        <a:tabLst>
                          <a:tab algn="l" pos="0"/>
                        </a:tabLst>
                      </a:pPr>
                      <a:r>
                        <a:rPr b="1" lang="en-US" sz="850" spc="-1" strike="noStrike">
                          <a:solidFill>
                            <a:srgbClr val="0d2b5c"/>
                          </a:solidFill>
                          <a:latin typeface="Calibri"/>
                          <a:ea typeface="Calibri"/>
                        </a:rPr>
                        <a:t>3D Extrusion</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lang="en-US" sz="850" spc="-1" strike="noStrike">
                          <a:solidFill>
                            <a:srgbClr val="000000"/>
                          </a:solidFill>
                          <a:latin typeface="Calibri"/>
                          <a:ea typeface="Calibri"/>
                        </a:rPr>
                        <a:t>47, 70, 87</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lang="en-US" sz="850" spc="-1" strike="noStrike">
                          <a:solidFill>
                            <a:srgbClr val="000000"/>
                          </a:solidFill>
                          <a:latin typeface="Calibri"/>
                          <a:ea typeface="Calibri"/>
                        </a:rPr>
                        <a:t>Turnout, women, delimitation</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i="1" lang="en-US" sz="850" spc="-1" strike="noStrike">
                          <a:solidFill>
                            <a:srgbClr val="000000"/>
                          </a:solidFill>
                          <a:latin typeface="Calibri"/>
                          <a:ea typeface="Calibri"/>
                        </a:rPr>
                        <a:t>Contiguity</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lang="en-US" sz="850" spc="-1" strike="noStrike">
                          <a:solidFill>
                            <a:srgbClr val="000000"/>
                          </a:solidFill>
                          <a:latin typeface="Calibri"/>
                          <a:ea typeface="Calibri"/>
                        </a:rPr>
                        <a:t>Base + fiscal + sim</a:t>
                      </a:r>
                      <a:endParaRPr b="0" lang="en-US" sz="85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r>
            </a:tbl>
          </a:graphicData>
        </a:graphic>
      </p:graphicFrame>
      <p:sp>
        <p:nvSpPr>
          <p:cNvPr id="293" name="Text 2"/>
          <p:cNvSpPr/>
          <p:nvPr/>
        </p:nvSpPr>
        <p:spPr>
          <a:xfrm>
            <a:off x="457200" y="4434840"/>
            <a:ext cx="8229240" cy="5482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000" spc="-1" strike="noStrike">
                <a:solidFill>
                  <a:srgbClr val="00857c"/>
                </a:solidFill>
                <a:latin typeface="Georgia"/>
                <a:ea typeface="Georgia"/>
              </a:rPr>
              <a:t>Every chart uses the SAME spatial weights matrix (KNN k=8) and the SAME Moran's I / LISA algorithm. What changes is the input variable. The atlas is not separate from the project statement. It IS the project statement applied to multiple variables.</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4" name="Text 0"/>
          <p:cNvSpPr/>
          <p:nvPr/>
        </p:nvSpPr>
        <p:spPr>
          <a:xfrm>
            <a:off x="731520" y="365760"/>
            <a:ext cx="768060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600" spc="-1" strike="noStrike">
                <a:solidFill>
                  <a:srgbClr val="0d2b5c"/>
                </a:solidFill>
                <a:latin typeface="Georgia"/>
                <a:ea typeface="Georgia"/>
              </a:rPr>
              <a:t>Summary: What Each Spatialization Adds</a:t>
            </a:r>
            <a:endParaRPr b="0" lang="en-US" sz="2600" spc="-1" strike="noStrike">
              <a:latin typeface="Arial"/>
            </a:endParaRPr>
          </a:p>
        </p:txBody>
      </p:sp>
      <p:graphicFrame>
        <p:nvGraphicFramePr>
          <p:cNvPr id="295" name="Table 0"/>
          <p:cNvGraphicFramePr/>
          <p:nvPr/>
        </p:nvGraphicFramePr>
        <p:xfrm>
          <a:off x="457200" y="1005840"/>
          <a:ext cx="8229240" cy="2742840"/>
        </p:xfrm>
        <a:graphic>
          <a:graphicData uri="http://schemas.openxmlformats.org/drawingml/2006/table">
            <a:tbl>
              <a:tblPr/>
              <a:tblGrid>
                <a:gridCol w="1463040"/>
                <a:gridCol w="2011680"/>
                <a:gridCol w="2194560"/>
                <a:gridCol w="2560320"/>
              </a:tblGrid>
              <a:tr h="457200">
                <a:tc>
                  <a:txBody>
                    <a:bodyPr anchor="t">
                      <a:noAutofit/>
                    </a:bodyPr>
                    <a:p>
                      <a:pPr algn="ctr">
                        <a:lnSpc>
                          <a:spcPct val="100000"/>
                        </a:lnSpc>
                        <a:buNone/>
                        <a:tabLst>
                          <a:tab algn="l" pos="0"/>
                        </a:tabLst>
                      </a:pPr>
                      <a:r>
                        <a:rPr b="1" lang="en-US" sz="1100" spc="-1" strike="noStrike">
                          <a:solidFill>
                            <a:srgbClr val="ffffff"/>
                          </a:solidFill>
                          <a:latin typeface="Calibri"/>
                          <a:ea typeface="Calibri"/>
                        </a:rPr>
                        <a:t>Query Class</a:t>
                      </a:r>
                      <a:endParaRPr b="0" lang="en-US" sz="110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solidFill>
                      <a:srgbClr val="0d2b5c"/>
                    </a:solidFill>
                  </a:tcPr>
                </a:tc>
                <a:tc>
                  <a:txBody>
                    <a:bodyPr anchor="t">
                      <a:noAutofit/>
                    </a:bodyPr>
                    <a:p>
                      <a:pPr algn="ctr">
                        <a:lnSpc>
                          <a:spcPct val="100000"/>
                        </a:lnSpc>
                        <a:buNone/>
                        <a:tabLst>
                          <a:tab algn="l" pos="0"/>
                        </a:tabLst>
                      </a:pPr>
                      <a:r>
                        <a:rPr b="1" lang="en-US" sz="1100" spc="-1" strike="noStrike">
                          <a:solidFill>
                            <a:srgbClr val="ffffff"/>
                          </a:solidFill>
                          <a:latin typeface="Calibri"/>
                          <a:ea typeface="Calibri"/>
                        </a:rPr>
                        <a:t>Normal Plot</a:t>
                      </a:r>
                      <a:endParaRPr b="0" lang="en-US" sz="110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solidFill>
                      <a:srgbClr val="0d2b5c"/>
                    </a:solidFill>
                  </a:tcPr>
                </a:tc>
                <a:tc>
                  <a:txBody>
                    <a:bodyPr anchor="t">
                      <a:noAutofit/>
                    </a:bodyPr>
                    <a:p>
                      <a:pPr algn="ctr">
                        <a:lnSpc>
                          <a:spcPct val="100000"/>
                        </a:lnSpc>
                        <a:buNone/>
                        <a:tabLst>
                          <a:tab algn="l" pos="0"/>
                        </a:tabLst>
                      </a:pPr>
                      <a:r>
                        <a:rPr b="1" lang="en-US" sz="1100" spc="-1" strike="noStrike">
                          <a:solidFill>
                            <a:srgbClr val="ffffff"/>
                          </a:solidFill>
                          <a:latin typeface="Calibri"/>
                          <a:ea typeface="Calibri"/>
                        </a:rPr>
                        <a:t>Spatialized Version</a:t>
                      </a:r>
                      <a:endParaRPr b="0" lang="en-US" sz="110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solidFill>
                      <a:srgbClr val="0d2b5c"/>
                    </a:solidFill>
                  </a:tcPr>
                </a:tc>
                <a:tc>
                  <a:txBody>
                    <a:bodyPr anchor="t">
                      <a:noAutofit/>
                    </a:bodyPr>
                    <a:p>
                      <a:pPr algn="ctr">
                        <a:lnSpc>
                          <a:spcPct val="100000"/>
                        </a:lnSpc>
                        <a:buNone/>
                        <a:tabLst>
                          <a:tab algn="l" pos="0"/>
                        </a:tabLst>
                      </a:pPr>
                      <a:r>
                        <a:rPr b="1" lang="en-US" sz="1100" spc="-1" strike="noStrike">
                          <a:solidFill>
                            <a:srgbClr val="ffffff"/>
                          </a:solidFill>
                          <a:latin typeface="Calibri"/>
                          <a:ea typeface="Calibri"/>
                        </a:rPr>
                        <a:t>Generalizable Query</a:t>
                      </a:r>
                      <a:endParaRPr b="0" lang="en-US" sz="110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solidFill>
                      <a:srgbClr val="0d2b5c"/>
                    </a:solidFill>
                  </a:tcPr>
                </a:tc>
              </a:tr>
              <a:tr h="457200">
                <a:tc>
                  <a:txBody>
                    <a:bodyPr anchor="t">
                      <a:noAutofit/>
                    </a:bodyPr>
                    <a:p>
                      <a:pPr>
                        <a:lnSpc>
                          <a:spcPct val="100000"/>
                        </a:lnSpc>
                        <a:buNone/>
                        <a:tabLst>
                          <a:tab algn="l" pos="0"/>
                        </a:tabLst>
                      </a:pPr>
                      <a:r>
                        <a:rPr b="1" lang="en-US" sz="1000" spc="-1" strike="noStrike">
                          <a:solidFill>
                            <a:srgbClr val="d7191c"/>
                          </a:solidFill>
                          <a:latin typeface="Calibri"/>
                          <a:ea typeface="Calibri"/>
                        </a:rPr>
                        <a:t>Contiguity</a:t>
                      </a:r>
                      <a:endParaRPr b="0" lang="en-US" sz="100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lang="en-US" sz="1000" spc="-1" strike="noStrike">
                          <a:solidFill>
                            <a:srgbClr val="000000"/>
                          </a:solidFill>
                          <a:latin typeface="Calibri"/>
                          <a:ea typeface="Calibri"/>
                        </a:rPr>
                        <a:t>Bar chart ranks values. Cannot show adjacency.</a:t>
                      </a:r>
                      <a:endParaRPr b="0" lang="en-US" sz="100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solidFill>
                      <a:srgbClr val="f0f0f0"/>
                    </a:solidFill>
                  </a:tcPr>
                </a:tc>
                <a:tc>
                  <a:txBody>
                    <a:bodyPr anchor="t">
                      <a:noAutofit/>
                    </a:bodyPr>
                    <a:p>
                      <a:pPr>
                        <a:lnSpc>
                          <a:spcPct val="100000"/>
                        </a:lnSpc>
                        <a:buNone/>
                        <a:tabLst>
                          <a:tab algn="l" pos="0"/>
                        </a:tabLst>
                      </a:pPr>
                      <a:r>
                        <a:rPr b="0" lang="en-US" sz="1000" spc="-1" strike="noStrike">
                          <a:solidFill>
                            <a:srgbClr val="000000"/>
                          </a:solidFill>
                          <a:latin typeface="Calibri"/>
                          <a:ea typeface="Calibri"/>
                        </a:rPr>
                        <a:t>LISA reveals connected belts.</a:t>
                      </a:r>
                      <a:endParaRPr b="0" lang="en-US" sz="100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solidFill>
                      <a:srgbClr val="ebf5f4"/>
                    </a:solidFill>
                  </a:tcPr>
                </a:tc>
                <a:tc>
                  <a:txBody>
                    <a:bodyPr anchor="t">
                      <a:noAutofit/>
                    </a:bodyPr>
                    <a:p>
                      <a:pPr>
                        <a:lnSpc>
                          <a:spcPct val="100000"/>
                        </a:lnSpc>
                        <a:buNone/>
                        <a:tabLst>
                          <a:tab algn="l" pos="0"/>
                        </a:tabLst>
                      </a:pPr>
                      <a:r>
                        <a:rPr b="0" i="1" lang="en-US" sz="1000" spc="-1" strike="noStrike">
                          <a:solidFill>
                            <a:srgbClr val="000000"/>
                          </a:solidFill>
                          <a:latin typeface="Calibri"/>
                          <a:ea typeface="Calibri"/>
                        </a:rPr>
                        <a:t>Do high values form a connected region?</a:t>
                      </a:r>
                      <a:endParaRPr b="0" lang="en-US" sz="100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r>
              <a:tr h="457200">
                <a:tc>
                  <a:txBody>
                    <a:bodyPr anchor="t">
                      <a:noAutofit/>
                    </a:bodyPr>
                    <a:p>
                      <a:pPr>
                        <a:lnSpc>
                          <a:spcPct val="100000"/>
                        </a:lnSpc>
                        <a:buNone/>
                        <a:tabLst>
                          <a:tab algn="l" pos="0"/>
                        </a:tabLst>
                      </a:pPr>
                      <a:r>
                        <a:rPr b="1" lang="en-US" sz="1000" spc="-1" strike="noStrike">
                          <a:solidFill>
                            <a:srgbClr val="00857c"/>
                          </a:solidFill>
                          <a:latin typeface="Calibri"/>
                          <a:ea typeface="Calibri"/>
                        </a:rPr>
                        <a:t>Cluster Detection</a:t>
                      </a:r>
                      <a:endParaRPr b="0" lang="en-US" sz="100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lang="en-US" sz="1000" spc="-1" strike="noStrike">
                          <a:solidFill>
                            <a:srgbClr val="000000"/>
                          </a:solidFill>
                          <a:latin typeface="Calibri"/>
                          <a:ea typeface="Calibri"/>
                        </a:rPr>
                        <a:t>Histogram shows "roughly normal."</a:t>
                      </a:r>
                      <a:endParaRPr b="0" lang="en-US" sz="100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solidFill>
                      <a:srgbClr val="f0f0f0"/>
                    </a:solidFill>
                  </a:tcPr>
                </a:tc>
                <a:tc>
                  <a:txBody>
                    <a:bodyPr anchor="t">
                      <a:noAutofit/>
                    </a:bodyPr>
                    <a:p>
                      <a:pPr>
                        <a:lnSpc>
                          <a:spcPct val="100000"/>
                        </a:lnSpc>
                        <a:buNone/>
                        <a:tabLst>
                          <a:tab algn="l" pos="0"/>
                        </a:tabLst>
                      </a:pPr>
                      <a:r>
                        <a:rPr b="0" lang="en-US" sz="1000" spc="-1" strike="noStrike">
                          <a:solidFill>
                            <a:srgbClr val="000000"/>
                          </a:solidFill>
                          <a:latin typeface="Calibri"/>
                          <a:ea typeface="Calibri"/>
                        </a:rPr>
                        <a:t>LISA identifies 135 specific hot spots.</a:t>
                      </a:r>
                      <a:endParaRPr b="0" lang="en-US" sz="100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solidFill>
                      <a:srgbClr val="ebf5f4"/>
                    </a:solidFill>
                  </a:tcPr>
                </a:tc>
                <a:tc>
                  <a:txBody>
                    <a:bodyPr anchor="t">
                      <a:noAutofit/>
                    </a:bodyPr>
                    <a:p>
                      <a:pPr>
                        <a:lnSpc>
                          <a:spcPct val="100000"/>
                        </a:lnSpc>
                        <a:buNone/>
                        <a:tabLst>
                          <a:tab algn="l" pos="0"/>
                        </a:tabLst>
                      </a:pPr>
                      <a:r>
                        <a:rPr b="0" i="1" lang="en-US" sz="1000" spc="-1" strike="noStrike">
                          <a:solidFill>
                            <a:srgbClr val="000000"/>
                          </a:solidFill>
                          <a:latin typeface="Calibri"/>
                          <a:ea typeface="Calibri"/>
                        </a:rPr>
                        <a:t>Where exactly are the clusters?</a:t>
                      </a:r>
                      <a:endParaRPr b="0" lang="en-US" sz="100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r>
              <a:tr h="457200">
                <a:tc>
                  <a:txBody>
                    <a:bodyPr anchor="t">
                      <a:noAutofit/>
                    </a:bodyPr>
                    <a:p>
                      <a:pPr>
                        <a:lnSpc>
                          <a:spcPct val="100000"/>
                        </a:lnSpc>
                        <a:buNone/>
                        <a:tabLst>
                          <a:tab algn="l" pos="0"/>
                        </a:tabLst>
                      </a:pPr>
                      <a:r>
                        <a:rPr b="1" lang="en-US" sz="1000" spc="-1" strike="noStrike">
                          <a:solidFill>
                            <a:srgbClr val="c8960c"/>
                          </a:solidFill>
                          <a:latin typeface="Calibri"/>
                          <a:ea typeface="Calibri"/>
                        </a:rPr>
                        <a:t>Spatial Outlier</a:t>
                      </a:r>
                      <a:endParaRPr b="0" lang="en-US" sz="100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lang="en-US" sz="1000" spc="-1" strike="noStrike">
                          <a:solidFill>
                            <a:srgbClr val="000000"/>
                          </a:solidFill>
                          <a:latin typeface="Calibri"/>
                          <a:ea typeface="Calibri"/>
                        </a:rPr>
                        <a:t>"1.2 std below the mean."</a:t>
                      </a:r>
                      <a:endParaRPr b="0" lang="en-US" sz="100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solidFill>
                      <a:srgbClr val="f0f0f0"/>
                    </a:solidFill>
                  </a:tcPr>
                </a:tc>
                <a:tc>
                  <a:txBody>
                    <a:bodyPr anchor="t">
                      <a:noAutofit/>
                    </a:bodyPr>
                    <a:p>
                      <a:pPr>
                        <a:lnSpc>
                          <a:spcPct val="100000"/>
                        </a:lnSpc>
                        <a:buNone/>
                        <a:tabLst>
                          <a:tab algn="l" pos="0"/>
                        </a:tabLst>
                      </a:pPr>
                      <a:r>
                        <a:rPr b="0" lang="en-US" sz="1000" spc="-1" strike="noStrike">
                          <a:solidFill>
                            <a:srgbClr val="000000"/>
                          </a:solidFill>
                          <a:latin typeface="Calibri"/>
                          <a:ea typeface="Calibri"/>
                        </a:rPr>
                        <a:t>"Low in high-value neighborhood."</a:t>
                      </a:r>
                      <a:endParaRPr b="0" lang="en-US" sz="100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solidFill>
                      <a:srgbClr val="ebf5f4"/>
                    </a:solidFill>
                  </a:tcPr>
                </a:tc>
                <a:tc>
                  <a:txBody>
                    <a:bodyPr anchor="t">
                      <a:noAutofit/>
                    </a:bodyPr>
                    <a:p>
                      <a:pPr>
                        <a:lnSpc>
                          <a:spcPct val="100000"/>
                        </a:lnSpc>
                        <a:buNone/>
                        <a:tabLst>
                          <a:tab algn="l" pos="0"/>
                        </a:tabLst>
                      </a:pPr>
                      <a:r>
                        <a:rPr b="0" i="1" lang="en-US" sz="1000" spc="-1" strike="noStrike">
                          <a:solidFill>
                            <a:srgbClr val="000000"/>
                          </a:solidFill>
                          <a:latin typeface="Calibri"/>
                          <a:ea typeface="Calibri"/>
                        </a:rPr>
                        <a:t>Anomalous vs global or neighborhood?</a:t>
                      </a:r>
                      <a:endParaRPr b="0" lang="en-US" sz="100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r>
              <a:tr h="457200">
                <a:tc>
                  <a:txBody>
                    <a:bodyPr anchor="t">
                      <a:noAutofit/>
                    </a:bodyPr>
                    <a:p>
                      <a:pPr>
                        <a:lnSpc>
                          <a:spcPct val="100000"/>
                        </a:lnSpc>
                        <a:buNone/>
                        <a:tabLst>
                          <a:tab algn="l" pos="0"/>
                        </a:tabLst>
                      </a:pPr>
                      <a:r>
                        <a:rPr b="1" lang="en-US" sz="1000" spc="-1" strike="noStrike">
                          <a:solidFill>
                            <a:srgbClr val="0d2b5c"/>
                          </a:solidFill>
                          <a:latin typeface="Calibri"/>
                          <a:ea typeface="Calibri"/>
                        </a:rPr>
                        <a:t>Spatio-Temporal</a:t>
                      </a:r>
                      <a:endParaRPr b="0" lang="en-US" sz="100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lang="en-US" sz="1000" spc="-1" strike="noStrike">
                          <a:solidFill>
                            <a:srgbClr val="000000"/>
                          </a:solidFill>
                          <a:latin typeface="Calibri"/>
                          <a:ea typeface="Calibri"/>
                        </a:rPr>
                        <a:t>"UP: -2.1 pp" (one number).</a:t>
                      </a:r>
                      <a:endParaRPr b="0" lang="en-US" sz="100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solidFill>
                      <a:srgbClr val="f0f0f0"/>
                    </a:solidFill>
                  </a:tcPr>
                </a:tc>
                <a:tc>
                  <a:txBody>
                    <a:bodyPr anchor="t">
                      <a:noAutofit/>
                    </a:bodyPr>
                    <a:p>
                      <a:pPr>
                        <a:lnSpc>
                          <a:spcPct val="100000"/>
                        </a:lnSpc>
                        <a:buNone/>
                        <a:tabLst>
                          <a:tab algn="l" pos="0"/>
                        </a:tabLst>
                      </a:pPr>
                      <a:r>
                        <a:rPr b="0" lang="en-US" sz="1000" spc="-1" strike="noStrike">
                          <a:solidFill>
                            <a:srgbClr val="000000"/>
                          </a:solidFill>
                          <a:latin typeface="Calibri"/>
                          <a:ea typeface="Calibri"/>
                        </a:rPr>
                        <a:t>Northern UP: -9 pp. Southern: flat.</a:t>
                      </a:r>
                      <a:endParaRPr b="0" lang="en-US" sz="100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solidFill>
                      <a:srgbClr val="ebf5f4"/>
                    </a:solidFill>
                  </a:tcPr>
                </a:tc>
                <a:tc>
                  <a:txBody>
                    <a:bodyPr anchor="t">
                      <a:noAutofit/>
                    </a:bodyPr>
                    <a:p>
                      <a:pPr>
                        <a:lnSpc>
                          <a:spcPct val="100000"/>
                        </a:lnSpc>
                        <a:buNone/>
                        <a:tabLst>
                          <a:tab algn="l" pos="0"/>
                        </a:tabLst>
                      </a:pPr>
                      <a:r>
                        <a:rPr b="0" i="1" lang="en-US" sz="1000" spc="-1" strike="noStrike">
                          <a:solidFill>
                            <a:srgbClr val="000000"/>
                          </a:solidFill>
                          <a:latin typeface="Calibri"/>
                          <a:ea typeface="Calibri"/>
                        </a:rPr>
                        <a:t>Do aggregates mask variation?</a:t>
                      </a:r>
                      <a:endParaRPr b="0" lang="en-US" sz="100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r>
              <a:tr h="457200">
                <a:tc>
                  <a:txBody>
                    <a:bodyPr anchor="t">
                      <a:noAutofit/>
                    </a:bodyPr>
                    <a:p>
                      <a:pPr>
                        <a:lnSpc>
                          <a:spcPct val="100000"/>
                        </a:lnSpc>
                        <a:buNone/>
                        <a:tabLst>
                          <a:tab algn="l" pos="0"/>
                        </a:tabLst>
                      </a:pPr>
                      <a:r>
                        <a:rPr b="1" lang="en-US" sz="1000" spc="-1" strike="noStrike">
                          <a:solidFill>
                            <a:srgbClr val="b7234c"/>
                          </a:solidFill>
                          <a:latin typeface="Calibri"/>
                          <a:ea typeface="Calibri"/>
                        </a:rPr>
                        <a:t>Absence = Evidence</a:t>
                      </a:r>
                      <a:endParaRPr b="0" lang="en-US" sz="100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c>
                  <a:txBody>
                    <a:bodyPr anchor="t">
                      <a:noAutofit/>
                    </a:bodyPr>
                    <a:p>
                      <a:pPr>
                        <a:lnSpc>
                          <a:spcPct val="100000"/>
                        </a:lnSpc>
                        <a:buNone/>
                        <a:tabLst>
                          <a:tab algn="l" pos="0"/>
                        </a:tabLst>
                      </a:pPr>
                      <a:r>
                        <a:rPr b="0" lang="en-US" sz="1000" spc="-1" strike="noStrike">
                          <a:solidFill>
                            <a:srgbClr val="000000"/>
                          </a:solidFill>
                          <a:latin typeface="Calibri"/>
                          <a:ea typeface="Calibri"/>
                        </a:rPr>
                        <a:t>"121 PCs had zero women."</a:t>
                      </a:r>
                      <a:endParaRPr b="0" lang="en-US" sz="100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solidFill>
                      <a:srgbClr val="f0f0f0"/>
                    </a:solidFill>
                  </a:tcPr>
                </a:tc>
                <a:tc>
                  <a:txBody>
                    <a:bodyPr anchor="t">
                      <a:noAutofit/>
                    </a:bodyPr>
                    <a:p>
                      <a:pPr>
                        <a:lnSpc>
                          <a:spcPct val="100000"/>
                        </a:lnSpc>
                        <a:buNone/>
                        <a:tabLst>
                          <a:tab algn="l" pos="0"/>
                        </a:tabLst>
                      </a:pPr>
                      <a:r>
                        <a:rPr b="0" lang="en-US" sz="1000" spc="-1" strike="noStrike">
                          <a:solidFill>
                            <a:srgbClr val="000000"/>
                          </a:solidFill>
                          <a:latin typeface="Calibri"/>
                          <a:ea typeface="Calibri"/>
                        </a:rPr>
                        <a:t>I=0.113: random. Institutional barrier.</a:t>
                      </a:r>
                      <a:endParaRPr b="0" lang="en-US" sz="100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solidFill>
                      <a:srgbClr val="ebf5f4"/>
                    </a:solidFill>
                  </a:tcPr>
                </a:tc>
                <a:tc>
                  <a:txBody>
                    <a:bodyPr anchor="t">
                      <a:noAutofit/>
                    </a:bodyPr>
                    <a:p>
                      <a:pPr>
                        <a:lnSpc>
                          <a:spcPct val="100000"/>
                        </a:lnSpc>
                        <a:buNone/>
                        <a:tabLst>
                          <a:tab algn="l" pos="0"/>
                        </a:tabLst>
                      </a:pPr>
                      <a:r>
                        <a:rPr b="0" i="1" lang="en-US" sz="1000" spc="-1" strike="noStrike">
                          <a:solidFill>
                            <a:srgbClr val="000000"/>
                          </a:solidFill>
                          <a:latin typeface="Calibri"/>
                          <a:ea typeface="Calibri"/>
                        </a:rPr>
                        <a:t>Does lack of clustering prove non-geographic cause?</a:t>
                      </a:r>
                      <a:endParaRPr b="0" lang="en-US" sz="1000" spc="-1" strike="noStrike">
                        <a:latin typeface="Arial"/>
                      </a:endParaRPr>
                    </a:p>
                  </a:txBody>
                  <a:tcPr anchor="t" marL="91440" marR="91440">
                    <a:lnL w="6480">
                      <a:solidFill>
                        <a:srgbClr val="dddddd"/>
                      </a:solidFill>
                    </a:lnL>
                    <a:lnR w="6480">
                      <a:solidFill>
                        <a:srgbClr val="dddddd"/>
                      </a:solidFill>
                    </a:lnR>
                    <a:lnT w="6480">
                      <a:solidFill>
                        <a:srgbClr val="dddddd"/>
                      </a:solidFill>
                    </a:lnT>
                    <a:lnB w="6480">
                      <a:solidFill>
                        <a:srgbClr val="dddddd"/>
                      </a:solidFill>
                    </a:lnB>
                    <a:noFill/>
                  </a:tcPr>
                </a:tc>
              </a:tr>
            </a:tbl>
          </a:graphicData>
        </a:graphic>
      </p:graphicFrame>
      <p:sp>
        <p:nvSpPr>
          <p:cNvPr id="296" name="Text 1"/>
          <p:cNvSpPr/>
          <p:nvPr/>
        </p:nvSpPr>
        <p:spPr>
          <a:xfrm>
            <a:off x="731520" y="4023360"/>
            <a:ext cx="7680600" cy="3654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200" spc="-1" strike="noStrike">
                <a:solidFill>
                  <a:srgbClr val="00857c"/>
                </a:solidFill>
                <a:latin typeface="Georgia"/>
                <a:ea typeface="Georgia"/>
              </a:rPr>
              <a:t>None of these queries have aspatial equivalents. Each requires a neighborhood definition that standard charts do not provide.</a:t>
            </a:r>
            <a:endParaRPr b="0" lang="en-US" sz="1200" spc="-1" strike="noStrike">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2b5c"/>
        </a:solidFill>
      </p:bgPr>
    </p:bg>
    <p:spTree>
      <p:nvGrpSpPr>
        <p:cNvPr id="1" name=""/>
        <p:cNvGrpSpPr/>
        <p:nvPr/>
      </p:nvGrpSpPr>
      <p:grpSpPr>
        <a:xfrm>
          <a:off x="0" y="0"/>
          <a:ext cx="0" cy="0"/>
          <a:chOff x="0" y="0"/>
          <a:chExt cx="0" cy="0"/>
        </a:xfrm>
      </p:grpSpPr>
      <p:sp>
        <p:nvSpPr>
          <p:cNvPr id="297" name="Text 0"/>
          <p:cNvSpPr/>
          <p:nvPr/>
        </p:nvSpPr>
        <p:spPr>
          <a:xfrm>
            <a:off x="731520" y="1097280"/>
            <a:ext cx="7680600" cy="73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4400" spc="-1" strike="noStrike">
                <a:solidFill>
                  <a:srgbClr val="ffffff"/>
                </a:solidFill>
                <a:latin typeface="Georgia"/>
                <a:ea typeface="Georgia"/>
              </a:rPr>
              <a:t>Thank You</a:t>
            </a:r>
            <a:endParaRPr b="0" lang="en-US" sz="4400" spc="-1" strike="noStrike">
              <a:latin typeface="Arial"/>
            </a:endParaRPr>
          </a:p>
        </p:txBody>
      </p:sp>
      <p:sp>
        <p:nvSpPr>
          <p:cNvPr id="298" name="Text 1"/>
          <p:cNvSpPr/>
          <p:nvPr/>
        </p:nvSpPr>
        <p:spPr>
          <a:xfrm>
            <a:off x="731520" y="2286000"/>
            <a:ext cx="7680600" cy="73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300" spc="-1" strike="noStrike">
                <a:solidFill>
                  <a:srgbClr val="bbbbbb"/>
                </a:solidFill>
                <a:latin typeface="Calibri"/>
                <a:ea typeface="Calibri"/>
              </a:rPr>
              <a:t>Vishakha Agrawal    |    Malini Krishnan</a:t>
            </a:r>
            <a:endParaRPr b="0" lang="en-US" sz="1300" spc="-1" strike="noStrike">
              <a:latin typeface="Arial"/>
            </a:endParaRPr>
          </a:p>
          <a:p>
            <a:pPr>
              <a:lnSpc>
                <a:spcPct val="100000"/>
              </a:lnSpc>
              <a:buNone/>
              <a:tabLst>
                <a:tab algn="l" pos="0"/>
              </a:tabLst>
            </a:pPr>
            <a:r>
              <a:rPr b="0" lang="en-US" sz="1300" spc="-1" strike="noStrike">
                <a:solidFill>
                  <a:srgbClr val="bbbbbb"/>
                </a:solidFill>
                <a:latin typeface="Calibri"/>
                <a:ea typeface="Calibri"/>
              </a:rPr>
              <a:t>Lab for Spatial Informatics  |  IIIT Hyderabad</a:t>
            </a:r>
            <a:endParaRPr b="0" lang="en-US" sz="1300" spc="-1" strike="noStrike">
              <a:latin typeface="Arial"/>
            </a:endParaRPr>
          </a:p>
          <a:p>
            <a:pPr>
              <a:lnSpc>
                <a:spcPct val="100000"/>
              </a:lnSpc>
              <a:buNone/>
              <a:tabLst>
                <a:tab algn="l" pos="0"/>
              </a:tabLst>
            </a:pPr>
            <a:r>
              <a:rPr b="0" lang="en-US" sz="1300" spc="-1" strike="noStrike">
                <a:solidFill>
                  <a:srgbClr val="bbbbbb"/>
                </a:solidFill>
                <a:latin typeface="Calibri"/>
                <a:ea typeface="Calibri"/>
              </a:rPr>
              <a:t>Advisors: Kuldeep Kurte, K.S. Rajan</a:t>
            </a:r>
            <a:endParaRPr b="0" lang="en-US" sz="1300" spc="-1" strike="noStrike">
              <a:latin typeface="Arial"/>
            </a:endParaRPr>
          </a:p>
        </p:txBody>
      </p:sp>
      <p:sp>
        <p:nvSpPr>
          <p:cNvPr id="299" name="Text 2"/>
          <p:cNvSpPr/>
          <p:nvPr/>
        </p:nvSpPr>
        <p:spPr>
          <a:xfrm>
            <a:off x="731520" y="3474720"/>
            <a:ext cx="768060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200" spc="-1" strike="noStrike">
                <a:solidFill>
                  <a:srgbClr val="00857c"/>
                </a:solidFill>
                <a:latin typeface="Calibri"/>
                <a:ea typeface="Calibri"/>
              </a:rPr>
              <a:t>Two spatializations  |  Five generalizable query classes</a:t>
            </a:r>
            <a:endParaRPr b="0" lang="en-US" sz="1200" spc="-1" strike="noStrike">
              <a:latin typeface="Arial"/>
            </a:endParaRPr>
          </a:p>
          <a:p>
            <a:pPr>
              <a:lnSpc>
                <a:spcPct val="100000"/>
              </a:lnSpc>
              <a:buNone/>
              <a:tabLst>
                <a:tab algn="l" pos="0"/>
              </a:tabLst>
            </a:pPr>
            <a:r>
              <a:rPr b="0" lang="en-US" sz="1200" spc="-1" strike="noStrike">
                <a:solidFill>
                  <a:srgbClr val="00857c"/>
                </a:solidFill>
                <a:latin typeface="Calibri"/>
                <a:ea typeface="Calibri"/>
              </a:rPr>
              <a:t>30 India-specific charts  |  16 spatial queries  |  5 depth visualizations</a:t>
            </a:r>
            <a:endParaRPr b="0" lang="en-US" sz="12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59</TotalTime>
  <Application>LibreOffice/7.3.7.2$Linux_X86_64 LibreOffice_project/30$Build-2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2026-04-20T11:24:25Z</dcterms:created>
  <dc:creator>PptxGenJS</dc:creator>
  <dc:description/>
  <dc:language>en-US</dc:language>
  <cp:lastModifiedBy/>
  <dcterms:modified xsi:type="dcterms:W3CDTF">2026-04-20T17:58:00Z</dcterms:modified>
  <cp:revision>4</cp:revision>
  <dc:subject>PptxGenJS Presentation</dc:subject>
  <dc:title>Spatializing Statistical Charts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26</vt:i4>
  </property>
  <property fmtid="{D5CDD505-2E9C-101B-9397-08002B2CF9AE}" pid="3" name="PresentationFormat">
    <vt:lpwstr>On-screen Show (16:9)</vt:lpwstr>
  </property>
  <property fmtid="{D5CDD505-2E9C-101B-9397-08002B2CF9AE}" pid="4" name="Slides">
    <vt:i4>26</vt:i4>
  </property>
</Properties>
</file>